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embeddedFontLst>
    <p:embeddedFont>
      <p:font typeface="Calibri" panose="020F0502020204030204" pitchFamily="34" charset="0"/>
      <p:regular r:id="rId18"/>
      <p:bold r:id="rId19"/>
      <p:italic r:id="rId20"/>
      <p:boldItalic r:id="rId21"/>
    </p:embeddedFont>
    <p:embeddedFont>
      <p:font typeface="Manrope" pitchFamily="2" charset="0"/>
      <p:regular r:id="rId22"/>
      <p:bold r:id="rId2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laing myint myat" userId="eb85d789136ac163" providerId="LiveId" clId="{57BE2326-AE70-4B6B-870A-6A81B3ADE036}"/>
    <pc:docChg chg="modSld">
      <pc:chgData name="hlaing myint myat" userId="eb85d789136ac163" providerId="LiveId" clId="{57BE2326-AE70-4B6B-870A-6A81B3ADE036}" dt="2026-10-23T14:09:43.380" v="3"/>
      <pc:docMkLst>
        <pc:docMk/>
      </pc:docMkLst>
      <pc:sldChg chg="modAnim">
        <pc:chgData name="hlaing myint myat" userId="eb85d789136ac163" providerId="LiveId" clId="{57BE2326-AE70-4B6B-870A-6A81B3ADE036}" dt="2026-10-23T14:09:42.607" v="1"/>
        <pc:sldMkLst>
          <pc:docMk/>
          <pc:sldMk cId="0" sldId="257"/>
        </pc:sldMkLst>
      </pc:sldChg>
      <pc:sldChg chg="modAnim">
        <pc:chgData name="hlaing myint myat" userId="eb85d789136ac163" providerId="LiveId" clId="{57BE2326-AE70-4B6B-870A-6A81B3ADE036}" dt="2026-10-23T14:09:43.380" v="3"/>
        <pc:sldMkLst>
          <pc:docMk/>
          <pc:sldMk cId="0" sldId="2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4075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FOM | everyday transactions</a:t>
            </a:r>
          </a:p>
          <a:p>
            <a:endParaRPr/>
          </a:p>
          <a:p>
            <a:r>
              <a:t>10 seconds. Timed pitch.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Scenario 1</a:t>
            </a:r>
          </a:p>
          <a:p>
            <a:endParaRPr/>
          </a:p>
          <a:p>
            <a:r>
              <a:t>69 seconds. Timed pitch.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Trust becomes a visible journey</a:t>
            </a:r>
          </a:p>
          <a:p>
            <a:endParaRPr/>
          </a:p>
          <a:p>
            <a:r>
              <a:t>8 seconds. Timed pitch.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Product | create deal</a:t>
            </a:r>
          </a:p>
          <a:p>
            <a:endParaRPr/>
          </a:p>
          <a:p>
            <a:r>
              <a:t>20 seconds. Timed pitch.</a:t>
            </a:r>
          </a:p>
          <a:p>
            <a:endParaRPr/>
          </a:p>
          <a:p>
            <a:r>
              <a:t>Static screen from the actual current app. Seller creates item, amount, receiving information, delivery/checking terms and a share code. Replace this section with a recording synchronized to narration after voice is received.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Product | buyer and delivery</a:t>
            </a:r>
          </a:p>
          <a:p>
            <a:endParaRPr/>
          </a:p>
          <a:p>
            <a:r>
              <a:t>24 seconds. Timed pitch.</a:t>
            </a:r>
          </a:p>
          <a:p>
            <a:endParaRPr/>
          </a:p>
          <a:p>
            <a:r>
              <a:t>Static current product state. Receipt upload does not independently verify payment. Real fund holding/release remains planned. Record the buyer/seller actions after narration arrives; do not treat this slide as completed motion footage.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Scenario 2</a:t>
            </a:r>
          </a:p>
          <a:p>
            <a:endParaRPr/>
          </a:p>
          <a:p>
            <a:r>
              <a:t>48 seconds. Timed pitch.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Product | payment request</a:t>
            </a:r>
          </a:p>
          <a:p>
            <a:endParaRPr/>
          </a:p>
          <a:p>
            <a:r>
              <a:t>34 seconds. Timed pitch.</a:t>
            </a:r>
          </a:p>
          <a:p>
            <a:endParaRPr/>
          </a:p>
          <a:p>
            <a:r>
              <a:t>Current receipt workflow; no cross-wallet transfer is performed. This is the static presentation. Capture and synchronize actual button presses after narration is received.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Competitive feature matrix</a:t>
            </a:r>
          </a:p>
          <a:p>
            <a:endParaRPr/>
          </a:p>
          <a:p>
            <a:r>
              <a:t>13 seconds. Timed pitch.</a:t>
            </a:r>
          </a:p>
          <a:p>
            <a:endParaRPr/>
          </a:p>
          <a:p>
            <a:r>
              <a:t>Sources checked 23 October 2026: https://dinger.asia/social/eng ; https://dinger.asia/pricing/eng ; https://myanmyanpay.com/ ; https://myanmyanpay.com/faqs . MMP fee becomes 1% + 500 on 1 Jan 2027. Its annual fee is currently waived. FOM charges and partner capability are proposals; no live fee is collected by the demo.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Fixed-charge comparison chart</a:t>
            </a:r>
          </a:p>
          <a:p>
            <a:endParaRPr/>
          </a:p>
          <a:p>
            <a:r>
              <a:t>12 seconds. Timed pitch.</a:t>
            </a:r>
          </a:p>
          <a:p>
            <a:endParaRPr/>
          </a:p>
          <a:p>
            <a:r>
              <a:t>This graph compares fixed platform charges only, not total payment cost and not escrow capabilities. Dinger Standard is not every possible Dinger offer. MyanMyanPay annual fee is waived through 31 Dec 2026. No pricing advantage over every competitor is claimed. https://dinger.asia/pricing/eng ; https://myanmyanpay.com/faqs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FOM business model canvas</a:t>
            </a:r>
          </a:p>
          <a:p>
            <a:endParaRPr/>
          </a:p>
          <a:p>
            <a:r>
              <a:t>10 seconds. Timed pitch.</a:t>
            </a:r>
          </a:p>
          <a:p>
            <a:endParaRPr/>
          </a:p>
          <a:p>
            <a:r>
              <a:t>Business Model Canvas is the requested nine-block framework, completed for FOM. All partner arrangements, pricing, revenue and market assumptions are proposed, not validated outcomes. Approved provider eligibility still applies to real payments. No partner has been secured by this work.</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Revenue mechanics and unit economics</a:t>
            </a:r>
          </a:p>
          <a:p>
            <a:endParaRPr/>
          </a:p>
          <a:p>
            <a:r>
              <a:t>17 seconds. Timed pitch.</a:t>
            </a:r>
          </a:p>
          <a:p>
            <a:endParaRPr/>
          </a:p>
          <a:p>
            <a:r>
              <a:t>Calculated: service fee = transaction amount × 0.02. 25,000×.02=500; 50,000×.02=1,000; 100,000×.02=2,000. These are arithmetic examples of a proposed fee, not actual revenue, profit, demand or forecasts. Provider charges remain separately disclosed; actual cost allocation and pricing require partner agreement and a pilot.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AI-assisted build with verification</a:t>
            </a:r>
          </a:p>
          <a:p>
            <a:endParaRPr/>
          </a:p>
          <a:p>
            <a:r>
              <a:t>12 seconds. Timed pitch.</a:t>
            </a:r>
          </a:p>
          <a:p>
            <a:endParaRPr/>
          </a:p>
          <a:p>
            <a:r>
              <a:t>User confirmed Mobbin and ChatGPT. Sources: FOM/README.md; outputs/receipt-mvp/HANDOFF.md; actual recording-events.json from this rebuild. Do not portray Mobbin as the coding AI or claim these local tests validate a live financial provider.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Roadmap and closing</a:t>
            </a:r>
          </a:p>
          <a:p>
            <a:endParaRPr/>
          </a:p>
          <a:p>
            <a:r>
              <a:t>8 seconds. Timed pitch.</a:t>
            </a:r>
          </a:p>
          <a:p>
            <a:endParaRPr/>
          </a:p>
          <a:p>
            <a:r>
              <a:t>Phase 2 delivery infrastructure is a short exploratory direction, not a current capability or a promise to authenticate every product.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contacts</a:t>
            </a:r>
          </a:p>
          <a:p>
            <a:endParaRPr/>
          </a:p>
          <a:p>
            <a:r>
              <a:t>0 seconds. Hidden reference appendix.</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Evidence and assumptions</a:t>
            </a:r>
          </a:p>
          <a:p>
            <a:endParaRPr/>
          </a:p>
          <a:p>
            <a:r>
              <a:t>0 seconds. Hidden reference appendix.</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B30"/>
        </a:solidFill>
        <a:effectLst/>
      </p:bgPr>
    </p:bg>
    <p:spTree>
      <p:nvGrpSpPr>
        <p:cNvPr id="1" name=""/>
        <p:cNvGrpSpPr/>
        <p:nvPr/>
      </p:nvGrpSpPr>
      <p:grpSpPr>
        <a:xfrm>
          <a:off x="0" y="0"/>
          <a:ext cx="0" cy="0"/>
          <a:chOff x="0" y="0"/>
          <a:chExt cx="0" cy="0"/>
        </a:xfrm>
      </p:grpSpPr>
      <p:pic>
        <p:nvPicPr>
          <p:cNvPr id="2" name="Picture 1" descr="elephant-ball-logo.png"/>
          <p:cNvPicPr>
            <a:picLocks noChangeAspect="1"/>
          </p:cNvPicPr>
          <p:nvPr/>
        </p:nvPicPr>
        <p:blipFill>
          <a:blip r:embed="rId3"/>
          <a:stretch>
            <a:fillRect/>
          </a:stretch>
        </p:blipFill>
        <p:spPr>
          <a:xfrm>
            <a:off x="406400" y="273050"/>
            <a:ext cx="406400" cy="406400"/>
          </a:xfrm>
          <a:prstGeom prst="rect">
            <a:avLst/>
          </a:prstGeom>
        </p:spPr>
      </p:pic>
      <p:sp>
        <p:nvSpPr>
          <p:cNvPr id="3" name="TextBox 2"/>
          <p:cNvSpPr txBox="1"/>
          <p:nvPr/>
        </p:nvSpPr>
        <p:spPr>
          <a:xfrm>
            <a:off x="889000" y="304800"/>
            <a:ext cx="1587500" cy="444500"/>
          </a:xfrm>
          <a:prstGeom prst="rect">
            <a:avLst/>
          </a:prstGeom>
          <a:noFill/>
        </p:spPr>
        <p:txBody>
          <a:bodyPr wrap="square" lIns="0" tIns="0" rIns="0" bIns="0">
            <a:spAutoFit/>
          </a:bodyPr>
          <a:lstStyle/>
          <a:p>
            <a:pPr algn="l">
              <a:lnSpc>
                <a:spcPct val="112000"/>
              </a:lnSpc>
              <a:spcBef>
                <a:spcPts val="0"/>
              </a:spcBef>
              <a:spcAft>
                <a:spcPts val="0"/>
              </a:spcAft>
              <a:defRPr sz="2400" b="1">
                <a:solidFill>
                  <a:srgbClr val="B8CEFF"/>
                </a:solidFill>
                <a:latin typeface="Manrope"/>
              </a:defRPr>
            </a:pPr>
            <a:r>
              <a:t>fom.</a:t>
            </a:r>
          </a:p>
        </p:txBody>
      </p:sp>
      <p:sp>
        <p:nvSpPr>
          <p:cNvPr id="4" name="TextBox 3"/>
          <p:cNvSpPr txBox="1"/>
          <p:nvPr/>
        </p:nvSpPr>
        <p:spPr>
          <a:xfrm>
            <a:off x="4699000" y="412750"/>
            <a:ext cx="7048500" cy="285750"/>
          </a:xfrm>
          <a:prstGeom prst="rect">
            <a:avLst/>
          </a:prstGeom>
          <a:noFill/>
        </p:spPr>
        <p:txBody>
          <a:bodyPr wrap="square" lIns="0" tIns="0" rIns="0" bIns="0">
            <a:spAutoFit/>
          </a:bodyPr>
          <a:lstStyle/>
          <a:p>
            <a:pPr algn="r">
              <a:lnSpc>
                <a:spcPct val="112000"/>
              </a:lnSpc>
              <a:spcBef>
                <a:spcPts val="0"/>
              </a:spcBef>
              <a:spcAft>
                <a:spcPts val="0"/>
              </a:spcAft>
              <a:defRPr sz="1200" b="0">
                <a:solidFill>
                  <a:srgbClr val="B8CEFF"/>
                </a:solidFill>
                <a:latin typeface="Manrope"/>
              </a:defRPr>
            </a:pPr>
            <a:r>
              <a:t>BUILT FOR EVERYDAY ACCESS</a:t>
            </a:r>
          </a:p>
        </p:txBody>
      </p:sp>
      <p:sp>
        <p:nvSpPr>
          <p:cNvPr id="5" name="Rectangle 4"/>
          <p:cNvSpPr/>
          <p:nvPr/>
        </p:nvSpPr>
        <p:spPr>
          <a:xfrm>
            <a:off x="406400" y="6445250"/>
            <a:ext cx="11379200" cy="635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553200"/>
            <a:ext cx="9525000" cy="215900"/>
          </a:xfrm>
          <a:prstGeom prst="rect">
            <a:avLst/>
          </a:prstGeom>
          <a:noFill/>
        </p:spPr>
        <p:txBody>
          <a:bodyPr wrap="square" lIns="0" tIns="0" rIns="0" bIns="0">
            <a:spAutoFit/>
          </a:bodyPr>
          <a:lstStyle/>
          <a:p>
            <a:pPr algn="l">
              <a:lnSpc>
                <a:spcPct val="112000"/>
              </a:lnSpc>
              <a:spcBef>
                <a:spcPts val="0"/>
              </a:spcBef>
              <a:spcAft>
                <a:spcPts val="0"/>
              </a:spcAft>
              <a:defRPr sz="1100" b="0">
                <a:solidFill>
                  <a:srgbClr val="748198"/>
                </a:solidFill>
                <a:latin typeface="Manrope"/>
              </a:defRPr>
            </a:pPr>
            <a:r>
              <a:t>FOM / FUTURE OF MYANMAR</a:t>
            </a:r>
          </a:p>
        </p:txBody>
      </p:sp>
      <p:sp>
        <p:nvSpPr>
          <p:cNvPr id="7" name="TextBox 6"/>
          <p:cNvSpPr txBox="1"/>
          <p:nvPr/>
        </p:nvSpPr>
        <p:spPr>
          <a:xfrm>
            <a:off x="11176000" y="6527800"/>
            <a:ext cx="609600" cy="254000"/>
          </a:xfrm>
          <a:prstGeom prst="rect">
            <a:avLst/>
          </a:prstGeom>
          <a:noFill/>
        </p:spPr>
        <p:txBody>
          <a:bodyPr wrap="square" lIns="0" tIns="0" rIns="0" bIns="0">
            <a:spAutoFit/>
          </a:bodyPr>
          <a:lstStyle/>
          <a:p>
            <a:pPr algn="r">
              <a:lnSpc>
                <a:spcPct val="112000"/>
              </a:lnSpc>
              <a:spcBef>
                <a:spcPts val="0"/>
              </a:spcBef>
              <a:spcAft>
                <a:spcPts val="0"/>
              </a:spcAft>
              <a:defRPr sz="1300" b="1">
                <a:solidFill>
                  <a:srgbClr val="B8CEFF"/>
                </a:solidFill>
                <a:latin typeface="Manrope"/>
              </a:defRPr>
            </a:pPr>
            <a:r>
              <a:t>01</a:t>
            </a:r>
          </a:p>
        </p:txBody>
      </p:sp>
      <p:sp>
        <p:nvSpPr>
          <p:cNvPr id="8" name="TextBox 7"/>
          <p:cNvSpPr txBox="1"/>
          <p:nvPr/>
        </p:nvSpPr>
        <p:spPr>
          <a:xfrm>
            <a:off x="406400" y="1212850"/>
            <a:ext cx="9271000" cy="1651000"/>
          </a:xfrm>
          <a:prstGeom prst="rect">
            <a:avLst/>
          </a:prstGeom>
          <a:noFill/>
        </p:spPr>
        <p:txBody>
          <a:bodyPr wrap="square" lIns="0" tIns="0" rIns="0" bIns="0">
            <a:spAutoFit/>
          </a:bodyPr>
          <a:lstStyle/>
          <a:p>
            <a:pPr algn="l">
              <a:lnSpc>
                <a:spcPct val="112000"/>
              </a:lnSpc>
              <a:spcBef>
                <a:spcPts val="0"/>
              </a:spcBef>
              <a:spcAft>
                <a:spcPts val="0"/>
              </a:spcAft>
              <a:defRPr sz="4600" b="1">
                <a:solidFill>
                  <a:srgbClr val="FFFFFF"/>
                </a:solidFill>
                <a:latin typeface="Manrope"/>
              </a:defRPr>
            </a:pPr>
            <a:r>
              <a:t>Two people.</a:t>
            </a:r>
          </a:p>
          <a:p>
            <a:pPr algn="l">
              <a:lnSpc>
                <a:spcPct val="112000"/>
              </a:lnSpc>
              <a:spcBef>
                <a:spcPts val="0"/>
              </a:spcBef>
              <a:spcAft>
                <a:spcPts val="0"/>
              </a:spcAft>
              <a:defRPr sz="4600" b="1">
                <a:solidFill>
                  <a:srgbClr val="FFFFFF"/>
                </a:solidFill>
                <a:latin typeface="Manrope"/>
              </a:defRPr>
            </a:pPr>
            <a:r>
              <a:t>One clearer transaction.</a:t>
            </a:r>
          </a:p>
        </p:txBody>
      </p:sp>
      <p:sp>
        <p:nvSpPr>
          <p:cNvPr id="9" name="TextBox 8"/>
          <p:cNvSpPr txBox="1"/>
          <p:nvPr/>
        </p:nvSpPr>
        <p:spPr>
          <a:xfrm>
            <a:off x="444500" y="3092450"/>
            <a:ext cx="8572500" cy="476250"/>
          </a:xfrm>
          <a:prstGeom prst="rect">
            <a:avLst/>
          </a:prstGeom>
          <a:noFill/>
        </p:spPr>
        <p:txBody>
          <a:bodyPr wrap="square" lIns="0" tIns="0" rIns="0" bIns="0">
            <a:spAutoFit/>
          </a:bodyPr>
          <a:lstStyle/>
          <a:p>
            <a:pPr algn="l">
              <a:lnSpc>
                <a:spcPct val="112000"/>
              </a:lnSpc>
              <a:spcBef>
                <a:spcPts val="0"/>
              </a:spcBef>
              <a:spcAft>
                <a:spcPts val="0"/>
              </a:spcAft>
              <a:defRPr sz="2300" b="1">
                <a:solidFill>
                  <a:srgbClr val="B8CEFF"/>
                </a:solidFill>
                <a:latin typeface="Manrope"/>
              </a:defRPr>
            </a:pPr>
            <a:r>
              <a:t>FOM — Future of Myanmar</a:t>
            </a:r>
          </a:p>
        </p:txBody>
      </p:sp>
      <p:pic>
        <p:nvPicPr>
          <p:cNvPr id="10" name="Picture 9" descr="soft-elephant.png"/>
          <p:cNvPicPr>
            <a:picLocks noChangeAspect="1"/>
          </p:cNvPicPr>
          <p:nvPr/>
        </p:nvPicPr>
        <p:blipFill>
          <a:blip r:embed="rId4"/>
          <a:stretch>
            <a:fillRect/>
          </a:stretch>
        </p:blipFill>
        <p:spPr>
          <a:xfrm>
            <a:off x="9239250" y="1511300"/>
            <a:ext cx="2286000" cy="2286000"/>
          </a:xfrm>
          <a:prstGeom prst="rect">
            <a:avLst/>
          </a:prstGeom>
        </p:spPr>
      </p:pic>
      <p:sp>
        <p:nvSpPr>
          <p:cNvPr id="11" name="TextBox 10"/>
          <p:cNvSpPr txBox="1"/>
          <p:nvPr/>
        </p:nvSpPr>
        <p:spPr>
          <a:xfrm>
            <a:off x="444500" y="4279900"/>
            <a:ext cx="3746500" cy="317500"/>
          </a:xfrm>
          <a:prstGeom prst="rect">
            <a:avLst/>
          </a:prstGeom>
          <a:noFill/>
        </p:spPr>
        <p:txBody>
          <a:bodyPr wrap="square" lIns="0" tIns="0" rIns="0" bIns="0">
            <a:spAutoFit/>
          </a:bodyPr>
          <a:lstStyle/>
          <a:p>
            <a:pPr algn="l">
              <a:lnSpc>
                <a:spcPct val="112000"/>
              </a:lnSpc>
              <a:spcBef>
                <a:spcPts val="0"/>
              </a:spcBef>
              <a:spcAft>
                <a:spcPts val="0"/>
              </a:spcAft>
              <a:defRPr sz="1750" b="1">
                <a:solidFill>
                  <a:srgbClr val="FFFFFF"/>
                </a:solidFill>
                <a:latin typeface="Manrope"/>
              </a:defRPr>
            </a:pPr>
            <a:r>
              <a:t>Hlaing Myint Myat</a:t>
            </a:r>
          </a:p>
        </p:txBody>
      </p:sp>
      <p:sp>
        <p:nvSpPr>
          <p:cNvPr id="12" name="TextBox 11"/>
          <p:cNvSpPr txBox="1"/>
          <p:nvPr/>
        </p:nvSpPr>
        <p:spPr>
          <a:xfrm>
            <a:off x="444500" y="4641850"/>
            <a:ext cx="3746500" cy="285750"/>
          </a:xfrm>
          <a:prstGeom prst="rect">
            <a:avLst/>
          </a:prstGeom>
          <a:noFill/>
        </p:spPr>
        <p:txBody>
          <a:bodyPr wrap="square" lIns="0" tIns="0" rIns="0" bIns="0">
            <a:spAutoFit/>
          </a:bodyPr>
          <a:lstStyle/>
          <a:p>
            <a:pPr algn="l">
              <a:lnSpc>
                <a:spcPct val="112000"/>
              </a:lnSpc>
              <a:spcBef>
                <a:spcPts val="0"/>
              </a:spcBef>
              <a:spcAft>
                <a:spcPts val="0"/>
              </a:spcAft>
              <a:defRPr sz="1350" b="0">
                <a:solidFill>
                  <a:srgbClr val="B8CEFF"/>
                </a:solidFill>
                <a:latin typeface="Manrope"/>
              </a:defRPr>
            </a:pPr>
            <a:r>
              <a:t>Product Designer</a:t>
            </a:r>
          </a:p>
        </p:txBody>
      </p:sp>
      <p:sp>
        <p:nvSpPr>
          <p:cNvPr id="13" name="TextBox 12"/>
          <p:cNvSpPr txBox="1"/>
          <p:nvPr/>
        </p:nvSpPr>
        <p:spPr>
          <a:xfrm>
            <a:off x="4286250" y="4279900"/>
            <a:ext cx="3746500" cy="317500"/>
          </a:xfrm>
          <a:prstGeom prst="rect">
            <a:avLst/>
          </a:prstGeom>
          <a:noFill/>
        </p:spPr>
        <p:txBody>
          <a:bodyPr wrap="square" lIns="0" tIns="0" rIns="0" bIns="0">
            <a:spAutoFit/>
          </a:bodyPr>
          <a:lstStyle/>
          <a:p>
            <a:pPr algn="l">
              <a:lnSpc>
                <a:spcPct val="112000"/>
              </a:lnSpc>
              <a:spcBef>
                <a:spcPts val="0"/>
              </a:spcBef>
              <a:spcAft>
                <a:spcPts val="0"/>
              </a:spcAft>
              <a:defRPr sz="1750" b="1">
                <a:solidFill>
                  <a:srgbClr val="FFFFFF"/>
                </a:solidFill>
                <a:latin typeface="Manrope"/>
              </a:defRPr>
            </a:pPr>
            <a:r>
              <a:t>Thurein Hein</a:t>
            </a:r>
          </a:p>
        </p:txBody>
      </p:sp>
      <p:sp>
        <p:nvSpPr>
          <p:cNvPr id="14" name="TextBox 13"/>
          <p:cNvSpPr txBox="1"/>
          <p:nvPr/>
        </p:nvSpPr>
        <p:spPr>
          <a:xfrm>
            <a:off x="4286250" y="4641850"/>
            <a:ext cx="3746500" cy="285750"/>
          </a:xfrm>
          <a:prstGeom prst="rect">
            <a:avLst/>
          </a:prstGeom>
          <a:noFill/>
        </p:spPr>
        <p:txBody>
          <a:bodyPr wrap="square" lIns="0" tIns="0" rIns="0" bIns="0">
            <a:spAutoFit/>
          </a:bodyPr>
          <a:lstStyle/>
          <a:p>
            <a:pPr algn="l">
              <a:lnSpc>
                <a:spcPct val="112000"/>
              </a:lnSpc>
              <a:spcBef>
                <a:spcPts val="0"/>
              </a:spcBef>
              <a:spcAft>
                <a:spcPts val="0"/>
              </a:spcAft>
              <a:defRPr sz="1350" b="0">
                <a:solidFill>
                  <a:srgbClr val="B8CEFF"/>
                </a:solidFill>
                <a:latin typeface="Manrope"/>
              </a:defRPr>
            </a:pPr>
            <a:r>
              <a:t>Business Owner</a:t>
            </a:r>
          </a:p>
        </p:txBody>
      </p:sp>
      <p:sp>
        <p:nvSpPr>
          <p:cNvPr id="15" name="TextBox 14"/>
          <p:cNvSpPr txBox="1"/>
          <p:nvPr/>
        </p:nvSpPr>
        <p:spPr>
          <a:xfrm>
            <a:off x="8128000" y="4279900"/>
            <a:ext cx="3746500" cy="317500"/>
          </a:xfrm>
          <a:prstGeom prst="rect">
            <a:avLst/>
          </a:prstGeom>
          <a:noFill/>
        </p:spPr>
        <p:txBody>
          <a:bodyPr wrap="square" lIns="0" tIns="0" rIns="0" bIns="0">
            <a:spAutoFit/>
          </a:bodyPr>
          <a:lstStyle/>
          <a:p>
            <a:pPr algn="l">
              <a:lnSpc>
                <a:spcPct val="112000"/>
              </a:lnSpc>
              <a:spcBef>
                <a:spcPts val="0"/>
              </a:spcBef>
              <a:spcAft>
                <a:spcPts val="0"/>
              </a:spcAft>
              <a:defRPr sz="1750" b="1">
                <a:solidFill>
                  <a:srgbClr val="FFFFFF"/>
                </a:solidFill>
                <a:latin typeface="Manrope"/>
              </a:defRPr>
            </a:pPr>
            <a:r>
              <a:t>Nyein Zaw Lin</a:t>
            </a:r>
          </a:p>
        </p:txBody>
      </p:sp>
      <p:sp>
        <p:nvSpPr>
          <p:cNvPr id="16" name="TextBox 15"/>
          <p:cNvSpPr txBox="1"/>
          <p:nvPr/>
        </p:nvSpPr>
        <p:spPr>
          <a:xfrm>
            <a:off x="8128000" y="4641850"/>
            <a:ext cx="3746500" cy="285750"/>
          </a:xfrm>
          <a:prstGeom prst="rect">
            <a:avLst/>
          </a:prstGeom>
          <a:noFill/>
        </p:spPr>
        <p:txBody>
          <a:bodyPr wrap="square" lIns="0" tIns="0" rIns="0" bIns="0">
            <a:spAutoFit/>
          </a:bodyPr>
          <a:lstStyle/>
          <a:p>
            <a:pPr algn="l">
              <a:lnSpc>
                <a:spcPct val="112000"/>
              </a:lnSpc>
              <a:spcBef>
                <a:spcPts val="0"/>
              </a:spcBef>
              <a:spcAft>
                <a:spcPts val="0"/>
              </a:spcAft>
              <a:defRPr sz="1350" b="0">
                <a:solidFill>
                  <a:srgbClr val="B8CEFF"/>
                </a:solidFill>
                <a:latin typeface="Manrope"/>
              </a:defRPr>
            </a:pPr>
            <a:r>
              <a:t>Full Stack Developer</a:t>
            </a:r>
          </a:p>
        </p:txBody>
      </p:sp>
      <p:sp>
        <p:nvSpPr>
          <p:cNvPr id="17" name="TextBox 16"/>
          <p:cNvSpPr txBox="1"/>
          <p:nvPr/>
        </p:nvSpPr>
        <p:spPr>
          <a:xfrm>
            <a:off x="444500" y="5181600"/>
            <a:ext cx="3746500" cy="317500"/>
          </a:xfrm>
          <a:prstGeom prst="rect">
            <a:avLst/>
          </a:prstGeom>
          <a:noFill/>
        </p:spPr>
        <p:txBody>
          <a:bodyPr wrap="square" lIns="0" tIns="0" rIns="0" bIns="0">
            <a:spAutoFit/>
          </a:bodyPr>
          <a:lstStyle/>
          <a:p>
            <a:pPr algn="l">
              <a:lnSpc>
                <a:spcPct val="112000"/>
              </a:lnSpc>
              <a:spcBef>
                <a:spcPts val="0"/>
              </a:spcBef>
              <a:spcAft>
                <a:spcPts val="0"/>
              </a:spcAft>
              <a:defRPr sz="1750" b="1">
                <a:solidFill>
                  <a:srgbClr val="FFFFFF"/>
                </a:solidFill>
                <a:latin typeface="Manrope"/>
              </a:defRPr>
            </a:pPr>
            <a:r>
              <a:t>P Sai Naung</a:t>
            </a:r>
          </a:p>
        </p:txBody>
      </p:sp>
      <p:sp>
        <p:nvSpPr>
          <p:cNvPr id="18" name="TextBox 17"/>
          <p:cNvSpPr txBox="1"/>
          <p:nvPr/>
        </p:nvSpPr>
        <p:spPr>
          <a:xfrm>
            <a:off x="444500" y="5543550"/>
            <a:ext cx="3746500" cy="285750"/>
          </a:xfrm>
          <a:prstGeom prst="rect">
            <a:avLst/>
          </a:prstGeom>
          <a:noFill/>
        </p:spPr>
        <p:txBody>
          <a:bodyPr wrap="square" lIns="0" tIns="0" rIns="0" bIns="0">
            <a:spAutoFit/>
          </a:bodyPr>
          <a:lstStyle/>
          <a:p>
            <a:pPr algn="l">
              <a:lnSpc>
                <a:spcPct val="112000"/>
              </a:lnSpc>
              <a:spcBef>
                <a:spcPts val="0"/>
              </a:spcBef>
              <a:spcAft>
                <a:spcPts val="0"/>
              </a:spcAft>
              <a:defRPr sz="1350" b="0">
                <a:solidFill>
                  <a:srgbClr val="B8CEFF"/>
                </a:solidFill>
                <a:latin typeface="Manrope"/>
              </a:defRPr>
            </a:pPr>
            <a:r>
              <a:t>Project Manager</a:t>
            </a:r>
          </a:p>
        </p:txBody>
      </p:sp>
      <p:sp>
        <p:nvSpPr>
          <p:cNvPr id="19" name="TextBox 18"/>
          <p:cNvSpPr txBox="1"/>
          <p:nvPr/>
        </p:nvSpPr>
        <p:spPr>
          <a:xfrm>
            <a:off x="4286250" y="5181600"/>
            <a:ext cx="3746500" cy="317500"/>
          </a:xfrm>
          <a:prstGeom prst="rect">
            <a:avLst/>
          </a:prstGeom>
          <a:noFill/>
        </p:spPr>
        <p:txBody>
          <a:bodyPr wrap="square" lIns="0" tIns="0" rIns="0" bIns="0">
            <a:spAutoFit/>
          </a:bodyPr>
          <a:lstStyle/>
          <a:p>
            <a:pPr algn="l">
              <a:lnSpc>
                <a:spcPct val="112000"/>
              </a:lnSpc>
              <a:spcBef>
                <a:spcPts val="0"/>
              </a:spcBef>
              <a:spcAft>
                <a:spcPts val="0"/>
              </a:spcAft>
              <a:defRPr sz="1750" b="1">
                <a:solidFill>
                  <a:srgbClr val="FFFFFF"/>
                </a:solidFill>
                <a:latin typeface="Manrope"/>
              </a:defRPr>
            </a:pPr>
            <a:r>
              <a:t>Lin Khant Tun</a:t>
            </a:r>
          </a:p>
        </p:txBody>
      </p:sp>
      <p:sp>
        <p:nvSpPr>
          <p:cNvPr id="20" name="TextBox 19"/>
          <p:cNvSpPr txBox="1"/>
          <p:nvPr/>
        </p:nvSpPr>
        <p:spPr>
          <a:xfrm>
            <a:off x="4286250" y="5543550"/>
            <a:ext cx="3746500" cy="285750"/>
          </a:xfrm>
          <a:prstGeom prst="rect">
            <a:avLst/>
          </a:prstGeom>
          <a:noFill/>
        </p:spPr>
        <p:txBody>
          <a:bodyPr wrap="square" lIns="0" tIns="0" rIns="0" bIns="0">
            <a:spAutoFit/>
          </a:bodyPr>
          <a:lstStyle/>
          <a:p>
            <a:pPr algn="l">
              <a:lnSpc>
                <a:spcPct val="112000"/>
              </a:lnSpc>
              <a:spcBef>
                <a:spcPts val="0"/>
              </a:spcBef>
              <a:spcAft>
                <a:spcPts val="0"/>
              </a:spcAft>
              <a:defRPr sz="1350" b="0">
                <a:solidFill>
                  <a:srgbClr val="B8CEFF"/>
                </a:solidFill>
                <a:latin typeface="Manrope"/>
              </a:defRPr>
            </a:pPr>
            <a:r>
              <a:t>Business Analyst</a:t>
            </a:r>
          </a:p>
        </p:txBody>
      </p:sp>
      <p:sp>
        <p:nvSpPr>
          <p:cNvPr id="21" name="TextBox 20"/>
          <p:cNvSpPr txBox="1"/>
          <p:nvPr/>
        </p:nvSpPr>
        <p:spPr>
          <a:xfrm>
            <a:off x="8128000" y="5181600"/>
            <a:ext cx="3746500" cy="317500"/>
          </a:xfrm>
          <a:prstGeom prst="rect">
            <a:avLst/>
          </a:prstGeom>
          <a:noFill/>
        </p:spPr>
        <p:txBody>
          <a:bodyPr wrap="square" lIns="0" tIns="0" rIns="0" bIns="0">
            <a:spAutoFit/>
          </a:bodyPr>
          <a:lstStyle/>
          <a:p>
            <a:pPr algn="l">
              <a:lnSpc>
                <a:spcPct val="112000"/>
              </a:lnSpc>
              <a:spcBef>
                <a:spcPts val="0"/>
              </a:spcBef>
              <a:spcAft>
                <a:spcPts val="0"/>
              </a:spcAft>
              <a:defRPr sz="1750" b="1">
                <a:solidFill>
                  <a:srgbClr val="FFFFFF"/>
                </a:solidFill>
                <a:latin typeface="Manrope"/>
              </a:defRPr>
            </a:pPr>
            <a:r>
              <a:t>Shin Khant</a:t>
            </a:r>
          </a:p>
        </p:txBody>
      </p:sp>
      <p:sp>
        <p:nvSpPr>
          <p:cNvPr id="22" name="TextBox 21"/>
          <p:cNvSpPr txBox="1"/>
          <p:nvPr/>
        </p:nvSpPr>
        <p:spPr>
          <a:xfrm>
            <a:off x="8128000" y="5543550"/>
            <a:ext cx="3746500" cy="285750"/>
          </a:xfrm>
          <a:prstGeom prst="rect">
            <a:avLst/>
          </a:prstGeom>
          <a:noFill/>
        </p:spPr>
        <p:txBody>
          <a:bodyPr wrap="square" lIns="0" tIns="0" rIns="0" bIns="0">
            <a:spAutoFit/>
          </a:bodyPr>
          <a:lstStyle/>
          <a:p>
            <a:pPr algn="l">
              <a:lnSpc>
                <a:spcPct val="112000"/>
              </a:lnSpc>
              <a:spcBef>
                <a:spcPts val="0"/>
              </a:spcBef>
              <a:spcAft>
                <a:spcPts val="0"/>
              </a:spcAft>
              <a:defRPr sz="1350" b="0">
                <a:solidFill>
                  <a:srgbClr val="B8CEFF"/>
                </a:solidFill>
                <a:latin typeface="Manrope"/>
              </a:defRPr>
            </a:pPr>
            <a:r>
              <a:t>Business Owner</a:t>
            </a:r>
          </a:p>
        </p:txBody>
      </p:sp>
    </p:spTree>
  </p:cSld>
  <p:clrMapOvr>
    <a:masterClrMapping/>
  </p:clrMapOvr>
  <p:transition advClick="0" advTm="10000"/>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B30"/>
        </a:solidFill>
        <a:effectLst/>
      </p:bgPr>
    </p:bg>
    <p:spTree>
      <p:nvGrpSpPr>
        <p:cNvPr id="1" name=""/>
        <p:cNvGrpSpPr/>
        <p:nvPr/>
      </p:nvGrpSpPr>
      <p:grpSpPr>
        <a:xfrm>
          <a:off x="0" y="0"/>
          <a:ext cx="0" cy="0"/>
          <a:chOff x="0" y="0"/>
          <a:chExt cx="0" cy="0"/>
        </a:xfrm>
      </p:grpSpPr>
      <p:sp>
        <p:nvSpPr>
          <p:cNvPr id="2" name="TextBox 1"/>
          <p:cNvSpPr txBox="1"/>
          <p:nvPr/>
        </p:nvSpPr>
        <p:spPr>
          <a:xfrm>
            <a:off x="444500" y="1079500"/>
            <a:ext cx="2857500" cy="1460500"/>
          </a:xfrm>
          <a:prstGeom prst="rect">
            <a:avLst/>
          </a:prstGeom>
          <a:noFill/>
        </p:spPr>
        <p:txBody>
          <a:bodyPr wrap="square" lIns="0" tIns="0" rIns="0" bIns="0">
            <a:spAutoFit/>
          </a:bodyPr>
          <a:lstStyle/>
          <a:p>
            <a:pPr algn="l">
              <a:lnSpc>
                <a:spcPct val="112000"/>
              </a:lnSpc>
              <a:spcBef>
                <a:spcPts val="0"/>
              </a:spcBef>
              <a:spcAft>
                <a:spcPts val="0"/>
              </a:spcAft>
              <a:defRPr sz="7900" b="1">
                <a:solidFill>
                  <a:srgbClr val="B8CEFF"/>
                </a:solidFill>
                <a:latin typeface="Manrope"/>
              </a:defRPr>
            </a:pPr>
            <a:r>
              <a:t>01</a:t>
            </a:r>
          </a:p>
        </p:txBody>
      </p:sp>
      <p:sp>
        <p:nvSpPr>
          <p:cNvPr id="3" name="TextBox 2"/>
          <p:cNvSpPr txBox="1"/>
          <p:nvPr/>
        </p:nvSpPr>
        <p:spPr>
          <a:xfrm>
            <a:off x="444500" y="2984500"/>
            <a:ext cx="3556000" cy="1206500"/>
          </a:xfrm>
          <a:prstGeom prst="rect">
            <a:avLst/>
          </a:prstGeom>
          <a:noFill/>
        </p:spPr>
        <p:txBody>
          <a:bodyPr wrap="square" lIns="0" tIns="0" rIns="0" bIns="0">
            <a:spAutoFit/>
          </a:bodyPr>
          <a:lstStyle/>
          <a:p>
            <a:pPr algn="l">
              <a:lnSpc>
                <a:spcPct val="112000"/>
              </a:lnSpc>
              <a:spcBef>
                <a:spcPts val="0"/>
              </a:spcBef>
              <a:spcAft>
                <a:spcPts val="0"/>
              </a:spcAft>
              <a:defRPr sz="2850" b="1">
                <a:solidFill>
                  <a:srgbClr val="FFFFFF"/>
                </a:solidFill>
                <a:latin typeface="Manrope"/>
              </a:defRPr>
            </a:pPr>
            <a:r>
              <a:t>THE TRUST</a:t>
            </a:r>
          </a:p>
          <a:p>
            <a:pPr algn="l">
              <a:lnSpc>
                <a:spcPct val="112000"/>
              </a:lnSpc>
              <a:spcBef>
                <a:spcPts val="0"/>
              </a:spcBef>
              <a:spcAft>
                <a:spcPts val="0"/>
              </a:spcAft>
              <a:defRPr sz="2850" b="1">
                <a:solidFill>
                  <a:srgbClr val="FFFFFF"/>
                </a:solidFill>
                <a:latin typeface="Manrope"/>
              </a:defRPr>
            </a:pPr>
            <a:r>
              <a:t>PROBLEM</a:t>
            </a:r>
          </a:p>
        </p:txBody>
      </p:sp>
      <p:sp>
        <p:nvSpPr>
          <p:cNvPr id="4" name="TextBox 3"/>
          <p:cNvSpPr txBox="1"/>
          <p:nvPr/>
        </p:nvSpPr>
        <p:spPr>
          <a:xfrm>
            <a:off x="444500" y="4781550"/>
            <a:ext cx="3556000" cy="889000"/>
          </a:xfrm>
          <a:prstGeom prst="rect">
            <a:avLst/>
          </a:prstGeom>
          <a:noFill/>
        </p:spPr>
        <p:txBody>
          <a:bodyPr wrap="square" lIns="0" tIns="0" rIns="0" bIns="0">
            <a:spAutoFit/>
          </a:bodyPr>
          <a:lstStyle/>
          <a:p>
            <a:pPr algn="l">
              <a:lnSpc>
                <a:spcPct val="112000"/>
              </a:lnSpc>
              <a:spcBef>
                <a:spcPts val="0"/>
              </a:spcBef>
              <a:spcAft>
                <a:spcPts val="0"/>
              </a:spcAft>
              <a:defRPr sz="1600" b="0">
                <a:solidFill>
                  <a:srgbClr val="B8CEFF"/>
                </a:solidFill>
                <a:latin typeface="Manrope"/>
              </a:defRPr>
            </a:pPr>
            <a:r>
              <a:t>An everyday moment.</a:t>
            </a:r>
          </a:p>
          <a:p>
            <a:pPr algn="l">
              <a:lnSpc>
                <a:spcPct val="112000"/>
              </a:lnSpc>
              <a:spcBef>
                <a:spcPts val="0"/>
              </a:spcBef>
              <a:spcAft>
                <a:spcPts val="0"/>
              </a:spcAft>
              <a:defRPr sz="1600" b="0">
                <a:solidFill>
                  <a:srgbClr val="B8CEFF"/>
                </a:solidFill>
                <a:latin typeface="Manrope"/>
              </a:defRPr>
            </a:pPr>
            <a:r>
              <a:t>A familiar frustration.</a:t>
            </a:r>
          </a:p>
        </p:txBody>
      </p:sp>
      <p:pic>
        <p:nvPicPr>
          <p:cNvPr id="5" name="scenario-1-sdr.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167187" y="0"/>
            <a:ext cx="3857625" cy="6858000"/>
          </a:xfrm>
          <a:prstGeom prst="rect">
            <a:avLst/>
          </a:prstGeom>
        </p:spPr>
      </p:pic>
    </p:spTree>
  </p:cSld>
  <p:clrMapOvr>
    <a:masterClrMapping/>
  </p:clrMapOvr>
  <p:transition advClick="0" advTm="69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816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B30"/>
        </a:solidFill>
        <a:effectLst/>
      </p:bgPr>
    </p:bg>
    <p:spTree>
      <p:nvGrpSpPr>
        <p:cNvPr id="1" name=""/>
        <p:cNvGrpSpPr/>
        <p:nvPr/>
      </p:nvGrpSpPr>
      <p:grpSpPr>
        <a:xfrm>
          <a:off x="0" y="0"/>
          <a:ext cx="0" cy="0"/>
          <a:chOff x="0" y="0"/>
          <a:chExt cx="0" cy="0"/>
        </a:xfrm>
      </p:grpSpPr>
      <p:pic>
        <p:nvPicPr>
          <p:cNvPr id="2" name="Picture 1" descr="elephant-ball-logo.png"/>
          <p:cNvPicPr>
            <a:picLocks noChangeAspect="1"/>
          </p:cNvPicPr>
          <p:nvPr/>
        </p:nvPicPr>
        <p:blipFill>
          <a:blip r:embed="rId3"/>
          <a:stretch>
            <a:fillRect/>
          </a:stretch>
        </p:blipFill>
        <p:spPr>
          <a:xfrm>
            <a:off x="406400" y="273050"/>
            <a:ext cx="406400" cy="406400"/>
          </a:xfrm>
          <a:prstGeom prst="rect">
            <a:avLst/>
          </a:prstGeom>
        </p:spPr>
      </p:pic>
      <p:sp>
        <p:nvSpPr>
          <p:cNvPr id="3" name="TextBox 2"/>
          <p:cNvSpPr txBox="1"/>
          <p:nvPr/>
        </p:nvSpPr>
        <p:spPr>
          <a:xfrm>
            <a:off x="889000" y="304800"/>
            <a:ext cx="1587500" cy="444500"/>
          </a:xfrm>
          <a:prstGeom prst="rect">
            <a:avLst/>
          </a:prstGeom>
          <a:noFill/>
        </p:spPr>
        <p:txBody>
          <a:bodyPr wrap="square" lIns="0" tIns="0" rIns="0" bIns="0">
            <a:spAutoFit/>
          </a:bodyPr>
          <a:lstStyle/>
          <a:p>
            <a:pPr algn="l">
              <a:lnSpc>
                <a:spcPct val="112000"/>
              </a:lnSpc>
              <a:spcBef>
                <a:spcPts val="0"/>
              </a:spcBef>
              <a:spcAft>
                <a:spcPts val="0"/>
              </a:spcAft>
              <a:defRPr sz="2400" b="1">
                <a:solidFill>
                  <a:srgbClr val="B8CEFF"/>
                </a:solidFill>
                <a:latin typeface="Manrope"/>
              </a:defRPr>
            </a:pPr>
            <a:r>
              <a:t>fom.</a:t>
            </a:r>
          </a:p>
        </p:txBody>
      </p:sp>
      <p:sp>
        <p:nvSpPr>
          <p:cNvPr id="4" name="TextBox 3"/>
          <p:cNvSpPr txBox="1"/>
          <p:nvPr/>
        </p:nvSpPr>
        <p:spPr>
          <a:xfrm>
            <a:off x="4699000" y="412750"/>
            <a:ext cx="7048500" cy="285750"/>
          </a:xfrm>
          <a:prstGeom prst="rect">
            <a:avLst/>
          </a:prstGeom>
          <a:noFill/>
        </p:spPr>
        <p:txBody>
          <a:bodyPr wrap="square" lIns="0" tIns="0" rIns="0" bIns="0">
            <a:spAutoFit/>
          </a:bodyPr>
          <a:lstStyle/>
          <a:p>
            <a:pPr algn="r">
              <a:lnSpc>
                <a:spcPct val="112000"/>
              </a:lnSpc>
              <a:spcBef>
                <a:spcPts val="0"/>
              </a:spcBef>
              <a:spcAft>
                <a:spcPts val="0"/>
              </a:spcAft>
              <a:defRPr sz="1200" b="0">
                <a:solidFill>
                  <a:srgbClr val="B8CEFF"/>
                </a:solidFill>
                <a:latin typeface="Manrope"/>
              </a:defRPr>
            </a:pPr>
            <a:r>
              <a:t>INTENDED ESCROW MODEL</a:t>
            </a:r>
          </a:p>
        </p:txBody>
      </p:sp>
      <p:sp>
        <p:nvSpPr>
          <p:cNvPr id="5" name="Rectangle 4"/>
          <p:cNvSpPr/>
          <p:nvPr/>
        </p:nvSpPr>
        <p:spPr>
          <a:xfrm>
            <a:off x="406400" y="6445250"/>
            <a:ext cx="11379200" cy="635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553200"/>
            <a:ext cx="9525000" cy="215900"/>
          </a:xfrm>
          <a:prstGeom prst="rect">
            <a:avLst/>
          </a:prstGeom>
          <a:noFill/>
        </p:spPr>
        <p:txBody>
          <a:bodyPr wrap="square" lIns="0" tIns="0" rIns="0" bIns="0">
            <a:spAutoFit/>
          </a:bodyPr>
          <a:lstStyle/>
          <a:p>
            <a:pPr algn="l">
              <a:lnSpc>
                <a:spcPct val="112000"/>
              </a:lnSpc>
              <a:spcBef>
                <a:spcPts val="0"/>
              </a:spcBef>
              <a:spcAft>
                <a:spcPts val="0"/>
              </a:spcAft>
              <a:defRPr sz="1100" b="0">
                <a:solidFill>
                  <a:srgbClr val="748198"/>
                </a:solidFill>
                <a:latin typeface="Manrope"/>
              </a:defRPr>
            </a:pPr>
            <a:r>
              <a:t>FOM / FUTURE OF MYANMAR</a:t>
            </a:r>
          </a:p>
        </p:txBody>
      </p:sp>
      <p:sp>
        <p:nvSpPr>
          <p:cNvPr id="7" name="TextBox 6"/>
          <p:cNvSpPr txBox="1"/>
          <p:nvPr/>
        </p:nvSpPr>
        <p:spPr>
          <a:xfrm>
            <a:off x="11176000" y="6527800"/>
            <a:ext cx="609600" cy="254000"/>
          </a:xfrm>
          <a:prstGeom prst="rect">
            <a:avLst/>
          </a:prstGeom>
          <a:noFill/>
        </p:spPr>
        <p:txBody>
          <a:bodyPr wrap="square" lIns="0" tIns="0" rIns="0" bIns="0">
            <a:spAutoFit/>
          </a:bodyPr>
          <a:lstStyle/>
          <a:p>
            <a:pPr algn="r">
              <a:lnSpc>
                <a:spcPct val="112000"/>
              </a:lnSpc>
              <a:spcBef>
                <a:spcPts val="0"/>
              </a:spcBef>
              <a:spcAft>
                <a:spcPts val="0"/>
              </a:spcAft>
              <a:defRPr sz="1300" b="1">
                <a:solidFill>
                  <a:srgbClr val="B8CEFF"/>
                </a:solidFill>
                <a:latin typeface="Manrope"/>
              </a:defRPr>
            </a:pPr>
            <a:r>
              <a:t>03</a:t>
            </a:r>
          </a:p>
        </p:txBody>
      </p:sp>
      <p:sp>
        <p:nvSpPr>
          <p:cNvPr id="8" name="TextBox 7"/>
          <p:cNvSpPr txBox="1"/>
          <p:nvPr/>
        </p:nvSpPr>
        <p:spPr>
          <a:xfrm>
            <a:off x="406400" y="1085850"/>
            <a:ext cx="11366500" cy="1524000"/>
          </a:xfrm>
          <a:prstGeom prst="rect">
            <a:avLst/>
          </a:prstGeom>
          <a:noFill/>
        </p:spPr>
        <p:txBody>
          <a:bodyPr wrap="square" lIns="0" tIns="0" rIns="0" bIns="0">
            <a:spAutoFit/>
          </a:bodyPr>
          <a:lstStyle/>
          <a:p>
            <a:pPr algn="l">
              <a:lnSpc>
                <a:spcPct val="112000"/>
              </a:lnSpc>
              <a:spcBef>
                <a:spcPts val="0"/>
              </a:spcBef>
              <a:spcAft>
                <a:spcPts val="0"/>
              </a:spcAft>
              <a:defRPr sz="4100" b="1">
                <a:solidFill>
                  <a:srgbClr val="FFFFFF"/>
                </a:solidFill>
                <a:latin typeface="Manrope"/>
              </a:defRPr>
            </a:pPr>
            <a:r>
              <a:t>Turn “Can I trust this?”</a:t>
            </a:r>
          </a:p>
          <a:p>
            <a:pPr algn="l">
              <a:lnSpc>
                <a:spcPct val="112000"/>
              </a:lnSpc>
              <a:spcBef>
                <a:spcPts val="0"/>
              </a:spcBef>
              <a:spcAft>
                <a:spcPts val="0"/>
              </a:spcAft>
              <a:defRPr sz="4100" b="1">
                <a:solidFill>
                  <a:srgbClr val="FFFFFF"/>
                </a:solidFill>
                <a:latin typeface="Manrope"/>
              </a:defRPr>
            </a:pPr>
            <a:r>
              <a:t>into a clear next step.</a:t>
            </a:r>
          </a:p>
        </p:txBody>
      </p:sp>
      <p:sp>
        <p:nvSpPr>
          <p:cNvPr id="9" name="Rectangle 8"/>
          <p:cNvSpPr/>
          <p:nvPr/>
        </p:nvSpPr>
        <p:spPr>
          <a:xfrm>
            <a:off x="406400" y="3365500"/>
            <a:ext cx="2584450" cy="171450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5150" y="3600450"/>
            <a:ext cx="2266950" cy="342900"/>
          </a:xfrm>
          <a:prstGeom prst="rect">
            <a:avLst/>
          </a:prstGeom>
          <a:noFill/>
        </p:spPr>
        <p:txBody>
          <a:bodyPr wrap="square" lIns="0" tIns="0" rIns="0" bIns="0">
            <a:spAutoFit/>
          </a:bodyPr>
          <a:lstStyle/>
          <a:p>
            <a:pPr algn="l">
              <a:lnSpc>
                <a:spcPct val="112000"/>
              </a:lnSpc>
              <a:spcBef>
                <a:spcPts val="0"/>
              </a:spcBef>
              <a:spcAft>
                <a:spcPts val="0"/>
              </a:spcAft>
              <a:defRPr sz="1550" b="1">
                <a:solidFill>
                  <a:srgbClr val="FFFFFF"/>
                </a:solidFill>
                <a:latin typeface="Manrope"/>
              </a:defRPr>
            </a:pPr>
            <a:r>
              <a:t>AGREE</a:t>
            </a:r>
          </a:p>
        </p:txBody>
      </p:sp>
      <p:sp>
        <p:nvSpPr>
          <p:cNvPr id="11" name="TextBox 10"/>
          <p:cNvSpPr txBox="1"/>
          <p:nvPr/>
        </p:nvSpPr>
        <p:spPr>
          <a:xfrm>
            <a:off x="565150" y="4190999"/>
            <a:ext cx="2266950" cy="723900"/>
          </a:xfrm>
          <a:prstGeom prst="rect">
            <a:avLst/>
          </a:prstGeom>
          <a:noFill/>
        </p:spPr>
        <p:txBody>
          <a:bodyPr wrap="square" lIns="0" tIns="0" rIns="0" bIns="0">
            <a:spAutoFit/>
          </a:bodyPr>
          <a:lstStyle/>
          <a:p>
            <a:pPr algn="l">
              <a:lnSpc>
                <a:spcPct val="112000"/>
              </a:lnSpc>
              <a:spcBef>
                <a:spcPts val="0"/>
              </a:spcBef>
              <a:spcAft>
                <a:spcPts val="0"/>
              </a:spcAft>
              <a:defRPr sz="1500" b="0">
                <a:solidFill>
                  <a:srgbClr val="FFFFFF"/>
                </a:solidFill>
                <a:latin typeface="Manrope"/>
              </a:defRPr>
            </a:pPr>
            <a:r>
              <a:t>Item + amount</a:t>
            </a:r>
          </a:p>
          <a:p>
            <a:pPr algn="l">
              <a:lnSpc>
                <a:spcPct val="112000"/>
              </a:lnSpc>
              <a:spcBef>
                <a:spcPts val="0"/>
              </a:spcBef>
              <a:spcAft>
                <a:spcPts val="0"/>
              </a:spcAft>
              <a:defRPr sz="1500" b="0">
                <a:solidFill>
                  <a:srgbClr val="FFFFFF"/>
                </a:solidFill>
                <a:latin typeface="Manrope"/>
              </a:defRPr>
            </a:pPr>
            <a:r>
              <a:t>Delivery + checking</a:t>
            </a:r>
          </a:p>
        </p:txBody>
      </p:sp>
      <p:sp>
        <p:nvSpPr>
          <p:cNvPr id="12" name="TextBox 11"/>
          <p:cNvSpPr txBox="1"/>
          <p:nvPr/>
        </p:nvSpPr>
        <p:spPr>
          <a:xfrm>
            <a:off x="2990850" y="3924300"/>
            <a:ext cx="342900" cy="635000"/>
          </a:xfrm>
          <a:prstGeom prst="rect">
            <a:avLst/>
          </a:prstGeom>
          <a:noFill/>
        </p:spPr>
        <p:txBody>
          <a:bodyPr wrap="square" lIns="0" tIns="0" rIns="0" bIns="0">
            <a:spAutoFit/>
          </a:bodyPr>
          <a:lstStyle/>
          <a:p>
            <a:pPr algn="l">
              <a:lnSpc>
                <a:spcPct val="112000"/>
              </a:lnSpc>
              <a:spcBef>
                <a:spcPts val="0"/>
              </a:spcBef>
              <a:spcAft>
                <a:spcPts val="0"/>
              </a:spcAft>
              <a:defRPr sz="2200" b="0">
                <a:solidFill>
                  <a:srgbClr val="B8CEFF"/>
                </a:solidFill>
                <a:latin typeface="Manrope"/>
              </a:defRPr>
            </a:pPr>
            <a:r>
              <a:t>→</a:t>
            </a:r>
          </a:p>
        </p:txBody>
      </p:sp>
      <p:sp>
        <p:nvSpPr>
          <p:cNvPr id="13" name="Rectangle 12"/>
          <p:cNvSpPr/>
          <p:nvPr/>
        </p:nvSpPr>
        <p:spPr>
          <a:xfrm>
            <a:off x="3333750" y="3365500"/>
            <a:ext cx="2584450" cy="171450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92500" y="3600450"/>
            <a:ext cx="2266950" cy="342900"/>
          </a:xfrm>
          <a:prstGeom prst="rect">
            <a:avLst/>
          </a:prstGeom>
          <a:noFill/>
        </p:spPr>
        <p:txBody>
          <a:bodyPr wrap="square" lIns="0" tIns="0" rIns="0" bIns="0">
            <a:spAutoFit/>
          </a:bodyPr>
          <a:lstStyle/>
          <a:p>
            <a:pPr algn="l">
              <a:lnSpc>
                <a:spcPct val="112000"/>
              </a:lnSpc>
              <a:spcBef>
                <a:spcPts val="0"/>
              </a:spcBef>
              <a:spcAft>
                <a:spcPts val="0"/>
              </a:spcAft>
              <a:defRPr sz="1550" b="1">
                <a:solidFill>
                  <a:srgbClr val="FFFFFF"/>
                </a:solidFill>
                <a:latin typeface="Manrope"/>
              </a:defRPr>
            </a:pPr>
            <a:r>
              <a:t>PARTNER HOLDS</a:t>
            </a:r>
          </a:p>
        </p:txBody>
      </p:sp>
      <p:sp>
        <p:nvSpPr>
          <p:cNvPr id="15" name="TextBox 14"/>
          <p:cNvSpPr txBox="1"/>
          <p:nvPr/>
        </p:nvSpPr>
        <p:spPr>
          <a:xfrm>
            <a:off x="3492500" y="4190999"/>
            <a:ext cx="2266950" cy="723900"/>
          </a:xfrm>
          <a:prstGeom prst="rect">
            <a:avLst/>
          </a:prstGeom>
          <a:noFill/>
        </p:spPr>
        <p:txBody>
          <a:bodyPr wrap="square" lIns="0" tIns="0" rIns="0" bIns="0">
            <a:spAutoFit/>
          </a:bodyPr>
          <a:lstStyle/>
          <a:p>
            <a:pPr algn="l">
              <a:lnSpc>
                <a:spcPct val="112000"/>
              </a:lnSpc>
              <a:spcBef>
                <a:spcPts val="0"/>
              </a:spcBef>
              <a:spcAft>
                <a:spcPts val="0"/>
              </a:spcAft>
              <a:defRPr sz="1500" b="0">
                <a:solidFill>
                  <a:srgbClr val="FFFFFF"/>
                </a:solidFill>
                <a:latin typeface="Manrope"/>
              </a:defRPr>
            </a:pPr>
            <a:r>
              <a:t>Approved financial</a:t>
            </a:r>
          </a:p>
          <a:p>
            <a:pPr algn="l">
              <a:lnSpc>
                <a:spcPct val="112000"/>
              </a:lnSpc>
              <a:spcBef>
                <a:spcPts val="0"/>
              </a:spcBef>
              <a:spcAft>
                <a:spcPts val="0"/>
              </a:spcAft>
              <a:defRPr sz="1500" b="0">
                <a:solidFill>
                  <a:srgbClr val="FFFFFF"/>
                </a:solidFill>
                <a:latin typeface="Manrope"/>
              </a:defRPr>
            </a:pPr>
            <a:r>
              <a:t>partner required</a:t>
            </a:r>
          </a:p>
        </p:txBody>
      </p:sp>
      <p:sp>
        <p:nvSpPr>
          <p:cNvPr id="16" name="TextBox 15"/>
          <p:cNvSpPr txBox="1"/>
          <p:nvPr/>
        </p:nvSpPr>
        <p:spPr>
          <a:xfrm>
            <a:off x="5918200" y="3924300"/>
            <a:ext cx="342900" cy="635000"/>
          </a:xfrm>
          <a:prstGeom prst="rect">
            <a:avLst/>
          </a:prstGeom>
          <a:noFill/>
        </p:spPr>
        <p:txBody>
          <a:bodyPr wrap="square" lIns="0" tIns="0" rIns="0" bIns="0">
            <a:spAutoFit/>
          </a:bodyPr>
          <a:lstStyle/>
          <a:p>
            <a:pPr algn="l">
              <a:lnSpc>
                <a:spcPct val="112000"/>
              </a:lnSpc>
              <a:spcBef>
                <a:spcPts val="0"/>
              </a:spcBef>
              <a:spcAft>
                <a:spcPts val="0"/>
              </a:spcAft>
              <a:defRPr sz="2200" b="0">
                <a:solidFill>
                  <a:srgbClr val="B8CEFF"/>
                </a:solidFill>
                <a:latin typeface="Manrope"/>
              </a:defRPr>
            </a:pPr>
            <a:r>
              <a:t>→</a:t>
            </a:r>
          </a:p>
        </p:txBody>
      </p:sp>
      <p:sp>
        <p:nvSpPr>
          <p:cNvPr id="17" name="Rectangle 16"/>
          <p:cNvSpPr/>
          <p:nvPr/>
        </p:nvSpPr>
        <p:spPr>
          <a:xfrm>
            <a:off x="6261100" y="3365500"/>
            <a:ext cx="2584450" cy="171450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19850" y="3600450"/>
            <a:ext cx="2266950" cy="342900"/>
          </a:xfrm>
          <a:prstGeom prst="rect">
            <a:avLst/>
          </a:prstGeom>
          <a:noFill/>
        </p:spPr>
        <p:txBody>
          <a:bodyPr wrap="square" lIns="0" tIns="0" rIns="0" bIns="0">
            <a:spAutoFit/>
          </a:bodyPr>
          <a:lstStyle/>
          <a:p>
            <a:pPr algn="l">
              <a:lnSpc>
                <a:spcPct val="112000"/>
              </a:lnSpc>
              <a:spcBef>
                <a:spcPts val="0"/>
              </a:spcBef>
              <a:spcAft>
                <a:spcPts val="0"/>
              </a:spcAft>
              <a:defRPr sz="1550" b="1">
                <a:solidFill>
                  <a:srgbClr val="FFFFFF"/>
                </a:solidFill>
                <a:latin typeface="Manrope"/>
              </a:defRPr>
            </a:pPr>
            <a:r>
              <a:t>CHECK</a:t>
            </a:r>
          </a:p>
        </p:txBody>
      </p:sp>
      <p:sp>
        <p:nvSpPr>
          <p:cNvPr id="19" name="TextBox 18"/>
          <p:cNvSpPr txBox="1"/>
          <p:nvPr/>
        </p:nvSpPr>
        <p:spPr>
          <a:xfrm>
            <a:off x="6419850" y="4190999"/>
            <a:ext cx="2266950" cy="723900"/>
          </a:xfrm>
          <a:prstGeom prst="rect">
            <a:avLst/>
          </a:prstGeom>
          <a:noFill/>
        </p:spPr>
        <p:txBody>
          <a:bodyPr wrap="square" lIns="0" tIns="0" rIns="0" bIns="0">
            <a:spAutoFit/>
          </a:bodyPr>
          <a:lstStyle/>
          <a:p>
            <a:pPr algn="l">
              <a:lnSpc>
                <a:spcPct val="112000"/>
              </a:lnSpc>
              <a:spcBef>
                <a:spcPts val="0"/>
              </a:spcBef>
              <a:spcAft>
                <a:spcPts val="0"/>
              </a:spcAft>
              <a:defRPr sz="1500" b="0">
                <a:solidFill>
                  <a:srgbClr val="FFFFFF"/>
                </a:solidFill>
                <a:latin typeface="Manrope"/>
              </a:defRPr>
            </a:pPr>
            <a:r>
              <a:t>Buyer receives</a:t>
            </a:r>
          </a:p>
          <a:p>
            <a:pPr algn="l">
              <a:lnSpc>
                <a:spcPct val="112000"/>
              </a:lnSpc>
              <a:spcBef>
                <a:spcPts val="0"/>
              </a:spcBef>
              <a:spcAft>
                <a:spcPts val="0"/>
              </a:spcAft>
              <a:defRPr sz="1500" b="0">
                <a:solidFill>
                  <a:srgbClr val="FFFFFF"/>
                </a:solidFill>
                <a:latin typeface="Manrope"/>
              </a:defRPr>
            </a:pPr>
            <a:r>
              <a:t>and checks the item</a:t>
            </a:r>
          </a:p>
        </p:txBody>
      </p:sp>
      <p:sp>
        <p:nvSpPr>
          <p:cNvPr id="20" name="TextBox 19"/>
          <p:cNvSpPr txBox="1"/>
          <p:nvPr/>
        </p:nvSpPr>
        <p:spPr>
          <a:xfrm>
            <a:off x="8845550" y="3924300"/>
            <a:ext cx="342900" cy="635000"/>
          </a:xfrm>
          <a:prstGeom prst="rect">
            <a:avLst/>
          </a:prstGeom>
          <a:noFill/>
        </p:spPr>
        <p:txBody>
          <a:bodyPr wrap="square" lIns="0" tIns="0" rIns="0" bIns="0">
            <a:spAutoFit/>
          </a:bodyPr>
          <a:lstStyle/>
          <a:p>
            <a:pPr algn="l">
              <a:lnSpc>
                <a:spcPct val="112000"/>
              </a:lnSpc>
              <a:spcBef>
                <a:spcPts val="0"/>
              </a:spcBef>
              <a:spcAft>
                <a:spcPts val="0"/>
              </a:spcAft>
              <a:defRPr sz="2200" b="0">
                <a:solidFill>
                  <a:srgbClr val="B8CEFF"/>
                </a:solidFill>
                <a:latin typeface="Manrope"/>
              </a:defRPr>
            </a:pPr>
            <a:r>
              <a:t>→</a:t>
            </a:r>
          </a:p>
        </p:txBody>
      </p:sp>
      <p:sp>
        <p:nvSpPr>
          <p:cNvPr id="21" name="Rectangle 20"/>
          <p:cNvSpPr/>
          <p:nvPr/>
        </p:nvSpPr>
        <p:spPr>
          <a:xfrm>
            <a:off x="9188450" y="3365500"/>
            <a:ext cx="2584450" cy="171450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47200" y="3600450"/>
            <a:ext cx="2266950" cy="342900"/>
          </a:xfrm>
          <a:prstGeom prst="rect">
            <a:avLst/>
          </a:prstGeom>
          <a:noFill/>
        </p:spPr>
        <p:txBody>
          <a:bodyPr wrap="square" lIns="0" tIns="0" rIns="0" bIns="0">
            <a:spAutoFit/>
          </a:bodyPr>
          <a:lstStyle/>
          <a:p>
            <a:pPr algn="l">
              <a:lnSpc>
                <a:spcPct val="112000"/>
              </a:lnSpc>
              <a:spcBef>
                <a:spcPts val="0"/>
              </a:spcBef>
              <a:spcAft>
                <a:spcPts val="0"/>
              </a:spcAft>
              <a:defRPr sz="1550" b="1">
                <a:solidFill>
                  <a:srgbClr val="FFFFFF"/>
                </a:solidFill>
                <a:latin typeface="Manrope"/>
              </a:defRPr>
            </a:pPr>
            <a:r>
              <a:t>RELEASE</a:t>
            </a:r>
          </a:p>
        </p:txBody>
      </p:sp>
      <p:sp>
        <p:nvSpPr>
          <p:cNvPr id="23" name="TextBox 22"/>
          <p:cNvSpPr txBox="1"/>
          <p:nvPr/>
        </p:nvSpPr>
        <p:spPr>
          <a:xfrm>
            <a:off x="9347200" y="4190999"/>
            <a:ext cx="2266950" cy="723900"/>
          </a:xfrm>
          <a:prstGeom prst="rect">
            <a:avLst/>
          </a:prstGeom>
          <a:noFill/>
        </p:spPr>
        <p:txBody>
          <a:bodyPr wrap="square" lIns="0" tIns="0" rIns="0" bIns="0">
            <a:spAutoFit/>
          </a:bodyPr>
          <a:lstStyle/>
          <a:p>
            <a:pPr algn="l">
              <a:lnSpc>
                <a:spcPct val="112000"/>
              </a:lnSpc>
              <a:spcBef>
                <a:spcPts val="0"/>
              </a:spcBef>
              <a:spcAft>
                <a:spcPts val="0"/>
              </a:spcAft>
              <a:defRPr sz="1500" b="0">
                <a:solidFill>
                  <a:srgbClr val="FFFFFF"/>
                </a:solidFill>
                <a:latin typeface="Manrope"/>
              </a:defRPr>
            </a:pPr>
            <a:r>
              <a:t>Partner-backed</a:t>
            </a:r>
          </a:p>
          <a:p>
            <a:pPr algn="l">
              <a:lnSpc>
                <a:spcPct val="112000"/>
              </a:lnSpc>
              <a:spcBef>
                <a:spcPts val="0"/>
              </a:spcBef>
              <a:spcAft>
                <a:spcPts val="0"/>
              </a:spcAft>
              <a:defRPr sz="1500" b="0">
                <a:solidFill>
                  <a:srgbClr val="FFFFFF"/>
                </a:solidFill>
                <a:latin typeface="Manrope"/>
              </a:defRPr>
            </a:pPr>
            <a:r>
              <a:t>release or resolution</a:t>
            </a:r>
          </a:p>
        </p:txBody>
      </p:sp>
      <p:sp>
        <p:nvSpPr>
          <p:cNvPr id="24" name="TextBox 23"/>
          <p:cNvSpPr txBox="1"/>
          <p:nvPr/>
        </p:nvSpPr>
        <p:spPr>
          <a:xfrm>
            <a:off x="406400" y="5708650"/>
            <a:ext cx="11303000" cy="412750"/>
          </a:xfrm>
          <a:prstGeom prst="rect">
            <a:avLst/>
          </a:prstGeom>
          <a:noFill/>
        </p:spPr>
        <p:txBody>
          <a:bodyPr wrap="square" lIns="0" tIns="0" rIns="0" bIns="0">
            <a:spAutoFit/>
          </a:bodyPr>
          <a:lstStyle/>
          <a:p>
            <a:pPr algn="l">
              <a:lnSpc>
                <a:spcPct val="112000"/>
              </a:lnSpc>
              <a:spcBef>
                <a:spcPts val="0"/>
              </a:spcBef>
              <a:spcAft>
                <a:spcPts val="0"/>
              </a:spcAft>
              <a:defRPr sz="1450" b="0">
                <a:solidFill>
                  <a:srgbClr val="B8CEFF"/>
                </a:solidFill>
                <a:latin typeface="Manrope"/>
              </a:defRPr>
            </a:pPr>
            <a:r>
              <a:t>Prototype: agreement, receipts and delivery.  Live holding/release: planned.</a:t>
            </a:r>
          </a:p>
        </p:txBody>
      </p:sp>
    </p:spTree>
  </p:cSld>
  <p:clrMapOvr>
    <a:masterClrMapping/>
  </p:clrMapOvr>
  <p:transition advClick="0" advTm="8000"/>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B30"/>
        </a:solidFill>
        <a:effectLst/>
      </p:bgPr>
    </p:bg>
    <p:spTree>
      <p:nvGrpSpPr>
        <p:cNvPr id="1" name=""/>
        <p:cNvGrpSpPr/>
        <p:nvPr/>
      </p:nvGrpSpPr>
      <p:grpSpPr>
        <a:xfrm>
          <a:off x="0" y="0"/>
          <a:ext cx="0" cy="0"/>
          <a:chOff x="0" y="0"/>
          <a:chExt cx="0" cy="0"/>
        </a:xfrm>
      </p:grpSpPr>
      <p:pic>
        <p:nvPicPr>
          <p:cNvPr id="2" name="Picture 1" descr="elephant-ball-logo.png"/>
          <p:cNvPicPr>
            <a:picLocks noChangeAspect="1"/>
          </p:cNvPicPr>
          <p:nvPr/>
        </p:nvPicPr>
        <p:blipFill>
          <a:blip r:embed="rId3"/>
          <a:stretch>
            <a:fillRect/>
          </a:stretch>
        </p:blipFill>
        <p:spPr>
          <a:xfrm>
            <a:off x="406400" y="273050"/>
            <a:ext cx="406400" cy="406400"/>
          </a:xfrm>
          <a:prstGeom prst="rect">
            <a:avLst/>
          </a:prstGeom>
        </p:spPr>
      </p:pic>
      <p:sp>
        <p:nvSpPr>
          <p:cNvPr id="3" name="TextBox 2"/>
          <p:cNvSpPr txBox="1"/>
          <p:nvPr/>
        </p:nvSpPr>
        <p:spPr>
          <a:xfrm>
            <a:off x="889000" y="304800"/>
            <a:ext cx="1587500" cy="444500"/>
          </a:xfrm>
          <a:prstGeom prst="rect">
            <a:avLst/>
          </a:prstGeom>
          <a:noFill/>
        </p:spPr>
        <p:txBody>
          <a:bodyPr wrap="square" lIns="0" tIns="0" rIns="0" bIns="0">
            <a:spAutoFit/>
          </a:bodyPr>
          <a:lstStyle/>
          <a:p>
            <a:pPr algn="l">
              <a:lnSpc>
                <a:spcPct val="112000"/>
              </a:lnSpc>
              <a:spcBef>
                <a:spcPts val="0"/>
              </a:spcBef>
              <a:spcAft>
                <a:spcPts val="0"/>
              </a:spcAft>
              <a:defRPr sz="2400" b="1">
                <a:solidFill>
                  <a:srgbClr val="B8CEFF"/>
                </a:solidFill>
                <a:latin typeface="Manrope"/>
              </a:defRPr>
            </a:pPr>
            <a:r>
              <a:t>fom.</a:t>
            </a:r>
          </a:p>
        </p:txBody>
      </p:sp>
      <p:sp>
        <p:nvSpPr>
          <p:cNvPr id="4" name="TextBox 3"/>
          <p:cNvSpPr txBox="1"/>
          <p:nvPr/>
        </p:nvSpPr>
        <p:spPr>
          <a:xfrm>
            <a:off x="4699000" y="412750"/>
            <a:ext cx="7048500" cy="285750"/>
          </a:xfrm>
          <a:prstGeom prst="rect">
            <a:avLst/>
          </a:prstGeom>
          <a:noFill/>
        </p:spPr>
        <p:txBody>
          <a:bodyPr wrap="square" lIns="0" tIns="0" rIns="0" bIns="0">
            <a:spAutoFit/>
          </a:bodyPr>
          <a:lstStyle/>
          <a:p>
            <a:pPr algn="r">
              <a:lnSpc>
                <a:spcPct val="112000"/>
              </a:lnSpc>
              <a:spcBef>
                <a:spcPts val="0"/>
              </a:spcBef>
              <a:spcAft>
                <a:spcPts val="0"/>
              </a:spcAft>
              <a:defRPr sz="1200" b="0">
                <a:solidFill>
                  <a:srgbClr val="B8CEFF"/>
                </a:solidFill>
                <a:latin typeface="Manrope"/>
              </a:defRPr>
            </a:pPr>
            <a:r>
              <a:t>CURRENT PRODUCT FLOW</a:t>
            </a:r>
          </a:p>
        </p:txBody>
      </p:sp>
      <p:sp>
        <p:nvSpPr>
          <p:cNvPr id="5" name="Rectangle 4"/>
          <p:cNvSpPr/>
          <p:nvPr/>
        </p:nvSpPr>
        <p:spPr>
          <a:xfrm>
            <a:off x="406400" y="6445250"/>
            <a:ext cx="11379200" cy="635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553200"/>
            <a:ext cx="9525000" cy="215900"/>
          </a:xfrm>
          <a:prstGeom prst="rect">
            <a:avLst/>
          </a:prstGeom>
          <a:noFill/>
        </p:spPr>
        <p:txBody>
          <a:bodyPr wrap="square" lIns="0" tIns="0" rIns="0" bIns="0">
            <a:spAutoFit/>
          </a:bodyPr>
          <a:lstStyle/>
          <a:p>
            <a:pPr algn="l">
              <a:lnSpc>
                <a:spcPct val="112000"/>
              </a:lnSpc>
              <a:spcBef>
                <a:spcPts val="0"/>
              </a:spcBef>
              <a:spcAft>
                <a:spcPts val="0"/>
              </a:spcAft>
              <a:defRPr sz="1100" b="0">
                <a:solidFill>
                  <a:srgbClr val="748198"/>
                </a:solidFill>
                <a:latin typeface="Manrope"/>
              </a:defRPr>
            </a:pPr>
            <a:r>
              <a:t>FOM / FUTURE OF MYANMAR</a:t>
            </a:r>
          </a:p>
        </p:txBody>
      </p:sp>
      <p:sp>
        <p:nvSpPr>
          <p:cNvPr id="7" name="TextBox 6"/>
          <p:cNvSpPr txBox="1"/>
          <p:nvPr/>
        </p:nvSpPr>
        <p:spPr>
          <a:xfrm>
            <a:off x="11176000" y="6527800"/>
            <a:ext cx="609600" cy="254000"/>
          </a:xfrm>
          <a:prstGeom prst="rect">
            <a:avLst/>
          </a:prstGeom>
          <a:noFill/>
        </p:spPr>
        <p:txBody>
          <a:bodyPr wrap="square" lIns="0" tIns="0" rIns="0" bIns="0">
            <a:spAutoFit/>
          </a:bodyPr>
          <a:lstStyle/>
          <a:p>
            <a:pPr algn="r">
              <a:lnSpc>
                <a:spcPct val="112000"/>
              </a:lnSpc>
              <a:spcBef>
                <a:spcPts val="0"/>
              </a:spcBef>
              <a:spcAft>
                <a:spcPts val="0"/>
              </a:spcAft>
              <a:defRPr sz="1300" b="1">
                <a:solidFill>
                  <a:srgbClr val="B8CEFF"/>
                </a:solidFill>
                <a:latin typeface="Manrope"/>
              </a:defRPr>
            </a:pPr>
            <a:r>
              <a:t>04</a:t>
            </a:r>
          </a:p>
        </p:txBody>
      </p:sp>
      <p:sp>
        <p:nvSpPr>
          <p:cNvPr id="8" name="TextBox 7"/>
          <p:cNvSpPr txBox="1"/>
          <p:nvPr/>
        </p:nvSpPr>
        <p:spPr>
          <a:xfrm>
            <a:off x="406400" y="1174750"/>
            <a:ext cx="7429500" cy="1600200"/>
          </a:xfrm>
          <a:prstGeom prst="rect">
            <a:avLst/>
          </a:prstGeom>
          <a:noFill/>
        </p:spPr>
        <p:txBody>
          <a:bodyPr wrap="square" lIns="0" tIns="0" rIns="0" bIns="0">
            <a:spAutoFit/>
          </a:bodyPr>
          <a:lstStyle/>
          <a:p>
            <a:pPr algn="l">
              <a:lnSpc>
                <a:spcPct val="112000"/>
              </a:lnSpc>
              <a:spcBef>
                <a:spcPts val="0"/>
              </a:spcBef>
              <a:spcAft>
                <a:spcPts val="0"/>
              </a:spcAft>
              <a:defRPr sz="4200" b="1">
                <a:solidFill>
                  <a:srgbClr val="FFFFFF"/>
                </a:solidFill>
                <a:latin typeface="Manrope"/>
              </a:defRPr>
            </a:pPr>
            <a:r>
              <a:t>Create a deal.</a:t>
            </a:r>
          </a:p>
          <a:p>
            <a:pPr algn="l">
              <a:lnSpc>
                <a:spcPct val="112000"/>
              </a:lnSpc>
              <a:spcBef>
                <a:spcPts val="0"/>
              </a:spcBef>
              <a:spcAft>
                <a:spcPts val="0"/>
              </a:spcAft>
              <a:defRPr sz="4200" b="1">
                <a:solidFill>
                  <a:srgbClr val="FFFFFF"/>
                </a:solidFill>
                <a:latin typeface="Manrope"/>
              </a:defRPr>
            </a:pPr>
            <a:r>
              <a:t>Make it clear.</a:t>
            </a:r>
          </a:p>
        </p:txBody>
      </p:sp>
      <p:sp>
        <p:nvSpPr>
          <p:cNvPr id="9" name="TextBox 8"/>
          <p:cNvSpPr txBox="1"/>
          <p:nvPr/>
        </p:nvSpPr>
        <p:spPr>
          <a:xfrm>
            <a:off x="444500" y="3035300"/>
            <a:ext cx="7112000" cy="342900"/>
          </a:xfrm>
          <a:prstGeom prst="rect">
            <a:avLst/>
          </a:prstGeom>
          <a:noFill/>
        </p:spPr>
        <p:txBody>
          <a:bodyPr wrap="square" lIns="0" tIns="0" rIns="0" bIns="0">
            <a:spAutoFit/>
          </a:bodyPr>
          <a:lstStyle/>
          <a:p>
            <a:pPr algn="l">
              <a:lnSpc>
                <a:spcPct val="112000"/>
              </a:lnSpc>
              <a:spcBef>
                <a:spcPts val="0"/>
              </a:spcBef>
              <a:spcAft>
                <a:spcPts val="0"/>
              </a:spcAft>
              <a:defRPr sz="1800" b="1">
                <a:solidFill>
                  <a:srgbClr val="B8CEFF"/>
                </a:solidFill>
                <a:latin typeface="Manrope"/>
              </a:defRPr>
            </a:pPr>
            <a:r>
              <a:t>01  Describe</a:t>
            </a:r>
          </a:p>
        </p:txBody>
      </p:sp>
      <p:sp>
        <p:nvSpPr>
          <p:cNvPr id="10" name="TextBox 9"/>
          <p:cNvSpPr txBox="1"/>
          <p:nvPr/>
        </p:nvSpPr>
        <p:spPr>
          <a:xfrm>
            <a:off x="444500" y="3416300"/>
            <a:ext cx="7112000" cy="368300"/>
          </a:xfrm>
          <a:prstGeom prst="rect">
            <a:avLst/>
          </a:prstGeom>
          <a:noFill/>
        </p:spPr>
        <p:txBody>
          <a:bodyPr wrap="square" lIns="0" tIns="0" rIns="0" bIns="0">
            <a:spAutoFit/>
          </a:bodyPr>
          <a:lstStyle/>
          <a:p>
            <a:pPr algn="l">
              <a:lnSpc>
                <a:spcPct val="112000"/>
              </a:lnSpc>
              <a:spcBef>
                <a:spcPts val="0"/>
              </a:spcBef>
              <a:spcAft>
                <a:spcPts val="0"/>
              </a:spcAft>
              <a:defRPr sz="1600" b="0">
                <a:solidFill>
                  <a:srgbClr val="FFFFFF"/>
                </a:solidFill>
                <a:latin typeface="Manrope"/>
              </a:defRPr>
            </a:pPr>
            <a:r>
              <a:t>Item, amount and receiving details</a:t>
            </a:r>
          </a:p>
        </p:txBody>
      </p:sp>
      <p:sp>
        <p:nvSpPr>
          <p:cNvPr id="11" name="TextBox 10"/>
          <p:cNvSpPr txBox="1"/>
          <p:nvPr/>
        </p:nvSpPr>
        <p:spPr>
          <a:xfrm>
            <a:off x="444500" y="3924300"/>
            <a:ext cx="7112000" cy="342900"/>
          </a:xfrm>
          <a:prstGeom prst="rect">
            <a:avLst/>
          </a:prstGeom>
          <a:noFill/>
        </p:spPr>
        <p:txBody>
          <a:bodyPr wrap="square" lIns="0" tIns="0" rIns="0" bIns="0">
            <a:spAutoFit/>
          </a:bodyPr>
          <a:lstStyle/>
          <a:p>
            <a:pPr algn="l">
              <a:lnSpc>
                <a:spcPct val="112000"/>
              </a:lnSpc>
              <a:spcBef>
                <a:spcPts val="0"/>
              </a:spcBef>
              <a:spcAft>
                <a:spcPts val="0"/>
              </a:spcAft>
              <a:defRPr sz="1800" b="1">
                <a:solidFill>
                  <a:srgbClr val="B8CEFF"/>
                </a:solidFill>
                <a:latin typeface="Manrope"/>
              </a:defRPr>
            </a:pPr>
            <a:r>
              <a:t>02  Agree</a:t>
            </a:r>
          </a:p>
        </p:txBody>
      </p:sp>
      <p:sp>
        <p:nvSpPr>
          <p:cNvPr id="12" name="TextBox 11"/>
          <p:cNvSpPr txBox="1"/>
          <p:nvPr/>
        </p:nvSpPr>
        <p:spPr>
          <a:xfrm>
            <a:off x="444500" y="4305300"/>
            <a:ext cx="7112000" cy="368300"/>
          </a:xfrm>
          <a:prstGeom prst="rect">
            <a:avLst/>
          </a:prstGeom>
          <a:noFill/>
        </p:spPr>
        <p:txBody>
          <a:bodyPr wrap="square" lIns="0" tIns="0" rIns="0" bIns="0">
            <a:spAutoFit/>
          </a:bodyPr>
          <a:lstStyle/>
          <a:p>
            <a:pPr algn="l">
              <a:lnSpc>
                <a:spcPct val="112000"/>
              </a:lnSpc>
              <a:spcBef>
                <a:spcPts val="0"/>
              </a:spcBef>
              <a:spcAft>
                <a:spcPts val="0"/>
              </a:spcAft>
              <a:defRPr sz="1600" b="0">
                <a:solidFill>
                  <a:srgbClr val="FFFFFF"/>
                </a:solidFill>
                <a:latin typeface="Manrope"/>
              </a:defRPr>
            </a:pPr>
            <a:r>
              <a:t>Delivery and checking terms</a:t>
            </a:r>
          </a:p>
        </p:txBody>
      </p:sp>
      <p:sp>
        <p:nvSpPr>
          <p:cNvPr id="13" name="TextBox 12"/>
          <p:cNvSpPr txBox="1"/>
          <p:nvPr/>
        </p:nvSpPr>
        <p:spPr>
          <a:xfrm>
            <a:off x="444500" y="4813300"/>
            <a:ext cx="7112000" cy="342900"/>
          </a:xfrm>
          <a:prstGeom prst="rect">
            <a:avLst/>
          </a:prstGeom>
          <a:noFill/>
        </p:spPr>
        <p:txBody>
          <a:bodyPr wrap="square" lIns="0" tIns="0" rIns="0" bIns="0">
            <a:spAutoFit/>
          </a:bodyPr>
          <a:lstStyle/>
          <a:p>
            <a:pPr algn="l">
              <a:lnSpc>
                <a:spcPct val="112000"/>
              </a:lnSpc>
              <a:spcBef>
                <a:spcPts val="0"/>
              </a:spcBef>
              <a:spcAft>
                <a:spcPts val="0"/>
              </a:spcAft>
              <a:defRPr sz="1800" b="1">
                <a:solidFill>
                  <a:srgbClr val="B8CEFF"/>
                </a:solidFill>
                <a:latin typeface="Manrope"/>
              </a:defRPr>
            </a:pPr>
            <a:r>
              <a:t>03  Create &amp; share</a:t>
            </a:r>
          </a:p>
        </p:txBody>
      </p:sp>
      <p:sp>
        <p:nvSpPr>
          <p:cNvPr id="14" name="TextBox 13"/>
          <p:cNvSpPr txBox="1"/>
          <p:nvPr/>
        </p:nvSpPr>
        <p:spPr>
          <a:xfrm>
            <a:off x="444500" y="5194300"/>
            <a:ext cx="7112000" cy="368300"/>
          </a:xfrm>
          <a:prstGeom prst="rect">
            <a:avLst/>
          </a:prstGeom>
          <a:noFill/>
        </p:spPr>
        <p:txBody>
          <a:bodyPr wrap="square" lIns="0" tIns="0" rIns="0" bIns="0">
            <a:spAutoFit/>
          </a:bodyPr>
          <a:lstStyle/>
          <a:p>
            <a:pPr algn="l">
              <a:lnSpc>
                <a:spcPct val="112000"/>
              </a:lnSpc>
              <a:spcBef>
                <a:spcPts val="0"/>
              </a:spcBef>
              <a:spcAft>
                <a:spcPts val="0"/>
              </a:spcAft>
              <a:defRPr sz="1600" b="0">
                <a:solidFill>
                  <a:srgbClr val="FFFFFF"/>
                </a:solidFill>
                <a:latin typeface="Manrope"/>
              </a:defRPr>
            </a:pPr>
            <a:r>
              <a:t>One code, link or browser QR</a:t>
            </a:r>
          </a:p>
        </p:txBody>
      </p:sp>
      <p:pic>
        <p:nvPicPr>
          <p:cNvPr id="15" name="Picture 14" descr="actual-share.png"/>
          <p:cNvPicPr>
            <a:picLocks noChangeAspect="1"/>
          </p:cNvPicPr>
          <p:nvPr/>
        </p:nvPicPr>
        <p:blipFill>
          <a:blip r:embed="rId4"/>
          <a:stretch>
            <a:fillRect/>
          </a:stretch>
        </p:blipFill>
        <p:spPr>
          <a:xfrm>
            <a:off x="8763000" y="946150"/>
            <a:ext cx="2400300" cy="5207000"/>
          </a:xfrm>
          <a:prstGeom prst="rect">
            <a:avLst/>
          </a:prstGeom>
        </p:spPr>
      </p:pic>
    </p:spTree>
  </p:cSld>
  <p:clrMapOvr>
    <a:masterClrMapping/>
  </p:clrMapOvr>
  <p:transition advClick="0" advTm="20000"/>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B30"/>
        </a:solidFill>
        <a:effectLst/>
      </p:bgPr>
    </p:bg>
    <p:spTree>
      <p:nvGrpSpPr>
        <p:cNvPr id="1" name=""/>
        <p:cNvGrpSpPr/>
        <p:nvPr/>
      </p:nvGrpSpPr>
      <p:grpSpPr>
        <a:xfrm>
          <a:off x="0" y="0"/>
          <a:ext cx="0" cy="0"/>
          <a:chOff x="0" y="0"/>
          <a:chExt cx="0" cy="0"/>
        </a:xfrm>
      </p:grpSpPr>
      <p:pic>
        <p:nvPicPr>
          <p:cNvPr id="2" name="Picture 1" descr="elephant-ball-logo.png"/>
          <p:cNvPicPr>
            <a:picLocks noChangeAspect="1"/>
          </p:cNvPicPr>
          <p:nvPr/>
        </p:nvPicPr>
        <p:blipFill>
          <a:blip r:embed="rId3"/>
          <a:stretch>
            <a:fillRect/>
          </a:stretch>
        </p:blipFill>
        <p:spPr>
          <a:xfrm>
            <a:off x="406400" y="273050"/>
            <a:ext cx="406400" cy="406400"/>
          </a:xfrm>
          <a:prstGeom prst="rect">
            <a:avLst/>
          </a:prstGeom>
        </p:spPr>
      </p:pic>
      <p:sp>
        <p:nvSpPr>
          <p:cNvPr id="3" name="TextBox 2"/>
          <p:cNvSpPr txBox="1"/>
          <p:nvPr/>
        </p:nvSpPr>
        <p:spPr>
          <a:xfrm>
            <a:off x="889000" y="304800"/>
            <a:ext cx="1587500" cy="444500"/>
          </a:xfrm>
          <a:prstGeom prst="rect">
            <a:avLst/>
          </a:prstGeom>
          <a:noFill/>
        </p:spPr>
        <p:txBody>
          <a:bodyPr wrap="square" lIns="0" tIns="0" rIns="0" bIns="0">
            <a:spAutoFit/>
          </a:bodyPr>
          <a:lstStyle/>
          <a:p>
            <a:pPr algn="l">
              <a:lnSpc>
                <a:spcPct val="112000"/>
              </a:lnSpc>
              <a:spcBef>
                <a:spcPts val="0"/>
              </a:spcBef>
              <a:spcAft>
                <a:spcPts val="0"/>
              </a:spcAft>
              <a:defRPr sz="2400" b="1">
                <a:solidFill>
                  <a:srgbClr val="B8CEFF"/>
                </a:solidFill>
                <a:latin typeface="Manrope"/>
              </a:defRPr>
            </a:pPr>
            <a:r>
              <a:t>fom.</a:t>
            </a:r>
          </a:p>
        </p:txBody>
      </p:sp>
      <p:sp>
        <p:nvSpPr>
          <p:cNvPr id="4" name="TextBox 3"/>
          <p:cNvSpPr txBox="1"/>
          <p:nvPr/>
        </p:nvSpPr>
        <p:spPr>
          <a:xfrm>
            <a:off x="4699000" y="412750"/>
            <a:ext cx="7048500" cy="285750"/>
          </a:xfrm>
          <a:prstGeom prst="rect">
            <a:avLst/>
          </a:prstGeom>
          <a:noFill/>
        </p:spPr>
        <p:txBody>
          <a:bodyPr wrap="square" lIns="0" tIns="0" rIns="0" bIns="0">
            <a:spAutoFit/>
          </a:bodyPr>
          <a:lstStyle/>
          <a:p>
            <a:pPr algn="r">
              <a:lnSpc>
                <a:spcPct val="112000"/>
              </a:lnSpc>
              <a:spcBef>
                <a:spcPts val="0"/>
              </a:spcBef>
              <a:spcAft>
                <a:spcPts val="0"/>
              </a:spcAft>
              <a:defRPr sz="1200" b="0">
                <a:solidFill>
                  <a:srgbClr val="B8CEFF"/>
                </a:solidFill>
                <a:latin typeface="Manrope"/>
              </a:defRPr>
            </a:pPr>
            <a:r>
              <a:t>CURRENT PROTOTYPE · TWO-SIDED WORKFLOW</a:t>
            </a:r>
          </a:p>
        </p:txBody>
      </p:sp>
      <p:sp>
        <p:nvSpPr>
          <p:cNvPr id="5" name="Rectangle 4"/>
          <p:cNvSpPr/>
          <p:nvPr/>
        </p:nvSpPr>
        <p:spPr>
          <a:xfrm>
            <a:off x="406400" y="6445250"/>
            <a:ext cx="11379200" cy="635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553200"/>
            <a:ext cx="9525000" cy="215900"/>
          </a:xfrm>
          <a:prstGeom prst="rect">
            <a:avLst/>
          </a:prstGeom>
          <a:noFill/>
        </p:spPr>
        <p:txBody>
          <a:bodyPr wrap="square" lIns="0" tIns="0" rIns="0" bIns="0">
            <a:spAutoFit/>
          </a:bodyPr>
          <a:lstStyle/>
          <a:p>
            <a:pPr algn="l">
              <a:lnSpc>
                <a:spcPct val="112000"/>
              </a:lnSpc>
              <a:spcBef>
                <a:spcPts val="0"/>
              </a:spcBef>
              <a:spcAft>
                <a:spcPts val="0"/>
              </a:spcAft>
              <a:defRPr sz="1100" b="0">
                <a:solidFill>
                  <a:srgbClr val="748198"/>
                </a:solidFill>
                <a:latin typeface="Manrope"/>
              </a:defRPr>
            </a:pPr>
            <a:r>
              <a:t>FOM / FUTURE OF MYANMAR</a:t>
            </a:r>
          </a:p>
        </p:txBody>
      </p:sp>
      <p:sp>
        <p:nvSpPr>
          <p:cNvPr id="7" name="TextBox 6"/>
          <p:cNvSpPr txBox="1"/>
          <p:nvPr/>
        </p:nvSpPr>
        <p:spPr>
          <a:xfrm>
            <a:off x="11176000" y="6527800"/>
            <a:ext cx="609600" cy="254000"/>
          </a:xfrm>
          <a:prstGeom prst="rect">
            <a:avLst/>
          </a:prstGeom>
          <a:noFill/>
        </p:spPr>
        <p:txBody>
          <a:bodyPr wrap="square" lIns="0" tIns="0" rIns="0" bIns="0">
            <a:spAutoFit/>
          </a:bodyPr>
          <a:lstStyle/>
          <a:p>
            <a:pPr algn="r">
              <a:lnSpc>
                <a:spcPct val="112000"/>
              </a:lnSpc>
              <a:spcBef>
                <a:spcPts val="0"/>
              </a:spcBef>
              <a:spcAft>
                <a:spcPts val="0"/>
              </a:spcAft>
              <a:defRPr sz="1300" b="1">
                <a:solidFill>
                  <a:srgbClr val="B8CEFF"/>
                </a:solidFill>
                <a:latin typeface="Manrope"/>
              </a:defRPr>
            </a:pPr>
            <a:r>
              <a:t>05</a:t>
            </a:r>
          </a:p>
        </p:txBody>
      </p:sp>
      <p:sp>
        <p:nvSpPr>
          <p:cNvPr id="8" name="TextBox 7"/>
          <p:cNvSpPr txBox="1"/>
          <p:nvPr/>
        </p:nvSpPr>
        <p:spPr>
          <a:xfrm>
            <a:off x="406400" y="1174750"/>
            <a:ext cx="7429500" cy="1600200"/>
          </a:xfrm>
          <a:prstGeom prst="rect">
            <a:avLst/>
          </a:prstGeom>
          <a:noFill/>
        </p:spPr>
        <p:txBody>
          <a:bodyPr wrap="square" lIns="0" tIns="0" rIns="0" bIns="0">
            <a:spAutoFit/>
          </a:bodyPr>
          <a:lstStyle/>
          <a:p>
            <a:pPr algn="l">
              <a:lnSpc>
                <a:spcPct val="112000"/>
              </a:lnSpc>
              <a:spcBef>
                <a:spcPts val="0"/>
              </a:spcBef>
              <a:spcAft>
                <a:spcPts val="0"/>
              </a:spcAft>
              <a:defRPr sz="4000" b="1">
                <a:solidFill>
                  <a:srgbClr val="FFFFFF"/>
                </a:solidFill>
                <a:latin typeface="Manrope"/>
              </a:defRPr>
            </a:pPr>
            <a:r>
              <a:t>Both sides know</a:t>
            </a:r>
          </a:p>
          <a:p>
            <a:pPr algn="l">
              <a:lnSpc>
                <a:spcPct val="112000"/>
              </a:lnSpc>
              <a:spcBef>
                <a:spcPts val="0"/>
              </a:spcBef>
              <a:spcAft>
                <a:spcPts val="0"/>
              </a:spcAft>
              <a:defRPr sz="4000" b="1">
                <a:solidFill>
                  <a:srgbClr val="FFFFFF"/>
                </a:solidFill>
                <a:latin typeface="Manrope"/>
              </a:defRPr>
            </a:pPr>
            <a:r>
              <a:t>what happens next.</a:t>
            </a:r>
          </a:p>
        </p:txBody>
      </p:sp>
      <p:sp>
        <p:nvSpPr>
          <p:cNvPr id="9" name="TextBox 8"/>
          <p:cNvSpPr txBox="1"/>
          <p:nvPr/>
        </p:nvSpPr>
        <p:spPr>
          <a:xfrm>
            <a:off x="444500" y="3035300"/>
            <a:ext cx="7112000" cy="342900"/>
          </a:xfrm>
          <a:prstGeom prst="rect">
            <a:avLst/>
          </a:prstGeom>
          <a:noFill/>
        </p:spPr>
        <p:txBody>
          <a:bodyPr wrap="square" lIns="0" tIns="0" rIns="0" bIns="0">
            <a:spAutoFit/>
          </a:bodyPr>
          <a:lstStyle/>
          <a:p>
            <a:pPr algn="l">
              <a:lnSpc>
                <a:spcPct val="112000"/>
              </a:lnSpc>
              <a:spcBef>
                <a:spcPts val="0"/>
              </a:spcBef>
              <a:spcAft>
                <a:spcPts val="0"/>
              </a:spcAft>
              <a:defRPr sz="1650" b="1">
                <a:solidFill>
                  <a:srgbClr val="B8CEFF"/>
                </a:solidFill>
                <a:latin typeface="Manrope"/>
              </a:defRPr>
            </a:pPr>
            <a:r>
              <a:t>BUYER</a:t>
            </a:r>
          </a:p>
        </p:txBody>
      </p:sp>
      <p:sp>
        <p:nvSpPr>
          <p:cNvPr id="10" name="TextBox 9"/>
          <p:cNvSpPr txBox="1"/>
          <p:nvPr/>
        </p:nvSpPr>
        <p:spPr>
          <a:xfrm>
            <a:off x="444500" y="3416300"/>
            <a:ext cx="7112000" cy="368300"/>
          </a:xfrm>
          <a:prstGeom prst="rect">
            <a:avLst/>
          </a:prstGeom>
          <a:noFill/>
        </p:spPr>
        <p:txBody>
          <a:bodyPr wrap="square" lIns="0" tIns="0" rIns="0" bIns="0">
            <a:spAutoFit/>
          </a:bodyPr>
          <a:lstStyle/>
          <a:p>
            <a:pPr algn="l">
              <a:lnSpc>
                <a:spcPct val="112000"/>
              </a:lnSpc>
              <a:spcBef>
                <a:spcPts val="0"/>
              </a:spcBef>
              <a:spcAft>
                <a:spcPts val="0"/>
              </a:spcAft>
              <a:defRPr sz="1550" b="0">
                <a:solidFill>
                  <a:srgbClr val="FFFFFF"/>
                </a:solidFill>
                <a:latin typeface="Manrope"/>
              </a:defRPr>
            </a:pPr>
            <a:r>
              <a:t>Reviews the agreement and submits a receipt</a:t>
            </a:r>
          </a:p>
        </p:txBody>
      </p:sp>
      <p:sp>
        <p:nvSpPr>
          <p:cNvPr id="11" name="TextBox 10"/>
          <p:cNvSpPr txBox="1"/>
          <p:nvPr/>
        </p:nvSpPr>
        <p:spPr>
          <a:xfrm>
            <a:off x="444500" y="3924300"/>
            <a:ext cx="7112000" cy="342900"/>
          </a:xfrm>
          <a:prstGeom prst="rect">
            <a:avLst/>
          </a:prstGeom>
          <a:noFill/>
        </p:spPr>
        <p:txBody>
          <a:bodyPr wrap="square" lIns="0" tIns="0" rIns="0" bIns="0">
            <a:spAutoFit/>
          </a:bodyPr>
          <a:lstStyle/>
          <a:p>
            <a:pPr algn="l">
              <a:lnSpc>
                <a:spcPct val="112000"/>
              </a:lnSpc>
              <a:spcBef>
                <a:spcPts val="0"/>
              </a:spcBef>
              <a:spcAft>
                <a:spcPts val="0"/>
              </a:spcAft>
              <a:defRPr sz="1650" b="1">
                <a:solidFill>
                  <a:srgbClr val="B8CEFF"/>
                </a:solidFill>
                <a:latin typeface="Manrope"/>
              </a:defRPr>
            </a:pPr>
            <a:r>
              <a:t>SELLER</a:t>
            </a:r>
          </a:p>
        </p:txBody>
      </p:sp>
      <p:sp>
        <p:nvSpPr>
          <p:cNvPr id="12" name="TextBox 11"/>
          <p:cNvSpPr txBox="1"/>
          <p:nvPr/>
        </p:nvSpPr>
        <p:spPr>
          <a:xfrm>
            <a:off x="444500" y="4305300"/>
            <a:ext cx="7112000" cy="368300"/>
          </a:xfrm>
          <a:prstGeom prst="rect">
            <a:avLst/>
          </a:prstGeom>
          <a:noFill/>
        </p:spPr>
        <p:txBody>
          <a:bodyPr wrap="square" lIns="0" tIns="0" rIns="0" bIns="0">
            <a:spAutoFit/>
          </a:bodyPr>
          <a:lstStyle/>
          <a:p>
            <a:pPr algn="l">
              <a:lnSpc>
                <a:spcPct val="112000"/>
              </a:lnSpc>
              <a:spcBef>
                <a:spcPts val="0"/>
              </a:spcBef>
              <a:spcAft>
                <a:spcPts val="0"/>
              </a:spcAft>
              <a:defRPr sz="1550" b="0">
                <a:solidFill>
                  <a:srgbClr val="FFFFFF"/>
                </a:solidFill>
                <a:latin typeface="Manrope"/>
              </a:defRPr>
            </a:pPr>
            <a:r>
              <a:t>Adds a package photo and confirms arrival</a:t>
            </a:r>
          </a:p>
        </p:txBody>
      </p:sp>
      <p:sp>
        <p:nvSpPr>
          <p:cNvPr id="13" name="TextBox 12"/>
          <p:cNvSpPr txBox="1"/>
          <p:nvPr/>
        </p:nvSpPr>
        <p:spPr>
          <a:xfrm>
            <a:off x="444500" y="4813300"/>
            <a:ext cx="7112000" cy="342900"/>
          </a:xfrm>
          <a:prstGeom prst="rect">
            <a:avLst/>
          </a:prstGeom>
          <a:noFill/>
        </p:spPr>
        <p:txBody>
          <a:bodyPr wrap="square" lIns="0" tIns="0" rIns="0" bIns="0">
            <a:spAutoFit/>
          </a:bodyPr>
          <a:lstStyle/>
          <a:p>
            <a:pPr algn="l">
              <a:lnSpc>
                <a:spcPct val="112000"/>
              </a:lnSpc>
              <a:spcBef>
                <a:spcPts val="0"/>
              </a:spcBef>
              <a:spcAft>
                <a:spcPts val="0"/>
              </a:spcAft>
              <a:defRPr sz="1650" b="1">
                <a:solidFill>
                  <a:srgbClr val="B8CEFF"/>
                </a:solidFill>
                <a:latin typeface="Manrope"/>
              </a:defRPr>
            </a:pPr>
            <a:r>
              <a:t>BUYER</a:t>
            </a:r>
          </a:p>
        </p:txBody>
      </p:sp>
      <p:sp>
        <p:nvSpPr>
          <p:cNvPr id="14" name="TextBox 13"/>
          <p:cNvSpPr txBox="1"/>
          <p:nvPr/>
        </p:nvSpPr>
        <p:spPr>
          <a:xfrm>
            <a:off x="444500" y="5194300"/>
            <a:ext cx="7112000" cy="368300"/>
          </a:xfrm>
          <a:prstGeom prst="rect">
            <a:avLst/>
          </a:prstGeom>
          <a:noFill/>
        </p:spPr>
        <p:txBody>
          <a:bodyPr wrap="square" lIns="0" tIns="0" rIns="0" bIns="0">
            <a:spAutoFit/>
          </a:bodyPr>
          <a:lstStyle/>
          <a:p>
            <a:pPr algn="l">
              <a:lnSpc>
                <a:spcPct val="112000"/>
              </a:lnSpc>
              <a:spcBef>
                <a:spcPts val="0"/>
              </a:spcBef>
              <a:spcAft>
                <a:spcPts val="0"/>
              </a:spcAft>
              <a:defRPr sz="1550" b="0">
                <a:solidFill>
                  <a:srgbClr val="FFFFFF"/>
                </a:solidFill>
                <a:latin typeface="Manrope"/>
              </a:defRPr>
            </a:pPr>
            <a:r>
              <a:t>Receives, checks and confirms; saved in History</a:t>
            </a:r>
          </a:p>
        </p:txBody>
      </p:sp>
      <p:pic>
        <p:nvPicPr>
          <p:cNvPr id="15" name="Picture 14" descr="deal-complete.png"/>
          <p:cNvPicPr>
            <a:picLocks noChangeAspect="1"/>
          </p:cNvPicPr>
          <p:nvPr/>
        </p:nvPicPr>
        <p:blipFill>
          <a:blip r:embed="rId4"/>
          <a:stretch>
            <a:fillRect/>
          </a:stretch>
        </p:blipFill>
        <p:spPr>
          <a:xfrm>
            <a:off x="8350250" y="946150"/>
            <a:ext cx="3168650" cy="5207000"/>
          </a:xfrm>
          <a:prstGeom prst="rect">
            <a:avLst/>
          </a:prstGeom>
        </p:spPr>
      </p:pic>
    </p:spTree>
  </p:cSld>
  <p:clrMapOvr>
    <a:masterClrMapping/>
  </p:clrMapOvr>
  <p:transition advClick="0" advTm="24000"/>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B30"/>
        </a:solidFill>
        <a:effectLst/>
      </p:bgPr>
    </p:bg>
    <p:spTree>
      <p:nvGrpSpPr>
        <p:cNvPr id="1" name=""/>
        <p:cNvGrpSpPr/>
        <p:nvPr/>
      </p:nvGrpSpPr>
      <p:grpSpPr>
        <a:xfrm>
          <a:off x="0" y="0"/>
          <a:ext cx="0" cy="0"/>
          <a:chOff x="0" y="0"/>
          <a:chExt cx="0" cy="0"/>
        </a:xfrm>
      </p:grpSpPr>
      <p:sp>
        <p:nvSpPr>
          <p:cNvPr id="2" name="TextBox 1"/>
          <p:cNvSpPr txBox="1"/>
          <p:nvPr/>
        </p:nvSpPr>
        <p:spPr>
          <a:xfrm>
            <a:off x="444500" y="1079500"/>
            <a:ext cx="2857500" cy="1460500"/>
          </a:xfrm>
          <a:prstGeom prst="rect">
            <a:avLst/>
          </a:prstGeom>
          <a:noFill/>
        </p:spPr>
        <p:txBody>
          <a:bodyPr wrap="square" lIns="0" tIns="0" rIns="0" bIns="0">
            <a:spAutoFit/>
          </a:bodyPr>
          <a:lstStyle/>
          <a:p>
            <a:pPr algn="l">
              <a:lnSpc>
                <a:spcPct val="112000"/>
              </a:lnSpc>
              <a:spcBef>
                <a:spcPts val="0"/>
              </a:spcBef>
              <a:spcAft>
                <a:spcPts val="0"/>
              </a:spcAft>
              <a:defRPr sz="7900" b="1">
                <a:solidFill>
                  <a:srgbClr val="B8CEFF"/>
                </a:solidFill>
                <a:latin typeface="Manrope"/>
              </a:defRPr>
            </a:pPr>
            <a:r>
              <a:t>02</a:t>
            </a:r>
          </a:p>
        </p:txBody>
      </p:sp>
      <p:sp>
        <p:nvSpPr>
          <p:cNvPr id="3" name="TextBox 2"/>
          <p:cNvSpPr txBox="1"/>
          <p:nvPr/>
        </p:nvSpPr>
        <p:spPr>
          <a:xfrm>
            <a:off x="444500" y="2984500"/>
            <a:ext cx="3556000" cy="1206500"/>
          </a:xfrm>
          <a:prstGeom prst="rect">
            <a:avLst/>
          </a:prstGeom>
          <a:noFill/>
        </p:spPr>
        <p:txBody>
          <a:bodyPr wrap="square" lIns="0" tIns="0" rIns="0" bIns="0">
            <a:spAutoFit/>
          </a:bodyPr>
          <a:lstStyle/>
          <a:p>
            <a:pPr algn="l">
              <a:lnSpc>
                <a:spcPct val="112000"/>
              </a:lnSpc>
              <a:spcBef>
                <a:spcPts val="0"/>
              </a:spcBef>
              <a:spcAft>
                <a:spcPts val="0"/>
              </a:spcAft>
              <a:defRPr sz="2850" b="1">
                <a:solidFill>
                  <a:srgbClr val="FFFFFF"/>
                </a:solidFill>
                <a:latin typeface="Manrope"/>
              </a:defRPr>
            </a:pPr>
            <a:r>
              <a:t>THE PAYMENT</a:t>
            </a:r>
          </a:p>
          <a:p>
            <a:pPr algn="l">
              <a:lnSpc>
                <a:spcPct val="112000"/>
              </a:lnSpc>
              <a:spcBef>
                <a:spcPts val="0"/>
              </a:spcBef>
              <a:spcAft>
                <a:spcPts val="0"/>
              </a:spcAft>
              <a:defRPr sz="2850" b="1">
                <a:solidFill>
                  <a:srgbClr val="FFFFFF"/>
                </a:solidFill>
                <a:latin typeface="Manrope"/>
              </a:defRPr>
            </a:pPr>
            <a:r>
              <a:t>PROBLEM</a:t>
            </a:r>
          </a:p>
        </p:txBody>
      </p:sp>
      <p:sp>
        <p:nvSpPr>
          <p:cNvPr id="4" name="TextBox 3"/>
          <p:cNvSpPr txBox="1"/>
          <p:nvPr/>
        </p:nvSpPr>
        <p:spPr>
          <a:xfrm>
            <a:off x="444500" y="4781550"/>
            <a:ext cx="3556000" cy="889000"/>
          </a:xfrm>
          <a:prstGeom prst="rect">
            <a:avLst/>
          </a:prstGeom>
          <a:noFill/>
        </p:spPr>
        <p:txBody>
          <a:bodyPr wrap="square" lIns="0" tIns="0" rIns="0" bIns="0">
            <a:spAutoFit/>
          </a:bodyPr>
          <a:lstStyle/>
          <a:p>
            <a:pPr algn="l">
              <a:lnSpc>
                <a:spcPct val="112000"/>
              </a:lnSpc>
              <a:spcBef>
                <a:spcPts val="0"/>
              </a:spcBef>
              <a:spcAft>
                <a:spcPts val="0"/>
              </a:spcAft>
              <a:defRPr sz="1600" b="0">
                <a:solidFill>
                  <a:srgbClr val="B8CEFF"/>
                </a:solidFill>
                <a:latin typeface="Manrope"/>
              </a:defRPr>
            </a:pPr>
            <a:r>
              <a:t>An everyday moment.</a:t>
            </a:r>
          </a:p>
          <a:p>
            <a:pPr algn="l">
              <a:lnSpc>
                <a:spcPct val="112000"/>
              </a:lnSpc>
              <a:spcBef>
                <a:spcPts val="0"/>
              </a:spcBef>
              <a:spcAft>
                <a:spcPts val="0"/>
              </a:spcAft>
              <a:defRPr sz="1600" b="0">
                <a:solidFill>
                  <a:srgbClr val="B8CEFF"/>
                </a:solidFill>
                <a:latin typeface="Manrope"/>
              </a:defRPr>
            </a:pPr>
            <a:r>
              <a:t>A familiar frustration.</a:t>
            </a:r>
          </a:p>
        </p:txBody>
      </p:sp>
      <p:pic>
        <p:nvPicPr>
          <p:cNvPr id="5" name="scenario-2-sdr.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167187" y="0"/>
            <a:ext cx="3857625" cy="6858000"/>
          </a:xfrm>
          <a:prstGeom prst="rect">
            <a:avLst/>
          </a:prstGeom>
        </p:spPr>
      </p:pic>
    </p:spTree>
  </p:cSld>
  <p:clrMapOvr>
    <a:masterClrMapping/>
  </p:clrMapOvr>
  <p:transition advClick="0" advTm="48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703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B30"/>
        </a:solidFill>
        <a:effectLst/>
      </p:bgPr>
    </p:bg>
    <p:spTree>
      <p:nvGrpSpPr>
        <p:cNvPr id="1" name=""/>
        <p:cNvGrpSpPr/>
        <p:nvPr/>
      </p:nvGrpSpPr>
      <p:grpSpPr>
        <a:xfrm>
          <a:off x="0" y="0"/>
          <a:ext cx="0" cy="0"/>
          <a:chOff x="0" y="0"/>
          <a:chExt cx="0" cy="0"/>
        </a:xfrm>
      </p:grpSpPr>
      <p:pic>
        <p:nvPicPr>
          <p:cNvPr id="2" name="Picture 1" descr="elephant-ball-logo.png"/>
          <p:cNvPicPr>
            <a:picLocks noChangeAspect="1"/>
          </p:cNvPicPr>
          <p:nvPr/>
        </p:nvPicPr>
        <p:blipFill>
          <a:blip r:embed="rId3"/>
          <a:stretch>
            <a:fillRect/>
          </a:stretch>
        </p:blipFill>
        <p:spPr>
          <a:xfrm>
            <a:off x="406400" y="273050"/>
            <a:ext cx="406400" cy="406400"/>
          </a:xfrm>
          <a:prstGeom prst="rect">
            <a:avLst/>
          </a:prstGeom>
        </p:spPr>
      </p:pic>
      <p:sp>
        <p:nvSpPr>
          <p:cNvPr id="3" name="TextBox 2"/>
          <p:cNvSpPr txBox="1"/>
          <p:nvPr/>
        </p:nvSpPr>
        <p:spPr>
          <a:xfrm>
            <a:off x="889000" y="304800"/>
            <a:ext cx="1587500" cy="444500"/>
          </a:xfrm>
          <a:prstGeom prst="rect">
            <a:avLst/>
          </a:prstGeom>
          <a:noFill/>
        </p:spPr>
        <p:txBody>
          <a:bodyPr wrap="square" lIns="0" tIns="0" rIns="0" bIns="0">
            <a:spAutoFit/>
          </a:bodyPr>
          <a:lstStyle/>
          <a:p>
            <a:pPr algn="l">
              <a:lnSpc>
                <a:spcPct val="112000"/>
              </a:lnSpc>
              <a:spcBef>
                <a:spcPts val="0"/>
              </a:spcBef>
              <a:spcAft>
                <a:spcPts val="0"/>
              </a:spcAft>
              <a:defRPr sz="2400" b="1">
                <a:solidFill>
                  <a:srgbClr val="B8CEFF"/>
                </a:solidFill>
                <a:latin typeface="Manrope"/>
              </a:defRPr>
            </a:pPr>
            <a:r>
              <a:t>fom.</a:t>
            </a:r>
          </a:p>
        </p:txBody>
      </p:sp>
      <p:sp>
        <p:nvSpPr>
          <p:cNvPr id="4" name="TextBox 3"/>
          <p:cNvSpPr txBox="1"/>
          <p:nvPr/>
        </p:nvSpPr>
        <p:spPr>
          <a:xfrm>
            <a:off x="4699000" y="412750"/>
            <a:ext cx="7048500" cy="285750"/>
          </a:xfrm>
          <a:prstGeom prst="rect">
            <a:avLst/>
          </a:prstGeom>
          <a:noFill/>
        </p:spPr>
        <p:txBody>
          <a:bodyPr wrap="square" lIns="0" tIns="0" rIns="0" bIns="0">
            <a:spAutoFit/>
          </a:bodyPr>
          <a:lstStyle/>
          <a:p>
            <a:pPr algn="r">
              <a:lnSpc>
                <a:spcPct val="112000"/>
              </a:lnSpc>
              <a:spcBef>
                <a:spcPts val="0"/>
              </a:spcBef>
              <a:spcAft>
                <a:spcPts val="0"/>
              </a:spcAft>
              <a:defRPr sz="1200" b="0">
                <a:solidFill>
                  <a:srgbClr val="B8CEFF"/>
                </a:solidFill>
                <a:latin typeface="Manrope"/>
              </a:defRPr>
            </a:pPr>
            <a:r>
              <a:t>CURRENT PRODUCT FLOW</a:t>
            </a:r>
          </a:p>
        </p:txBody>
      </p:sp>
      <p:sp>
        <p:nvSpPr>
          <p:cNvPr id="5" name="Rectangle 4"/>
          <p:cNvSpPr/>
          <p:nvPr/>
        </p:nvSpPr>
        <p:spPr>
          <a:xfrm>
            <a:off x="406400" y="6445250"/>
            <a:ext cx="11379200" cy="635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553200"/>
            <a:ext cx="9525000" cy="215900"/>
          </a:xfrm>
          <a:prstGeom prst="rect">
            <a:avLst/>
          </a:prstGeom>
          <a:noFill/>
        </p:spPr>
        <p:txBody>
          <a:bodyPr wrap="square" lIns="0" tIns="0" rIns="0" bIns="0">
            <a:spAutoFit/>
          </a:bodyPr>
          <a:lstStyle/>
          <a:p>
            <a:pPr algn="l">
              <a:lnSpc>
                <a:spcPct val="112000"/>
              </a:lnSpc>
              <a:spcBef>
                <a:spcPts val="0"/>
              </a:spcBef>
              <a:spcAft>
                <a:spcPts val="0"/>
              </a:spcAft>
              <a:defRPr sz="1100" b="0">
                <a:solidFill>
                  <a:srgbClr val="748198"/>
                </a:solidFill>
                <a:latin typeface="Manrope"/>
              </a:defRPr>
            </a:pPr>
            <a:r>
              <a:t>FOM / FUTURE OF MYANMAR</a:t>
            </a:r>
          </a:p>
        </p:txBody>
      </p:sp>
      <p:sp>
        <p:nvSpPr>
          <p:cNvPr id="7" name="TextBox 6"/>
          <p:cNvSpPr txBox="1"/>
          <p:nvPr/>
        </p:nvSpPr>
        <p:spPr>
          <a:xfrm>
            <a:off x="11176000" y="6527800"/>
            <a:ext cx="609600" cy="254000"/>
          </a:xfrm>
          <a:prstGeom prst="rect">
            <a:avLst/>
          </a:prstGeom>
          <a:noFill/>
        </p:spPr>
        <p:txBody>
          <a:bodyPr wrap="square" lIns="0" tIns="0" rIns="0" bIns="0">
            <a:spAutoFit/>
          </a:bodyPr>
          <a:lstStyle/>
          <a:p>
            <a:pPr algn="r">
              <a:lnSpc>
                <a:spcPct val="112000"/>
              </a:lnSpc>
              <a:spcBef>
                <a:spcPts val="0"/>
              </a:spcBef>
              <a:spcAft>
                <a:spcPts val="0"/>
              </a:spcAft>
              <a:defRPr sz="1300" b="1">
                <a:solidFill>
                  <a:srgbClr val="B8CEFF"/>
                </a:solidFill>
                <a:latin typeface="Manrope"/>
              </a:defRPr>
            </a:pPr>
            <a:r>
              <a:t>07</a:t>
            </a:r>
          </a:p>
        </p:txBody>
      </p:sp>
      <p:sp>
        <p:nvSpPr>
          <p:cNvPr id="8" name="TextBox 7"/>
          <p:cNvSpPr txBox="1"/>
          <p:nvPr/>
        </p:nvSpPr>
        <p:spPr>
          <a:xfrm>
            <a:off x="406400" y="1174750"/>
            <a:ext cx="7429500" cy="1600200"/>
          </a:xfrm>
          <a:prstGeom prst="rect">
            <a:avLst/>
          </a:prstGeom>
          <a:noFill/>
        </p:spPr>
        <p:txBody>
          <a:bodyPr wrap="square" lIns="0" tIns="0" rIns="0" bIns="0">
            <a:spAutoFit/>
          </a:bodyPr>
          <a:lstStyle/>
          <a:p>
            <a:pPr algn="l">
              <a:lnSpc>
                <a:spcPct val="112000"/>
              </a:lnSpc>
              <a:spcBef>
                <a:spcPts val="0"/>
              </a:spcBef>
              <a:spcAft>
                <a:spcPts val="0"/>
              </a:spcAft>
              <a:defRPr sz="4200" b="1">
                <a:solidFill>
                  <a:srgbClr val="FFFFFF"/>
                </a:solidFill>
                <a:latin typeface="Manrope"/>
              </a:defRPr>
            </a:pPr>
            <a:r>
              <a:t>Create. Share.</a:t>
            </a:r>
          </a:p>
          <a:p>
            <a:pPr algn="l">
              <a:lnSpc>
                <a:spcPct val="112000"/>
              </a:lnSpc>
              <a:spcBef>
                <a:spcPts val="0"/>
              </a:spcBef>
              <a:spcAft>
                <a:spcPts val="0"/>
              </a:spcAft>
              <a:defRPr sz="4200" b="1">
                <a:solidFill>
                  <a:srgbClr val="FFFFFF"/>
                </a:solidFill>
                <a:latin typeface="Manrope"/>
              </a:defRPr>
            </a:pPr>
            <a:r>
              <a:t>Keep the record.</a:t>
            </a:r>
          </a:p>
        </p:txBody>
      </p:sp>
      <p:sp>
        <p:nvSpPr>
          <p:cNvPr id="9" name="TextBox 8"/>
          <p:cNvSpPr txBox="1"/>
          <p:nvPr/>
        </p:nvSpPr>
        <p:spPr>
          <a:xfrm>
            <a:off x="444500" y="3035300"/>
            <a:ext cx="7112000" cy="342900"/>
          </a:xfrm>
          <a:prstGeom prst="rect">
            <a:avLst/>
          </a:prstGeom>
          <a:noFill/>
        </p:spPr>
        <p:txBody>
          <a:bodyPr wrap="square" lIns="0" tIns="0" rIns="0" bIns="0">
            <a:spAutoFit/>
          </a:bodyPr>
          <a:lstStyle/>
          <a:p>
            <a:pPr algn="l">
              <a:lnSpc>
                <a:spcPct val="112000"/>
              </a:lnSpc>
              <a:spcBef>
                <a:spcPts val="0"/>
              </a:spcBef>
              <a:spcAft>
                <a:spcPts val="0"/>
              </a:spcAft>
              <a:defRPr sz="1650" b="1">
                <a:solidFill>
                  <a:srgbClr val="B8CEFF"/>
                </a:solidFill>
                <a:latin typeface="Manrope"/>
              </a:defRPr>
            </a:pPr>
            <a:r>
              <a:t>CREATE</a:t>
            </a:r>
          </a:p>
        </p:txBody>
      </p:sp>
      <p:sp>
        <p:nvSpPr>
          <p:cNvPr id="10" name="TextBox 9"/>
          <p:cNvSpPr txBox="1"/>
          <p:nvPr/>
        </p:nvSpPr>
        <p:spPr>
          <a:xfrm>
            <a:off x="444500" y="3416300"/>
            <a:ext cx="7112000" cy="368300"/>
          </a:xfrm>
          <a:prstGeom prst="rect">
            <a:avLst/>
          </a:prstGeom>
          <a:noFill/>
        </p:spPr>
        <p:txBody>
          <a:bodyPr wrap="square" lIns="0" tIns="0" rIns="0" bIns="0">
            <a:spAutoFit/>
          </a:bodyPr>
          <a:lstStyle/>
          <a:p>
            <a:pPr algn="l">
              <a:lnSpc>
                <a:spcPct val="112000"/>
              </a:lnSpc>
              <a:spcBef>
                <a:spcPts val="0"/>
              </a:spcBef>
              <a:spcAft>
                <a:spcPts val="0"/>
              </a:spcAft>
              <a:defRPr sz="1550" b="0">
                <a:solidFill>
                  <a:srgbClr val="FFFFFF"/>
                </a:solidFill>
                <a:latin typeface="Manrope"/>
              </a:defRPr>
            </a:pPr>
            <a:r>
              <a:t>Purpose, amount and receiving details</a:t>
            </a:r>
          </a:p>
        </p:txBody>
      </p:sp>
      <p:sp>
        <p:nvSpPr>
          <p:cNvPr id="11" name="TextBox 10"/>
          <p:cNvSpPr txBox="1"/>
          <p:nvPr/>
        </p:nvSpPr>
        <p:spPr>
          <a:xfrm>
            <a:off x="444500" y="3924300"/>
            <a:ext cx="7112000" cy="342900"/>
          </a:xfrm>
          <a:prstGeom prst="rect">
            <a:avLst/>
          </a:prstGeom>
          <a:noFill/>
        </p:spPr>
        <p:txBody>
          <a:bodyPr wrap="square" lIns="0" tIns="0" rIns="0" bIns="0">
            <a:spAutoFit/>
          </a:bodyPr>
          <a:lstStyle/>
          <a:p>
            <a:pPr algn="l">
              <a:lnSpc>
                <a:spcPct val="112000"/>
              </a:lnSpc>
              <a:spcBef>
                <a:spcPts val="0"/>
              </a:spcBef>
              <a:spcAft>
                <a:spcPts val="0"/>
              </a:spcAft>
              <a:defRPr sz="1650" b="1">
                <a:solidFill>
                  <a:srgbClr val="B8CEFF"/>
                </a:solidFill>
                <a:latin typeface="Manrope"/>
              </a:defRPr>
            </a:pPr>
            <a:r>
              <a:t>SHARE</a:t>
            </a:r>
          </a:p>
        </p:txBody>
      </p:sp>
      <p:sp>
        <p:nvSpPr>
          <p:cNvPr id="12" name="TextBox 11"/>
          <p:cNvSpPr txBox="1"/>
          <p:nvPr/>
        </p:nvSpPr>
        <p:spPr>
          <a:xfrm>
            <a:off x="444500" y="4305300"/>
            <a:ext cx="7112000" cy="368300"/>
          </a:xfrm>
          <a:prstGeom prst="rect">
            <a:avLst/>
          </a:prstGeom>
          <a:noFill/>
        </p:spPr>
        <p:txBody>
          <a:bodyPr wrap="square" lIns="0" tIns="0" rIns="0" bIns="0">
            <a:spAutoFit/>
          </a:bodyPr>
          <a:lstStyle/>
          <a:p>
            <a:pPr algn="l">
              <a:lnSpc>
                <a:spcPct val="112000"/>
              </a:lnSpc>
              <a:spcBef>
                <a:spcPts val="0"/>
              </a:spcBef>
              <a:spcAft>
                <a:spcPts val="0"/>
              </a:spcAft>
              <a:defRPr sz="1550" b="0">
                <a:solidFill>
                  <a:srgbClr val="FFFFFF"/>
                </a:solidFill>
                <a:latin typeface="Manrope"/>
              </a:defRPr>
            </a:pPr>
            <a:r>
              <a:t>The customer opens a code, link or browser QR</a:t>
            </a:r>
          </a:p>
        </p:txBody>
      </p:sp>
      <p:sp>
        <p:nvSpPr>
          <p:cNvPr id="13" name="TextBox 12"/>
          <p:cNvSpPr txBox="1"/>
          <p:nvPr/>
        </p:nvSpPr>
        <p:spPr>
          <a:xfrm>
            <a:off x="444500" y="4813300"/>
            <a:ext cx="7112000" cy="342900"/>
          </a:xfrm>
          <a:prstGeom prst="rect">
            <a:avLst/>
          </a:prstGeom>
          <a:noFill/>
        </p:spPr>
        <p:txBody>
          <a:bodyPr wrap="square" lIns="0" tIns="0" rIns="0" bIns="0">
            <a:spAutoFit/>
          </a:bodyPr>
          <a:lstStyle/>
          <a:p>
            <a:pPr algn="l">
              <a:lnSpc>
                <a:spcPct val="112000"/>
              </a:lnSpc>
              <a:spcBef>
                <a:spcPts val="0"/>
              </a:spcBef>
              <a:spcAft>
                <a:spcPts val="0"/>
              </a:spcAft>
              <a:defRPr sz="1650" b="1">
                <a:solidFill>
                  <a:srgbClr val="B8CEFF"/>
                </a:solidFill>
                <a:latin typeface="Manrope"/>
              </a:defRPr>
            </a:pPr>
            <a:r>
              <a:t>FOLLOW</a:t>
            </a:r>
          </a:p>
        </p:txBody>
      </p:sp>
      <p:sp>
        <p:nvSpPr>
          <p:cNvPr id="14" name="TextBox 13"/>
          <p:cNvSpPr txBox="1"/>
          <p:nvPr/>
        </p:nvSpPr>
        <p:spPr>
          <a:xfrm>
            <a:off x="444500" y="5194300"/>
            <a:ext cx="7112000" cy="368300"/>
          </a:xfrm>
          <a:prstGeom prst="rect">
            <a:avLst/>
          </a:prstGeom>
          <a:noFill/>
        </p:spPr>
        <p:txBody>
          <a:bodyPr wrap="square" lIns="0" tIns="0" rIns="0" bIns="0">
            <a:spAutoFit/>
          </a:bodyPr>
          <a:lstStyle/>
          <a:p>
            <a:pPr algn="l">
              <a:lnSpc>
                <a:spcPct val="112000"/>
              </a:lnSpc>
              <a:spcBef>
                <a:spcPts val="0"/>
              </a:spcBef>
              <a:spcAft>
                <a:spcPts val="0"/>
              </a:spcAft>
              <a:defRPr sz="1550" b="0">
                <a:solidFill>
                  <a:srgbClr val="FFFFFF"/>
                </a:solidFill>
                <a:latin typeface="Manrope"/>
              </a:defRPr>
            </a:pPr>
            <a:r>
              <a:t>Instructions, receipt submission and History</a:t>
            </a:r>
          </a:p>
        </p:txBody>
      </p:sp>
      <p:pic>
        <p:nvPicPr>
          <p:cNvPr id="15" name="Picture 14" descr="create-request.png"/>
          <p:cNvPicPr>
            <a:picLocks noChangeAspect="1"/>
          </p:cNvPicPr>
          <p:nvPr/>
        </p:nvPicPr>
        <p:blipFill>
          <a:blip r:embed="rId4"/>
          <a:stretch>
            <a:fillRect/>
          </a:stretch>
        </p:blipFill>
        <p:spPr>
          <a:xfrm>
            <a:off x="8750300" y="946150"/>
            <a:ext cx="2406650" cy="5207000"/>
          </a:xfrm>
          <a:prstGeom prst="rect">
            <a:avLst/>
          </a:prstGeom>
        </p:spPr>
      </p:pic>
    </p:spTree>
  </p:cSld>
  <p:clrMapOvr>
    <a:masterClrMapping/>
  </p:clrMapOvr>
  <p:transition advClick="0" advTm="34000"/>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pic>
        <p:nvPicPr>
          <p:cNvPr id="2" name="Picture 1" descr="elephant-ball-logo.png"/>
          <p:cNvPicPr>
            <a:picLocks noChangeAspect="1"/>
          </p:cNvPicPr>
          <p:nvPr/>
        </p:nvPicPr>
        <p:blipFill>
          <a:blip r:embed="rId3"/>
          <a:stretch>
            <a:fillRect/>
          </a:stretch>
        </p:blipFill>
        <p:spPr>
          <a:xfrm>
            <a:off x="406400" y="273050"/>
            <a:ext cx="406400" cy="406400"/>
          </a:xfrm>
          <a:prstGeom prst="rect">
            <a:avLst/>
          </a:prstGeom>
        </p:spPr>
      </p:pic>
      <p:sp>
        <p:nvSpPr>
          <p:cNvPr id="3" name="TextBox 2"/>
          <p:cNvSpPr txBox="1"/>
          <p:nvPr/>
        </p:nvSpPr>
        <p:spPr>
          <a:xfrm>
            <a:off x="889000" y="304800"/>
            <a:ext cx="1587500" cy="444500"/>
          </a:xfrm>
          <a:prstGeom prst="rect">
            <a:avLst/>
          </a:prstGeom>
          <a:noFill/>
        </p:spPr>
        <p:txBody>
          <a:bodyPr wrap="square" lIns="0" tIns="0" rIns="0" bIns="0">
            <a:spAutoFit/>
          </a:bodyPr>
          <a:lstStyle/>
          <a:p>
            <a:pPr algn="l">
              <a:lnSpc>
                <a:spcPct val="112000"/>
              </a:lnSpc>
              <a:spcBef>
                <a:spcPts val="0"/>
              </a:spcBef>
              <a:spcAft>
                <a:spcPts val="0"/>
              </a:spcAft>
              <a:defRPr sz="2400" b="1">
                <a:solidFill>
                  <a:srgbClr val="476BC5"/>
                </a:solidFill>
                <a:latin typeface="Manrope"/>
              </a:defRPr>
            </a:pPr>
            <a:r>
              <a:t>fom.</a:t>
            </a:r>
          </a:p>
        </p:txBody>
      </p:sp>
      <p:sp>
        <p:nvSpPr>
          <p:cNvPr id="4" name="TextBox 3"/>
          <p:cNvSpPr txBox="1"/>
          <p:nvPr/>
        </p:nvSpPr>
        <p:spPr>
          <a:xfrm>
            <a:off x="4699000" y="412750"/>
            <a:ext cx="7048500" cy="285750"/>
          </a:xfrm>
          <a:prstGeom prst="rect">
            <a:avLst/>
          </a:prstGeom>
          <a:noFill/>
        </p:spPr>
        <p:txBody>
          <a:bodyPr wrap="square" lIns="0" tIns="0" rIns="0" bIns="0">
            <a:spAutoFit/>
          </a:bodyPr>
          <a:lstStyle/>
          <a:p>
            <a:pPr algn="r">
              <a:lnSpc>
                <a:spcPct val="112000"/>
              </a:lnSpc>
              <a:spcBef>
                <a:spcPts val="0"/>
              </a:spcBef>
              <a:spcAft>
                <a:spcPts val="0"/>
              </a:spcAft>
              <a:defRPr sz="1200" b="0">
                <a:solidFill>
                  <a:srgbClr val="748198"/>
                </a:solidFill>
                <a:latin typeface="Manrope"/>
              </a:defRPr>
            </a:pPr>
            <a:r>
              <a:t>PUBLISHED OFFERS VS OUR PROTOTYPE / PROPOSAL</a:t>
            </a:r>
          </a:p>
        </p:txBody>
      </p:sp>
      <p:sp>
        <p:nvSpPr>
          <p:cNvPr id="5" name="Rectangle 4"/>
          <p:cNvSpPr/>
          <p:nvPr/>
        </p:nvSpPr>
        <p:spPr>
          <a:xfrm>
            <a:off x="406400" y="6445250"/>
            <a:ext cx="11379200" cy="6350"/>
          </a:xfrm>
          <a:prstGeom prst="rect">
            <a:avLst/>
          </a:prstGeom>
          <a:solidFill>
            <a:srgbClr val="CC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553200"/>
            <a:ext cx="9525000" cy="215900"/>
          </a:xfrm>
          <a:prstGeom prst="rect">
            <a:avLst/>
          </a:prstGeom>
          <a:noFill/>
        </p:spPr>
        <p:txBody>
          <a:bodyPr wrap="square" lIns="0" tIns="0" rIns="0" bIns="0">
            <a:spAutoFit/>
          </a:bodyPr>
          <a:lstStyle/>
          <a:p>
            <a:pPr algn="l">
              <a:lnSpc>
                <a:spcPct val="112000"/>
              </a:lnSpc>
              <a:spcBef>
                <a:spcPts val="0"/>
              </a:spcBef>
              <a:spcAft>
                <a:spcPts val="0"/>
              </a:spcAft>
              <a:defRPr sz="1100" b="0">
                <a:solidFill>
                  <a:srgbClr val="748198"/>
                </a:solidFill>
                <a:latin typeface="Manrope"/>
              </a:defRPr>
            </a:pPr>
            <a:r>
              <a:t>FOM / FUTURE OF MYANMAR</a:t>
            </a:r>
          </a:p>
        </p:txBody>
      </p:sp>
      <p:sp>
        <p:nvSpPr>
          <p:cNvPr id="7" name="TextBox 6"/>
          <p:cNvSpPr txBox="1"/>
          <p:nvPr/>
        </p:nvSpPr>
        <p:spPr>
          <a:xfrm>
            <a:off x="11176000" y="6527800"/>
            <a:ext cx="609600" cy="254000"/>
          </a:xfrm>
          <a:prstGeom prst="rect">
            <a:avLst/>
          </a:prstGeom>
          <a:noFill/>
        </p:spPr>
        <p:txBody>
          <a:bodyPr wrap="square" lIns="0" tIns="0" rIns="0" bIns="0">
            <a:spAutoFit/>
          </a:bodyPr>
          <a:lstStyle/>
          <a:p>
            <a:pPr algn="r">
              <a:lnSpc>
                <a:spcPct val="112000"/>
              </a:lnSpc>
              <a:spcBef>
                <a:spcPts val="0"/>
              </a:spcBef>
              <a:spcAft>
                <a:spcPts val="0"/>
              </a:spcAft>
              <a:defRPr sz="1300" b="1">
                <a:solidFill>
                  <a:srgbClr val="476BC5"/>
                </a:solidFill>
                <a:latin typeface="Manrope"/>
              </a:defRPr>
            </a:pPr>
            <a:r>
              <a:t>08</a:t>
            </a:r>
          </a:p>
        </p:txBody>
      </p:sp>
      <p:sp>
        <p:nvSpPr>
          <p:cNvPr id="8" name="TextBox 7"/>
          <p:cNvSpPr txBox="1"/>
          <p:nvPr/>
        </p:nvSpPr>
        <p:spPr>
          <a:xfrm>
            <a:off x="406400" y="1085850"/>
            <a:ext cx="11366500" cy="1524000"/>
          </a:xfrm>
          <a:prstGeom prst="rect">
            <a:avLst/>
          </a:prstGeom>
          <a:noFill/>
        </p:spPr>
        <p:txBody>
          <a:bodyPr wrap="square" lIns="0" tIns="0" rIns="0" bIns="0">
            <a:spAutoFit/>
          </a:bodyPr>
          <a:lstStyle/>
          <a:p>
            <a:pPr algn="l">
              <a:lnSpc>
                <a:spcPct val="112000"/>
              </a:lnSpc>
              <a:spcBef>
                <a:spcPts val="0"/>
              </a:spcBef>
              <a:spcAft>
                <a:spcPts val="0"/>
              </a:spcAft>
              <a:defRPr sz="3700" b="1">
                <a:solidFill>
                  <a:srgbClr val="23334D"/>
                </a:solidFill>
                <a:latin typeface="Manrope"/>
              </a:defRPr>
            </a:pPr>
            <a:r>
              <a:t>Payment collection exists.</a:t>
            </a:r>
          </a:p>
          <a:p>
            <a:pPr algn="l">
              <a:lnSpc>
                <a:spcPct val="112000"/>
              </a:lnSpc>
              <a:spcBef>
                <a:spcPts val="0"/>
              </a:spcBef>
              <a:spcAft>
                <a:spcPts val="0"/>
              </a:spcAft>
              <a:defRPr sz="3700" b="1">
                <a:solidFill>
                  <a:srgbClr val="23334D"/>
                </a:solidFill>
                <a:latin typeface="Manrope"/>
              </a:defRPr>
            </a:pPr>
            <a:r>
              <a:t>Our focus is the whole deal.</a:t>
            </a:r>
          </a:p>
        </p:txBody>
      </p:sp>
      <p:sp>
        <p:nvSpPr>
          <p:cNvPr id="9" name="Rectangle 8"/>
          <p:cNvSpPr/>
          <p:nvPr/>
        </p:nvSpPr>
        <p:spPr>
          <a:xfrm>
            <a:off x="406400" y="2444750"/>
            <a:ext cx="3498850" cy="482600"/>
          </a:xfrm>
          <a:prstGeom prst="rect">
            <a:avLst/>
          </a:prstGeom>
          <a:solidFill>
            <a:srgbClr val="23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3400" y="2540000"/>
            <a:ext cx="3276600" cy="381000"/>
          </a:xfrm>
          <a:prstGeom prst="rect">
            <a:avLst/>
          </a:prstGeom>
          <a:noFill/>
        </p:spPr>
        <p:txBody>
          <a:bodyPr wrap="square" lIns="0" tIns="0" rIns="0" bIns="0">
            <a:spAutoFit/>
          </a:bodyPr>
          <a:lstStyle/>
          <a:p>
            <a:pPr algn="l">
              <a:lnSpc>
                <a:spcPct val="112000"/>
              </a:lnSpc>
              <a:spcBef>
                <a:spcPts val="0"/>
              </a:spcBef>
              <a:spcAft>
                <a:spcPts val="0"/>
              </a:spcAft>
              <a:defRPr sz="1550" b="1">
                <a:solidFill>
                  <a:srgbClr val="FFFFFF"/>
                </a:solidFill>
                <a:latin typeface="Manrope"/>
              </a:defRPr>
            </a:pPr>
            <a:r>
              <a:t>COMPARE</a:t>
            </a:r>
          </a:p>
        </p:txBody>
      </p:sp>
      <p:sp>
        <p:nvSpPr>
          <p:cNvPr id="11" name="Rectangle 10"/>
          <p:cNvSpPr/>
          <p:nvPr/>
        </p:nvSpPr>
        <p:spPr>
          <a:xfrm>
            <a:off x="3905249" y="2444750"/>
            <a:ext cx="2635250" cy="482600"/>
          </a:xfrm>
          <a:prstGeom prst="rect">
            <a:avLst/>
          </a:prstGeom>
          <a:solidFill>
            <a:srgbClr val="23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32250" y="2540000"/>
            <a:ext cx="2413000" cy="381000"/>
          </a:xfrm>
          <a:prstGeom prst="rect">
            <a:avLst/>
          </a:prstGeom>
          <a:noFill/>
        </p:spPr>
        <p:txBody>
          <a:bodyPr wrap="square" lIns="0" tIns="0" rIns="0" bIns="0">
            <a:spAutoFit/>
          </a:bodyPr>
          <a:lstStyle/>
          <a:p>
            <a:pPr algn="l">
              <a:lnSpc>
                <a:spcPct val="112000"/>
              </a:lnSpc>
              <a:spcBef>
                <a:spcPts val="0"/>
              </a:spcBef>
              <a:spcAft>
                <a:spcPts val="0"/>
              </a:spcAft>
              <a:defRPr sz="1550" b="1">
                <a:solidFill>
                  <a:srgbClr val="FFFFFF"/>
                </a:solidFill>
                <a:latin typeface="Manrope"/>
              </a:defRPr>
            </a:pPr>
            <a:r>
              <a:t>Dinger</a:t>
            </a:r>
          </a:p>
        </p:txBody>
      </p:sp>
      <p:sp>
        <p:nvSpPr>
          <p:cNvPr id="13" name="Rectangle 12"/>
          <p:cNvSpPr/>
          <p:nvPr/>
        </p:nvSpPr>
        <p:spPr>
          <a:xfrm>
            <a:off x="6540500" y="2444750"/>
            <a:ext cx="2635250" cy="482600"/>
          </a:xfrm>
          <a:prstGeom prst="rect">
            <a:avLst/>
          </a:prstGeom>
          <a:solidFill>
            <a:srgbClr val="23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67500" y="2540000"/>
            <a:ext cx="2413000" cy="381000"/>
          </a:xfrm>
          <a:prstGeom prst="rect">
            <a:avLst/>
          </a:prstGeom>
          <a:noFill/>
        </p:spPr>
        <p:txBody>
          <a:bodyPr wrap="square" lIns="0" tIns="0" rIns="0" bIns="0">
            <a:spAutoFit/>
          </a:bodyPr>
          <a:lstStyle/>
          <a:p>
            <a:pPr algn="l">
              <a:lnSpc>
                <a:spcPct val="112000"/>
              </a:lnSpc>
              <a:spcBef>
                <a:spcPts val="0"/>
              </a:spcBef>
              <a:spcAft>
                <a:spcPts val="0"/>
              </a:spcAft>
              <a:defRPr sz="1550" b="1">
                <a:solidFill>
                  <a:srgbClr val="FFFFFF"/>
                </a:solidFill>
                <a:latin typeface="Manrope"/>
              </a:defRPr>
            </a:pPr>
            <a:r>
              <a:t>MyanMyanPay</a:t>
            </a:r>
          </a:p>
        </p:txBody>
      </p:sp>
      <p:sp>
        <p:nvSpPr>
          <p:cNvPr id="15" name="Rectangle 14"/>
          <p:cNvSpPr/>
          <p:nvPr/>
        </p:nvSpPr>
        <p:spPr>
          <a:xfrm>
            <a:off x="9175750" y="2444750"/>
            <a:ext cx="2609850" cy="48260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02750" y="2540000"/>
            <a:ext cx="2387600" cy="381000"/>
          </a:xfrm>
          <a:prstGeom prst="rect">
            <a:avLst/>
          </a:prstGeom>
          <a:noFill/>
        </p:spPr>
        <p:txBody>
          <a:bodyPr wrap="square" lIns="0" tIns="0" rIns="0" bIns="0">
            <a:spAutoFit/>
          </a:bodyPr>
          <a:lstStyle/>
          <a:p>
            <a:pPr algn="l">
              <a:lnSpc>
                <a:spcPct val="112000"/>
              </a:lnSpc>
              <a:spcBef>
                <a:spcPts val="0"/>
              </a:spcBef>
              <a:spcAft>
                <a:spcPts val="0"/>
              </a:spcAft>
              <a:defRPr sz="1550" b="1">
                <a:solidFill>
                  <a:srgbClr val="FFFFFF"/>
                </a:solidFill>
                <a:latin typeface="Manrope"/>
              </a:defRPr>
            </a:pPr>
            <a:r>
              <a:t>FOM</a:t>
            </a:r>
          </a:p>
        </p:txBody>
      </p:sp>
      <p:sp>
        <p:nvSpPr>
          <p:cNvPr id="17" name="Rectangle 16"/>
          <p:cNvSpPr/>
          <p:nvPr/>
        </p:nvSpPr>
        <p:spPr>
          <a:xfrm>
            <a:off x="406400" y="2927350"/>
            <a:ext cx="3498850" cy="4889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0700" y="3003550"/>
            <a:ext cx="3282950" cy="444500"/>
          </a:xfrm>
          <a:prstGeom prst="rect">
            <a:avLst/>
          </a:prstGeom>
          <a:noFill/>
        </p:spPr>
        <p:txBody>
          <a:bodyPr wrap="square" lIns="0" tIns="0" rIns="0" bIns="0">
            <a:spAutoFit/>
          </a:bodyPr>
          <a:lstStyle/>
          <a:p>
            <a:pPr algn="l">
              <a:lnSpc>
                <a:spcPct val="112000"/>
              </a:lnSpc>
              <a:spcBef>
                <a:spcPts val="0"/>
              </a:spcBef>
              <a:spcAft>
                <a:spcPts val="0"/>
              </a:spcAft>
              <a:defRPr sz="1300" b="1">
                <a:solidFill>
                  <a:srgbClr val="23334D"/>
                </a:solidFill>
                <a:latin typeface="Manrope"/>
              </a:defRPr>
            </a:pPr>
            <a:r>
              <a:t>Product today</a:t>
            </a:r>
          </a:p>
        </p:txBody>
      </p:sp>
      <p:sp>
        <p:nvSpPr>
          <p:cNvPr id="19" name="Rectangle 18"/>
          <p:cNvSpPr/>
          <p:nvPr/>
        </p:nvSpPr>
        <p:spPr>
          <a:xfrm>
            <a:off x="3905249" y="2927350"/>
            <a:ext cx="2635250" cy="4889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019549" y="3003550"/>
            <a:ext cx="24193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23334D"/>
                </a:solidFill>
                <a:latin typeface="Manrope"/>
              </a:defRPr>
            </a:pPr>
            <a:r>
              <a:t>Merchant collection</a:t>
            </a:r>
          </a:p>
        </p:txBody>
      </p:sp>
      <p:sp>
        <p:nvSpPr>
          <p:cNvPr id="21" name="Rectangle 20"/>
          <p:cNvSpPr/>
          <p:nvPr/>
        </p:nvSpPr>
        <p:spPr>
          <a:xfrm>
            <a:off x="6540500" y="2927350"/>
            <a:ext cx="2635250" cy="4889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54800" y="3003550"/>
            <a:ext cx="24193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23334D"/>
                </a:solidFill>
                <a:latin typeface="Manrope"/>
              </a:defRPr>
            </a:pPr>
            <a:r>
              <a:t>MMQR collection</a:t>
            </a:r>
          </a:p>
        </p:txBody>
      </p:sp>
      <p:sp>
        <p:nvSpPr>
          <p:cNvPr id="23" name="Rectangle 22"/>
          <p:cNvSpPr/>
          <p:nvPr/>
        </p:nvSpPr>
        <p:spPr>
          <a:xfrm>
            <a:off x="9175750" y="2927350"/>
            <a:ext cx="2609850" cy="4889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90050" y="3003550"/>
            <a:ext cx="23939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476BC5"/>
                </a:solidFill>
                <a:latin typeface="Manrope"/>
              </a:defRPr>
            </a:pPr>
            <a:r>
              <a:t>Receipt / deal prototype</a:t>
            </a:r>
          </a:p>
        </p:txBody>
      </p:sp>
      <p:sp>
        <p:nvSpPr>
          <p:cNvPr id="25" name="Rectangle 24"/>
          <p:cNvSpPr/>
          <p:nvPr/>
        </p:nvSpPr>
        <p:spPr>
          <a:xfrm>
            <a:off x="406400" y="3416300"/>
            <a:ext cx="3498850" cy="48895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20700" y="3492500"/>
            <a:ext cx="3282950" cy="444500"/>
          </a:xfrm>
          <a:prstGeom prst="rect">
            <a:avLst/>
          </a:prstGeom>
          <a:noFill/>
        </p:spPr>
        <p:txBody>
          <a:bodyPr wrap="square" lIns="0" tIns="0" rIns="0" bIns="0">
            <a:spAutoFit/>
          </a:bodyPr>
          <a:lstStyle/>
          <a:p>
            <a:pPr algn="l">
              <a:lnSpc>
                <a:spcPct val="112000"/>
              </a:lnSpc>
              <a:spcBef>
                <a:spcPts val="0"/>
              </a:spcBef>
              <a:spcAft>
                <a:spcPts val="0"/>
              </a:spcAft>
              <a:defRPr sz="1300" b="1">
                <a:solidFill>
                  <a:srgbClr val="23334D"/>
                </a:solidFill>
                <a:latin typeface="Manrope"/>
              </a:defRPr>
            </a:pPr>
            <a:r>
              <a:t>Link / QR entry</a:t>
            </a:r>
          </a:p>
        </p:txBody>
      </p:sp>
      <p:sp>
        <p:nvSpPr>
          <p:cNvPr id="27" name="Rectangle 26"/>
          <p:cNvSpPr/>
          <p:nvPr/>
        </p:nvSpPr>
        <p:spPr>
          <a:xfrm>
            <a:off x="3905249" y="3416300"/>
            <a:ext cx="2635250" cy="48895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019549" y="3492500"/>
            <a:ext cx="24193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23334D"/>
                </a:solidFill>
                <a:latin typeface="Manrope"/>
              </a:defRPr>
            </a:pPr>
            <a:r>
              <a:t>Published links</a:t>
            </a:r>
          </a:p>
        </p:txBody>
      </p:sp>
      <p:sp>
        <p:nvSpPr>
          <p:cNvPr id="29" name="Rectangle 28"/>
          <p:cNvSpPr/>
          <p:nvPr/>
        </p:nvSpPr>
        <p:spPr>
          <a:xfrm>
            <a:off x="6540500" y="3416300"/>
            <a:ext cx="2635250" cy="48895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54800" y="3492500"/>
            <a:ext cx="24193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23334D"/>
                </a:solidFill>
                <a:latin typeface="Manrope"/>
              </a:defRPr>
            </a:pPr>
            <a:r>
              <a:t>Published links / QR</a:t>
            </a:r>
          </a:p>
        </p:txBody>
      </p:sp>
      <p:sp>
        <p:nvSpPr>
          <p:cNvPr id="31" name="Rectangle 30"/>
          <p:cNvSpPr/>
          <p:nvPr/>
        </p:nvSpPr>
        <p:spPr>
          <a:xfrm>
            <a:off x="9175750" y="3416300"/>
            <a:ext cx="2609850" cy="4889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290050" y="3492500"/>
            <a:ext cx="23939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476BC5"/>
                </a:solidFill>
                <a:latin typeface="Manrope"/>
              </a:defRPr>
            </a:pPr>
            <a:r>
              <a:t>Browser code / link / QR</a:t>
            </a:r>
          </a:p>
        </p:txBody>
      </p:sp>
      <p:sp>
        <p:nvSpPr>
          <p:cNvPr id="33" name="Rectangle 32"/>
          <p:cNvSpPr/>
          <p:nvPr/>
        </p:nvSpPr>
        <p:spPr>
          <a:xfrm>
            <a:off x="406400" y="3905249"/>
            <a:ext cx="3498850" cy="4889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20700" y="3981450"/>
            <a:ext cx="3282950" cy="444500"/>
          </a:xfrm>
          <a:prstGeom prst="rect">
            <a:avLst/>
          </a:prstGeom>
          <a:noFill/>
        </p:spPr>
        <p:txBody>
          <a:bodyPr wrap="square" lIns="0" tIns="0" rIns="0" bIns="0">
            <a:spAutoFit/>
          </a:bodyPr>
          <a:lstStyle/>
          <a:p>
            <a:pPr algn="l">
              <a:lnSpc>
                <a:spcPct val="112000"/>
              </a:lnSpc>
              <a:spcBef>
                <a:spcPts val="0"/>
              </a:spcBef>
              <a:spcAft>
                <a:spcPts val="0"/>
              </a:spcAft>
              <a:defRPr sz="1300" b="1">
                <a:solidFill>
                  <a:srgbClr val="23334D"/>
                </a:solidFill>
                <a:latin typeface="Manrope"/>
              </a:defRPr>
            </a:pPr>
            <a:r>
              <a:t>Bank-verified payment</a:t>
            </a:r>
          </a:p>
        </p:txBody>
      </p:sp>
      <p:sp>
        <p:nvSpPr>
          <p:cNvPr id="35" name="Rectangle 34"/>
          <p:cNvSpPr/>
          <p:nvPr/>
        </p:nvSpPr>
        <p:spPr>
          <a:xfrm>
            <a:off x="3905249" y="3905249"/>
            <a:ext cx="2635250" cy="4889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019549" y="3981450"/>
            <a:ext cx="24193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23334D"/>
                </a:solidFill>
                <a:latin typeface="Manrope"/>
              </a:defRPr>
            </a:pPr>
            <a:r>
              <a:t>Published collection</a:t>
            </a:r>
          </a:p>
        </p:txBody>
      </p:sp>
      <p:sp>
        <p:nvSpPr>
          <p:cNvPr id="37" name="Rectangle 36"/>
          <p:cNvSpPr/>
          <p:nvPr/>
        </p:nvSpPr>
        <p:spPr>
          <a:xfrm>
            <a:off x="6540500" y="3905249"/>
            <a:ext cx="2635250" cy="4889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654800" y="3981450"/>
            <a:ext cx="24193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23334D"/>
                </a:solidFill>
                <a:latin typeface="Manrope"/>
              </a:defRPr>
            </a:pPr>
            <a:r>
              <a:t>Published verification</a:t>
            </a:r>
          </a:p>
        </p:txBody>
      </p:sp>
      <p:sp>
        <p:nvSpPr>
          <p:cNvPr id="39" name="Rectangle 38"/>
          <p:cNvSpPr/>
          <p:nvPr/>
        </p:nvSpPr>
        <p:spPr>
          <a:xfrm>
            <a:off x="9175750" y="3905249"/>
            <a:ext cx="2609850" cy="4889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290050" y="3981450"/>
            <a:ext cx="23939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476BC5"/>
                </a:solidFill>
                <a:latin typeface="Manrope"/>
              </a:defRPr>
            </a:pPr>
            <a:r>
              <a:t>Planned integration</a:t>
            </a:r>
          </a:p>
        </p:txBody>
      </p:sp>
      <p:sp>
        <p:nvSpPr>
          <p:cNvPr id="41" name="Rectangle 40"/>
          <p:cNvSpPr/>
          <p:nvPr/>
        </p:nvSpPr>
        <p:spPr>
          <a:xfrm>
            <a:off x="406400" y="4394200"/>
            <a:ext cx="3498850" cy="48895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20700" y="4470400"/>
            <a:ext cx="3282950" cy="444500"/>
          </a:xfrm>
          <a:prstGeom prst="rect">
            <a:avLst/>
          </a:prstGeom>
          <a:noFill/>
        </p:spPr>
        <p:txBody>
          <a:bodyPr wrap="square" lIns="0" tIns="0" rIns="0" bIns="0">
            <a:spAutoFit/>
          </a:bodyPr>
          <a:lstStyle/>
          <a:p>
            <a:pPr algn="l">
              <a:lnSpc>
                <a:spcPct val="112000"/>
              </a:lnSpc>
              <a:spcBef>
                <a:spcPts val="0"/>
              </a:spcBef>
              <a:spcAft>
                <a:spcPts val="0"/>
              </a:spcAft>
              <a:defRPr sz="1300" b="1">
                <a:solidFill>
                  <a:srgbClr val="23334D"/>
                </a:solidFill>
                <a:latin typeface="Manrope"/>
              </a:defRPr>
            </a:pPr>
            <a:r>
              <a:t>Delivery + buyer check</a:t>
            </a:r>
          </a:p>
        </p:txBody>
      </p:sp>
      <p:sp>
        <p:nvSpPr>
          <p:cNvPr id="43" name="Rectangle 42"/>
          <p:cNvSpPr/>
          <p:nvPr/>
        </p:nvSpPr>
        <p:spPr>
          <a:xfrm>
            <a:off x="3905249" y="4394200"/>
            <a:ext cx="2635250" cy="48895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019549" y="4470400"/>
            <a:ext cx="24193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23334D"/>
                </a:solidFill>
                <a:latin typeface="Manrope"/>
              </a:defRPr>
            </a:pPr>
            <a:r>
              <a:t>Not documented¹</a:t>
            </a:r>
          </a:p>
        </p:txBody>
      </p:sp>
      <p:sp>
        <p:nvSpPr>
          <p:cNvPr id="45" name="Rectangle 44"/>
          <p:cNvSpPr/>
          <p:nvPr/>
        </p:nvSpPr>
        <p:spPr>
          <a:xfrm>
            <a:off x="6540500" y="4394200"/>
            <a:ext cx="2635250" cy="48895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654800" y="4470400"/>
            <a:ext cx="24193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23334D"/>
                </a:solidFill>
                <a:latin typeface="Manrope"/>
              </a:defRPr>
            </a:pPr>
            <a:r>
              <a:t>Not documented¹</a:t>
            </a:r>
          </a:p>
        </p:txBody>
      </p:sp>
      <p:sp>
        <p:nvSpPr>
          <p:cNvPr id="47" name="Rectangle 46"/>
          <p:cNvSpPr/>
          <p:nvPr/>
        </p:nvSpPr>
        <p:spPr>
          <a:xfrm>
            <a:off x="9175750" y="4394200"/>
            <a:ext cx="2609850" cy="4889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290050" y="4470400"/>
            <a:ext cx="23939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476BC5"/>
                </a:solidFill>
                <a:latin typeface="Manrope"/>
              </a:defRPr>
            </a:pPr>
            <a:r>
              <a:t>Implemented workflow</a:t>
            </a:r>
          </a:p>
        </p:txBody>
      </p:sp>
      <p:sp>
        <p:nvSpPr>
          <p:cNvPr id="49" name="Rectangle 48"/>
          <p:cNvSpPr/>
          <p:nvPr/>
        </p:nvSpPr>
        <p:spPr>
          <a:xfrm>
            <a:off x="406400" y="4883150"/>
            <a:ext cx="3498850" cy="4889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20700" y="4959350"/>
            <a:ext cx="3282950" cy="444500"/>
          </a:xfrm>
          <a:prstGeom prst="rect">
            <a:avLst/>
          </a:prstGeom>
          <a:noFill/>
        </p:spPr>
        <p:txBody>
          <a:bodyPr wrap="square" lIns="0" tIns="0" rIns="0" bIns="0">
            <a:spAutoFit/>
          </a:bodyPr>
          <a:lstStyle/>
          <a:p>
            <a:pPr algn="l">
              <a:lnSpc>
                <a:spcPct val="112000"/>
              </a:lnSpc>
              <a:spcBef>
                <a:spcPts val="0"/>
              </a:spcBef>
              <a:spcAft>
                <a:spcPts val="0"/>
              </a:spcAft>
              <a:defRPr sz="1300" b="1">
                <a:solidFill>
                  <a:srgbClr val="23334D"/>
                </a:solidFill>
                <a:latin typeface="Manrope"/>
              </a:defRPr>
            </a:pPr>
            <a:r>
              <a:t>Recurring fixed fee</a:t>
            </a:r>
          </a:p>
        </p:txBody>
      </p:sp>
      <p:sp>
        <p:nvSpPr>
          <p:cNvPr id="51" name="Rectangle 50"/>
          <p:cNvSpPr/>
          <p:nvPr/>
        </p:nvSpPr>
        <p:spPr>
          <a:xfrm>
            <a:off x="3905249" y="4883150"/>
            <a:ext cx="2635250" cy="4889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019549" y="4959350"/>
            <a:ext cx="24193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23334D"/>
                </a:solidFill>
                <a:latin typeface="Manrope"/>
              </a:defRPr>
            </a:pPr>
            <a:r>
              <a:t>100,000 MMK / month²</a:t>
            </a:r>
          </a:p>
        </p:txBody>
      </p:sp>
      <p:sp>
        <p:nvSpPr>
          <p:cNvPr id="53" name="Rectangle 52"/>
          <p:cNvSpPr/>
          <p:nvPr/>
        </p:nvSpPr>
        <p:spPr>
          <a:xfrm>
            <a:off x="6540500" y="4883150"/>
            <a:ext cx="2635250" cy="4889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654800" y="4959350"/>
            <a:ext cx="24193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23334D"/>
                </a:solidFill>
                <a:latin typeface="Manrope"/>
              </a:defRPr>
            </a:pPr>
            <a:r>
              <a:t>120,000 MMK / year;</a:t>
            </a:r>
          </a:p>
          <a:p>
            <a:pPr algn="l">
              <a:lnSpc>
                <a:spcPct val="112000"/>
              </a:lnSpc>
              <a:spcBef>
                <a:spcPts val="0"/>
              </a:spcBef>
              <a:spcAft>
                <a:spcPts val="0"/>
              </a:spcAft>
              <a:defRPr sz="1300" b="0">
                <a:solidFill>
                  <a:srgbClr val="23334D"/>
                </a:solidFill>
                <a:latin typeface="Manrope"/>
              </a:defRPr>
            </a:pPr>
            <a:r>
              <a:t>waived through 2026</a:t>
            </a:r>
          </a:p>
        </p:txBody>
      </p:sp>
      <p:sp>
        <p:nvSpPr>
          <p:cNvPr id="55" name="Rectangle 54"/>
          <p:cNvSpPr/>
          <p:nvPr/>
        </p:nvSpPr>
        <p:spPr>
          <a:xfrm>
            <a:off x="9175750" y="4883150"/>
            <a:ext cx="2609850" cy="4889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290050" y="4959350"/>
            <a:ext cx="23939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476BC5"/>
                </a:solidFill>
                <a:latin typeface="Manrope"/>
              </a:defRPr>
            </a:pPr>
            <a:r>
              <a:t>0 monthly proposed</a:t>
            </a:r>
          </a:p>
        </p:txBody>
      </p:sp>
      <p:sp>
        <p:nvSpPr>
          <p:cNvPr id="57" name="Rectangle 56"/>
          <p:cNvSpPr/>
          <p:nvPr/>
        </p:nvSpPr>
        <p:spPr>
          <a:xfrm>
            <a:off x="406400" y="5372100"/>
            <a:ext cx="3498850" cy="48895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20700" y="5448300"/>
            <a:ext cx="3282950" cy="444500"/>
          </a:xfrm>
          <a:prstGeom prst="rect">
            <a:avLst/>
          </a:prstGeom>
          <a:noFill/>
        </p:spPr>
        <p:txBody>
          <a:bodyPr wrap="square" lIns="0" tIns="0" rIns="0" bIns="0">
            <a:spAutoFit/>
          </a:bodyPr>
          <a:lstStyle/>
          <a:p>
            <a:pPr algn="l">
              <a:lnSpc>
                <a:spcPct val="112000"/>
              </a:lnSpc>
              <a:spcBef>
                <a:spcPts val="0"/>
              </a:spcBef>
              <a:spcAft>
                <a:spcPts val="0"/>
              </a:spcAft>
              <a:defRPr sz="1300" b="1">
                <a:solidFill>
                  <a:srgbClr val="23334D"/>
                </a:solidFill>
                <a:latin typeface="Manrope"/>
              </a:defRPr>
            </a:pPr>
            <a:r>
              <a:t>Transaction charge</a:t>
            </a:r>
          </a:p>
        </p:txBody>
      </p:sp>
      <p:sp>
        <p:nvSpPr>
          <p:cNvPr id="59" name="Rectangle 58"/>
          <p:cNvSpPr/>
          <p:nvPr/>
        </p:nvSpPr>
        <p:spPr>
          <a:xfrm>
            <a:off x="3905249" y="5372100"/>
            <a:ext cx="2635250" cy="48895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019549" y="5448300"/>
            <a:ext cx="24193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23334D"/>
                </a:solidFill>
                <a:latin typeface="Manrope"/>
              </a:defRPr>
            </a:pPr>
            <a:r>
              <a:t>KBZPay: 1.9% + 100²</a:t>
            </a:r>
          </a:p>
        </p:txBody>
      </p:sp>
      <p:sp>
        <p:nvSpPr>
          <p:cNvPr id="61" name="Rectangle 60"/>
          <p:cNvSpPr/>
          <p:nvPr/>
        </p:nvSpPr>
        <p:spPr>
          <a:xfrm>
            <a:off x="6540500" y="5372100"/>
            <a:ext cx="2635250" cy="48895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654800" y="5448300"/>
            <a:ext cx="24193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23334D"/>
                </a:solidFill>
                <a:latin typeface="Manrope"/>
              </a:defRPr>
            </a:pPr>
            <a:r>
              <a:t>Storefront: 500 / order³</a:t>
            </a:r>
          </a:p>
        </p:txBody>
      </p:sp>
      <p:sp>
        <p:nvSpPr>
          <p:cNvPr id="63" name="Rectangle 62"/>
          <p:cNvSpPr/>
          <p:nvPr/>
        </p:nvSpPr>
        <p:spPr>
          <a:xfrm>
            <a:off x="9175750" y="5372100"/>
            <a:ext cx="2609850" cy="4889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290050" y="5448300"/>
            <a:ext cx="2393950" cy="44450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476BC5"/>
                </a:solidFill>
                <a:latin typeface="Manrope"/>
              </a:defRPr>
            </a:pPr>
            <a:r>
              <a:t>2% FOM proposed</a:t>
            </a:r>
          </a:p>
          <a:p>
            <a:pPr algn="l">
              <a:lnSpc>
                <a:spcPct val="112000"/>
              </a:lnSpc>
              <a:spcBef>
                <a:spcPts val="0"/>
              </a:spcBef>
              <a:spcAft>
                <a:spcPts val="0"/>
              </a:spcAft>
              <a:defRPr sz="1300" b="0">
                <a:solidFill>
                  <a:srgbClr val="476BC5"/>
                </a:solidFill>
                <a:latin typeface="Manrope"/>
              </a:defRPr>
            </a:pPr>
            <a:r>
              <a:t>+ provider charges</a:t>
            </a:r>
          </a:p>
        </p:txBody>
      </p:sp>
      <p:sp>
        <p:nvSpPr>
          <p:cNvPr id="65" name="TextBox 64"/>
          <p:cNvSpPr txBox="1"/>
          <p:nvPr/>
        </p:nvSpPr>
        <p:spPr>
          <a:xfrm>
            <a:off x="406400" y="5981700"/>
            <a:ext cx="11430000" cy="400050"/>
          </a:xfrm>
          <a:prstGeom prst="rect">
            <a:avLst/>
          </a:prstGeom>
          <a:noFill/>
        </p:spPr>
        <p:txBody>
          <a:bodyPr wrap="square" lIns="0" tIns="0" rIns="0" bIns="0">
            <a:spAutoFit/>
          </a:bodyPr>
          <a:lstStyle/>
          <a:p>
            <a:pPr algn="l">
              <a:lnSpc>
                <a:spcPct val="112000"/>
              </a:lnSpc>
              <a:spcBef>
                <a:spcPts val="0"/>
              </a:spcBef>
              <a:spcAft>
                <a:spcPts val="0"/>
              </a:spcAft>
              <a:defRPr sz="1150" b="0">
                <a:solidFill>
                  <a:srgbClr val="748198"/>
                </a:solidFill>
                <a:latin typeface="Manrope"/>
              </a:defRPr>
            </a:pPr>
            <a:r>
              <a:t>¹ Not documented in reviewed pages; not proof of absence.  ² Dinger Standard / published route.  ³ Current Storefront fee.</a:t>
            </a:r>
          </a:p>
        </p:txBody>
      </p:sp>
    </p:spTree>
  </p:cSld>
  <p:clrMapOvr>
    <a:masterClrMapping/>
  </p:clrMapOvr>
  <p:transition advClick="0" advTm="13000"/>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B30"/>
        </a:solidFill>
        <a:effectLst/>
      </p:bgPr>
    </p:bg>
    <p:spTree>
      <p:nvGrpSpPr>
        <p:cNvPr id="1" name=""/>
        <p:cNvGrpSpPr/>
        <p:nvPr/>
      </p:nvGrpSpPr>
      <p:grpSpPr>
        <a:xfrm>
          <a:off x="0" y="0"/>
          <a:ext cx="0" cy="0"/>
          <a:chOff x="0" y="0"/>
          <a:chExt cx="0" cy="0"/>
        </a:xfrm>
      </p:grpSpPr>
      <p:pic>
        <p:nvPicPr>
          <p:cNvPr id="2" name="Picture 1" descr="elephant-ball-logo.png"/>
          <p:cNvPicPr>
            <a:picLocks noChangeAspect="1"/>
          </p:cNvPicPr>
          <p:nvPr/>
        </p:nvPicPr>
        <p:blipFill>
          <a:blip r:embed="rId3"/>
          <a:stretch>
            <a:fillRect/>
          </a:stretch>
        </p:blipFill>
        <p:spPr>
          <a:xfrm>
            <a:off x="406400" y="273050"/>
            <a:ext cx="406400" cy="406400"/>
          </a:xfrm>
          <a:prstGeom prst="rect">
            <a:avLst/>
          </a:prstGeom>
        </p:spPr>
      </p:pic>
      <p:sp>
        <p:nvSpPr>
          <p:cNvPr id="3" name="TextBox 2"/>
          <p:cNvSpPr txBox="1"/>
          <p:nvPr/>
        </p:nvSpPr>
        <p:spPr>
          <a:xfrm>
            <a:off x="889000" y="304800"/>
            <a:ext cx="1587500" cy="444500"/>
          </a:xfrm>
          <a:prstGeom prst="rect">
            <a:avLst/>
          </a:prstGeom>
          <a:noFill/>
        </p:spPr>
        <p:txBody>
          <a:bodyPr wrap="square" lIns="0" tIns="0" rIns="0" bIns="0">
            <a:spAutoFit/>
          </a:bodyPr>
          <a:lstStyle/>
          <a:p>
            <a:pPr algn="l">
              <a:lnSpc>
                <a:spcPct val="112000"/>
              </a:lnSpc>
              <a:spcBef>
                <a:spcPts val="0"/>
              </a:spcBef>
              <a:spcAft>
                <a:spcPts val="0"/>
              </a:spcAft>
              <a:defRPr sz="2400" b="1">
                <a:solidFill>
                  <a:srgbClr val="B8CEFF"/>
                </a:solidFill>
                <a:latin typeface="Manrope"/>
              </a:defRPr>
            </a:pPr>
            <a:r>
              <a:t>fom.</a:t>
            </a:r>
          </a:p>
        </p:txBody>
      </p:sp>
      <p:sp>
        <p:nvSpPr>
          <p:cNvPr id="4" name="TextBox 3"/>
          <p:cNvSpPr txBox="1"/>
          <p:nvPr/>
        </p:nvSpPr>
        <p:spPr>
          <a:xfrm>
            <a:off x="4699000" y="412750"/>
            <a:ext cx="7048500" cy="285750"/>
          </a:xfrm>
          <a:prstGeom prst="rect">
            <a:avLst/>
          </a:prstGeom>
          <a:noFill/>
        </p:spPr>
        <p:txBody>
          <a:bodyPr wrap="square" lIns="0" tIns="0" rIns="0" bIns="0">
            <a:spAutoFit/>
          </a:bodyPr>
          <a:lstStyle/>
          <a:p>
            <a:pPr algn="r">
              <a:lnSpc>
                <a:spcPct val="112000"/>
              </a:lnSpc>
              <a:spcBef>
                <a:spcPts val="0"/>
              </a:spcBef>
              <a:spcAft>
                <a:spcPts val="0"/>
              </a:spcAft>
              <a:defRPr sz="1200" b="0">
                <a:solidFill>
                  <a:srgbClr val="B8CEFF"/>
                </a:solidFill>
                <a:latin typeface="Manrope"/>
              </a:defRPr>
            </a:pPr>
            <a:r>
              <a:t>ENTRY-COST HYPOTHESIS · MONTHLY EQUIVALENT, MMK</a:t>
            </a:r>
          </a:p>
        </p:txBody>
      </p:sp>
      <p:sp>
        <p:nvSpPr>
          <p:cNvPr id="5" name="Rectangle 4"/>
          <p:cNvSpPr/>
          <p:nvPr/>
        </p:nvSpPr>
        <p:spPr>
          <a:xfrm>
            <a:off x="406400" y="6445250"/>
            <a:ext cx="11379200" cy="635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553200"/>
            <a:ext cx="9525000" cy="215900"/>
          </a:xfrm>
          <a:prstGeom prst="rect">
            <a:avLst/>
          </a:prstGeom>
          <a:noFill/>
        </p:spPr>
        <p:txBody>
          <a:bodyPr wrap="square" lIns="0" tIns="0" rIns="0" bIns="0">
            <a:spAutoFit/>
          </a:bodyPr>
          <a:lstStyle/>
          <a:p>
            <a:pPr algn="l">
              <a:lnSpc>
                <a:spcPct val="112000"/>
              </a:lnSpc>
              <a:spcBef>
                <a:spcPts val="0"/>
              </a:spcBef>
              <a:spcAft>
                <a:spcPts val="0"/>
              </a:spcAft>
              <a:defRPr sz="1100" b="0">
                <a:solidFill>
                  <a:srgbClr val="748198"/>
                </a:solidFill>
                <a:latin typeface="Manrope"/>
              </a:defRPr>
            </a:pPr>
            <a:r>
              <a:t>FOM / FUTURE OF MYANMAR</a:t>
            </a:r>
          </a:p>
        </p:txBody>
      </p:sp>
      <p:sp>
        <p:nvSpPr>
          <p:cNvPr id="7" name="TextBox 6"/>
          <p:cNvSpPr txBox="1"/>
          <p:nvPr/>
        </p:nvSpPr>
        <p:spPr>
          <a:xfrm>
            <a:off x="11176000" y="6527800"/>
            <a:ext cx="609600" cy="254000"/>
          </a:xfrm>
          <a:prstGeom prst="rect">
            <a:avLst/>
          </a:prstGeom>
          <a:noFill/>
        </p:spPr>
        <p:txBody>
          <a:bodyPr wrap="square" lIns="0" tIns="0" rIns="0" bIns="0">
            <a:spAutoFit/>
          </a:bodyPr>
          <a:lstStyle/>
          <a:p>
            <a:pPr algn="r">
              <a:lnSpc>
                <a:spcPct val="112000"/>
              </a:lnSpc>
              <a:spcBef>
                <a:spcPts val="0"/>
              </a:spcBef>
              <a:spcAft>
                <a:spcPts val="0"/>
              </a:spcAft>
              <a:defRPr sz="1300" b="1">
                <a:solidFill>
                  <a:srgbClr val="B8CEFF"/>
                </a:solidFill>
                <a:latin typeface="Manrope"/>
              </a:defRPr>
            </a:pPr>
            <a:r>
              <a:t>09</a:t>
            </a:r>
          </a:p>
        </p:txBody>
      </p:sp>
      <p:sp>
        <p:nvSpPr>
          <p:cNvPr id="8" name="TextBox 7"/>
          <p:cNvSpPr txBox="1"/>
          <p:nvPr/>
        </p:nvSpPr>
        <p:spPr>
          <a:xfrm>
            <a:off x="406400" y="1085850"/>
            <a:ext cx="11366500" cy="1524000"/>
          </a:xfrm>
          <a:prstGeom prst="rect">
            <a:avLst/>
          </a:prstGeom>
          <a:noFill/>
        </p:spPr>
        <p:txBody>
          <a:bodyPr wrap="square" lIns="0" tIns="0" rIns="0" bIns="0">
            <a:spAutoFit/>
          </a:bodyPr>
          <a:lstStyle/>
          <a:p>
            <a:pPr algn="l">
              <a:lnSpc>
                <a:spcPct val="112000"/>
              </a:lnSpc>
              <a:spcBef>
                <a:spcPts val="0"/>
              </a:spcBef>
              <a:spcAft>
                <a:spcPts val="0"/>
              </a:spcAft>
              <a:defRPr sz="4200" b="1">
                <a:solidFill>
                  <a:srgbClr val="FFFFFF"/>
                </a:solidFill>
                <a:latin typeface="Manrope"/>
              </a:defRPr>
            </a:pPr>
            <a:r>
              <a:t>Start without a monthly plan.</a:t>
            </a:r>
          </a:p>
        </p:txBody>
      </p:sp>
      <p:sp>
        <p:nvSpPr>
          <p:cNvPr id="9" name="Rectangle 8"/>
          <p:cNvSpPr/>
          <p:nvPr/>
        </p:nvSpPr>
        <p:spPr>
          <a:xfrm>
            <a:off x="1555750" y="5238750"/>
            <a:ext cx="9461500" cy="635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4500" y="5124450"/>
            <a:ext cx="1016000" cy="273050"/>
          </a:xfrm>
          <a:prstGeom prst="rect">
            <a:avLst/>
          </a:prstGeom>
          <a:noFill/>
        </p:spPr>
        <p:txBody>
          <a:bodyPr wrap="square" lIns="0" tIns="0" rIns="0" bIns="0">
            <a:spAutoFit/>
          </a:bodyPr>
          <a:lstStyle/>
          <a:p>
            <a:pPr algn="r">
              <a:lnSpc>
                <a:spcPct val="112000"/>
              </a:lnSpc>
              <a:spcBef>
                <a:spcPts val="0"/>
              </a:spcBef>
              <a:spcAft>
                <a:spcPts val="0"/>
              </a:spcAft>
              <a:defRPr sz="1300" b="0">
                <a:solidFill>
                  <a:srgbClr val="B8CEFF"/>
                </a:solidFill>
                <a:latin typeface="Manrope"/>
              </a:defRPr>
            </a:pPr>
            <a:r>
              <a:t>0</a:t>
            </a:r>
          </a:p>
        </p:txBody>
      </p:sp>
      <p:sp>
        <p:nvSpPr>
          <p:cNvPr id="11" name="Rectangle 10"/>
          <p:cNvSpPr/>
          <p:nvPr/>
        </p:nvSpPr>
        <p:spPr>
          <a:xfrm>
            <a:off x="1555750" y="4603750"/>
            <a:ext cx="9461500" cy="635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4500" y="4489450"/>
            <a:ext cx="1016000" cy="273050"/>
          </a:xfrm>
          <a:prstGeom prst="rect">
            <a:avLst/>
          </a:prstGeom>
          <a:noFill/>
        </p:spPr>
        <p:txBody>
          <a:bodyPr wrap="square" lIns="0" tIns="0" rIns="0" bIns="0">
            <a:spAutoFit/>
          </a:bodyPr>
          <a:lstStyle/>
          <a:p>
            <a:pPr algn="r">
              <a:lnSpc>
                <a:spcPct val="112000"/>
              </a:lnSpc>
              <a:spcBef>
                <a:spcPts val="0"/>
              </a:spcBef>
              <a:spcAft>
                <a:spcPts val="0"/>
              </a:spcAft>
              <a:defRPr sz="1300" b="0">
                <a:solidFill>
                  <a:srgbClr val="B8CEFF"/>
                </a:solidFill>
                <a:latin typeface="Manrope"/>
              </a:defRPr>
            </a:pPr>
            <a:r>
              <a:t>25,000</a:t>
            </a:r>
          </a:p>
        </p:txBody>
      </p:sp>
      <p:sp>
        <p:nvSpPr>
          <p:cNvPr id="13" name="Rectangle 12"/>
          <p:cNvSpPr/>
          <p:nvPr/>
        </p:nvSpPr>
        <p:spPr>
          <a:xfrm>
            <a:off x="1555750" y="3968750"/>
            <a:ext cx="9461500" cy="635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4500" y="3854450"/>
            <a:ext cx="1016000" cy="273050"/>
          </a:xfrm>
          <a:prstGeom prst="rect">
            <a:avLst/>
          </a:prstGeom>
          <a:noFill/>
        </p:spPr>
        <p:txBody>
          <a:bodyPr wrap="square" lIns="0" tIns="0" rIns="0" bIns="0">
            <a:spAutoFit/>
          </a:bodyPr>
          <a:lstStyle/>
          <a:p>
            <a:pPr algn="r">
              <a:lnSpc>
                <a:spcPct val="112000"/>
              </a:lnSpc>
              <a:spcBef>
                <a:spcPts val="0"/>
              </a:spcBef>
              <a:spcAft>
                <a:spcPts val="0"/>
              </a:spcAft>
              <a:defRPr sz="1300" b="0">
                <a:solidFill>
                  <a:srgbClr val="B8CEFF"/>
                </a:solidFill>
                <a:latin typeface="Manrope"/>
              </a:defRPr>
            </a:pPr>
            <a:r>
              <a:t>50,000</a:t>
            </a:r>
          </a:p>
        </p:txBody>
      </p:sp>
      <p:sp>
        <p:nvSpPr>
          <p:cNvPr id="15" name="Rectangle 14"/>
          <p:cNvSpPr/>
          <p:nvPr/>
        </p:nvSpPr>
        <p:spPr>
          <a:xfrm>
            <a:off x="1555750" y="3333750"/>
            <a:ext cx="9461500" cy="635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4500" y="3219450"/>
            <a:ext cx="1016000" cy="273050"/>
          </a:xfrm>
          <a:prstGeom prst="rect">
            <a:avLst/>
          </a:prstGeom>
          <a:noFill/>
        </p:spPr>
        <p:txBody>
          <a:bodyPr wrap="square" lIns="0" tIns="0" rIns="0" bIns="0">
            <a:spAutoFit/>
          </a:bodyPr>
          <a:lstStyle/>
          <a:p>
            <a:pPr algn="r">
              <a:lnSpc>
                <a:spcPct val="112000"/>
              </a:lnSpc>
              <a:spcBef>
                <a:spcPts val="0"/>
              </a:spcBef>
              <a:spcAft>
                <a:spcPts val="0"/>
              </a:spcAft>
              <a:defRPr sz="1300" b="0">
                <a:solidFill>
                  <a:srgbClr val="B8CEFF"/>
                </a:solidFill>
                <a:latin typeface="Manrope"/>
              </a:defRPr>
            </a:pPr>
            <a:r>
              <a:t>75,000</a:t>
            </a:r>
          </a:p>
        </p:txBody>
      </p:sp>
      <p:sp>
        <p:nvSpPr>
          <p:cNvPr id="17" name="Rectangle 16"/>
          <p:cNvSpPr/>
          <p:nvPr/>
        </p:nvSpPr>
        <p:spPr>
          <a:xfrm>
            <a:off x="1555750" y="2698750"/>
            <a:ext cx="9461500" cy="635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4500" y="2584450"/>
            <a:ext cx="1016000" cy="273050"/>
          </a:xfrm>
          <a:prstGeom prst="rect">
            <a:avLst/>
          </a:prstGeom>
          <a:noFill/>
        </p:spPr>
        <p:txBody>
          <a:bodyPr wrap="square" lIns="0" tIns="0" rIns="0" bIns="0">
            <a:spAutoFit/>
          </a:bodyPr>
          <a:lstStyle/>
          <a:p>
            <a:pPr algn="r">
              <a:lnSpc>
                <a:spcPct val="112000"/>
              </a:lnSpc>
              <a:spcBef>
                <a:spcPts val="0"/>
              </a:spcBef>
              <a:spcAft>
                <a:spcPts val="0"/>
              </a:spcAft>
              <a:defRPr sz="1300" b="0">
                <a:solidFill>
                  <a:srgbClr val="B8CEFF"/>
                </a:solidFill>
                <a:latin typeface="Manrope"/>
              </a:defRPr>
            </a:pPr>
            <a:r>
              <a:t>100,000</a:t>
            </a:r>
          </a:p>
        </p:txBody>
      </p:sp>
      <p:sp>
        <p:nvSpPr>
          <p:cNvPr id="19" name="Rectangle 18"/>
          <p:cNvSpPr/>
          <p:nvPr/>
        </p:nvSpPr>
        <p:spPr>
          <a:xfrm>
            <a:off x="2413000" y="2698750"/>
            <a:ext cx="1492250" cy="2540000"/>
          </a:xfrm>
          <a:prstGeom prst="rect">
            <a:avLst/>
          </a:prstGeom>
          <a:solidFill>
            <a:srgbClr val="B8C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273300" y="2241550"/>
            <a:ext cx="1778000" cy="425450"/>
          </a:xfrm>
          <a:prstGeom prst="rect">
            <a:avLst/>
          </a:prstGeom>
          <a:noFill/>
        </p:spPr>
        <p:txBody>
          <a:bodyPr wrap="square" lIns="0" tIns="0" rIns="0" bIns="0">
            <a:spAutoFit/>
          </a:bodyPr>
          <a:lstStyle/>
          <a:p>
            <a:pPr algn="ctr">
              <a:lnSpc>
                <a:spcPct val="112000"/>
              </a:lnSpc>
              <a:spcBef>
                <a:spcPts val="0"/>
              </a:spcBef>
              <a:spcAft>
                <a:spcPts val="0"/>
              </a:spcAft>
              <a:defRPr sz="2400" b="1">
                <a:solidFill>
                  <a:srgbClr val="FFFFFF"/>
                </a:solidFill>
                <a:latin typeface="Manrope"/>
              </a:defRPr>
            </a:pPr>
            <a:r>
              <a:t>100,000</a:t>
            </a:r>
          </a:p>
        </p:txBody>
      </p:sp>
      <p:sp>
        <p:nvSpPr>
          <p:cNvPr id="21" name="TextBox 20"/>
          <p:cNvSpPr txBox="1"/>
          <p:nvPr/>
        </p:nvSpPr>
        <p:spPr>
          <a:xfrm>
            <a:off x="1809750" y="5511800"/>
            <a:ext cx="2730500" cy="368300"/>
          </a:xfrm>
          <a:prstGeom prst="rect">
            <a:avLst/>
          </a:prstGeom>
          <a:noFill/>
        </p:spPr>
        <p:txBody>
          <a:bodyPr wrap="square" lIns="0" tIns="0" rIns="0" bIns="0">
            <a:spAutoFit/>
          </a:bodyPr>
          <a:lstStyle/>
          <a:p>
            <a:pPr algn="ctr">
              <a:lnSpc>
                <a:spcPct val="112000"/>
              </a:lnSpc>
              <a:spcBef>
                <a:spcPts val="0"/>
              </a:spcBef>
              <a:spcAft>
                <a:spcPts val="0"/>
              </a:spcAft>
              <a:defRPr sz="1650" b="1">
                <a:solidFill>
                  <a:srgbClr val="FFFFFF"/>
                </a:solidFill>
                <a:latin typeface="Manrope"/>
              </a:defRPr>
            </a:pPr>
            <a:r>
              <a:t>Dinger Standard</a:t>
            </a:r>
          </a:p>
        </p:txBody>
      </p:sp>
      <p:sp>
        <p:nvSpPr>
          <p:cNvPr id="22" name="TextBox 21"/>
          <p:cNvSpPr txBox="1"/>
          <p:nvPr/>
        </p:nvSpPr>
        <p:spPr>
          <a:xfrm>
            <a:off x="1714500" y="5899150"/>
            <a:ext cx="2921000" cy="285750"/>
          </a:xfrm>
          <a:prstGeom prst="rect">
            <a:avLst/>
          </a:prstGeom>
          <a:noFill/>
        </p:spPr>
        <p:txBody>
          <a:bodyPr wrap="square" lIns="0" tIns="0" rIns="0" bIns="0">
            <a:spAutoFit/>
          </a:bodyPr>
          <a:lstStyle/>
          <a:p>
            <a:pPr algn="ctr">
              <a:lnSpc>
                <a:spcPct val="112000"/>
              </a:lnSpc>
              <a:spcBef>
                <a:spcPts val="0"/>
              </a:spcBef>
              <a:spcAft>
                <a:spcPts val="0"/>
              </a:spcAft>
              <a:defRPr sz="1200" b="0">
                <a:solidFill>
                  <a:srgbClr val="B8CEFF"/>
                </a:solidFill>
                <a:latin typeface="Manrope"/>
              </a:defRPr>
            </a:pPr>
            <a:r>
              <a:t>Published monthly plan</a:t>
            </a:r>
          </a:p>
        </p:txBody>
      </p:sp>
      <p:sp>
        <p:nvSpPr>
          <p:cNvPr id="23" name="Rectangle 22"/>
          <p:cNvSpPr/>
          <p:nvPr/>
        </p:nvSpPr>
        <p:spPr>
          <a:xfrm>
            <a:off x="5651500" y="5194300"/>
            <a:ext cx="1492250" cy="44450"/>
          </a:xfrm>
          <a:prstGeom prst="rect">
            <a:avLst/>
          </a:prstGeom>
          <a:solidFill>
            <a:srgbClr val="B8C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511800" y="4737100"/>
            <a:ext cx="1778000" cy="425450"/>
          </a:xfrm>
          <a:prstGeom prst="rect">
            <a:avLst/>
          </a:prstGeom>
          <a:noFill/>
        </p:spPr>
        <p:txBody>
          <a:bodyPr wrap="square" lIns="0" tIns="0" rIns="0" bIns="0">
            <a:spAutoFit/>
          </a:bodyPr>
          <a:lstStyle/>
          <a:p>
            <a:pPr algn="ctr">
              <a:lnSpc>
                <a:spcPct val="112000"/>
              </a:lnSpc>
              <a:spcBef>
                <a:spcPts val="0"/>
              </a:spcBef>
              <a:spcAft>
                <a:spcPts val="0"/>
              </a:spcAft>
              <a:defRPr sz="2400" b="1">
                <a:solidFill>
                  <a:srgbClr val="FFFFFF"/>
                </a:solidFill>
                <a:latin typeface="Manrope"/>
              </a:defRPr>
            </a:pPr>
            <a:r>
              <a:t>0</a:t>
            </a:r>
          </a:p>
        </p:txBody>
      </p:sp>
      <p:sp>
        <p:nvSpPr>
          <p:cNvPr id="25" name="TextBox 24"/>
          <p:cNvSpPr txBox="1"/>
          <p:nvPr/>
        </p:nvSpPr>
        <p:spPr>
          <a:xfrm>
            <a:off x="5048250" y="5511800"/>
            <a:ext cx="2730500" cy="368300"/>
          </a:xfrm>
          <a:prstGeom prst="rect">
            <a:avLst/>
          </a:prstGeom>
          <a:noFill/>
        </p:spPr>
        <p:txBody>
          <a:bodyPr wrap="square" lIns="0" tIns="0" rIns="0" bIns="0">
            <a:spAutoFit/>
          </a:bodyPr>
          <a:lstStyle/>
          <a:p>
            <a:pPr algn="ctr">
              <a:lnSpc>
                <a:spcPct val="112000"/>
              </a:lnSpc>
              <a:spcBef>
                <a:spcPts val="0"/>
              </a:spcBef>
              <a:spcAft>
                <a:spcPts val="0"/>
              </a:spcAft>
              <a:defRPr sz="1650" b="1">
                <a:solidFill>
                  <a:srgbClr val="FFFFFF"/>
                </a:solidFill>
                <a:latin typeface="Manrope"/>
              </a:defRPr>
            </a:pPr>
            <a:r>
              <a:t>MyanMyanPay</a:t>
            </a:r>
          </a:p>
        </p:txBody>
      </p:sp>
      <p:sp>
        <p:nvSpPr>
          <p:cNvPr id="26" name="TextBox 25"/>
          <p:cNvSpPr txBox="1"/>
          <p:nvPr/>
        </p:nvSpPr>
        <p:spPr>
          <a:xfrm>
            <a:off x="4953000" y="5899150"/>
            <a:ext cx="2921000" cy="285750"/>
          </a:xfrm>
          <a:prstGeom prst="rect">
            <a:avLst/>
          </a:prstGeom>
          <a:noFill/>
        </p:spPr>
        <p:txBody>
          <a:bodyPr wrap="square" lIns="0" tIns="0" rIns="0" bIns="0">
            <a:spAutoFit/>
          </a:bodyPr>
          <a:lstStyle/>
          <a:p>
            <a:pPr algn="ctr">
              <a:lnSpc>
                <a:spcPct val="112000"/>
              </a:lnSpc>
              <a:spcBef>
                <a:spcPts val="0"/>
              </a:spcBef>
              <a:spcAft>
                <a:spcPts val="0"/>
              </a:spcAft>
              <a:defRPr sz="1200" b="0">
                <a:solidFill>
                  <a:srgbClr val="B8CEFF"/>
                </a:solidFill>
                <a:latin typeface="Manrope"/>
              </a:defRPr>
            </a:pPr>
            <a:r>
              <a:t>Annual fee currently waived</a:t>
            </a:r>
          </a:p>
        </p:txBody>
      </p:sp>
      <p:sp>
        <p:nvSpPr>
          <p:cNvPr id="27" name="Rectangle 26"/>
          <p:cNvSpPr/>
          <p:nvPr/>
        </p:nvSpPr>
        <p:spPr>
          <a:xfrm>
            <a:off x="8890000" y="5194300"/>
            <a:ext cx="1492250" cy="44450"/>
          </a:xfrm>
          <a:prstGeom prst="rect">
            <a:avLst/>
          </a:prstGeom>
          <a:solidFill>
            <a:srgbClr val="B8C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750300" y="4737100"/>
            <a:ext cx="1778000" cy="425450"/>
          </a:xfrm>
          <a:prstGeom prst="rect">
            <a:avLst/>
          </a:prstGeom>
          <a:noFill/>
        </p:spPr>
        <p:txBody>
          <a:bodyPr wrap="square" lIns="0" tIns="0" rIns="0" bIns="0">
            <a:spAutoFit/>
          </a:bodyPr>
          <a:lstStyle/>
          <a:p>
            <a:pPr algn="ctr">
              <a:lnSpc>
                <a:spcPct val="112000"/>
              </a:lnSpc>
              <a:spcBef>
                <a:spcPts val="0"/>
              </a:spcBef>
              <a:spcAft>
                <a:spcPts val="0"/>
              </a:spcAft>
              <a:defRPr sz="2400" b="1">
                <a:solidFill>
                  <a:srgbClr val="FFFFFF"/>
                </a:solidFill>
                <a:latin typeface="Manrope"/>
              </a:defRPr>
            </a:pPr>
            <a:r>
              <a:t>0</a:t>
            </a:r>
          </a:p>
        </p:txBody>
      </p:sp>
      <p:sp>
        <p:nvSpPr>
          <p:cNvPr id="29" name="TextBox 28"/>
          <p:cNvSpPr txBox="1"/>
          <p:nvPr/>
        </p:nvSpPr>
        <p:spPr>
          <a:xfrm>
            <a:off x="8286750" y="5511800"/>
            <a:ext cx="2730500" cy="368300"/>
          </a:xfrm>
          <a:prstGeom prst="rect">
            <a:avLst/>
          </a:prstGeom>
          <a:noFill/>
        </p:spPr>
        <p:txBody>
          <a:bodyPr wrap="square" lIns="0" tIns="0" rIns="0" bIns="0">
            <a:spAutoFit/>
          </a:bodyPr>
          <a:lstStyle/>
          <a:p>
            <a:pPr algn="ctr">
              <a:lnSpc>
                <a:spcPct val="112000"/>
              </a:lnSpc>
              <a:spcBef>
                <a:spcPts val="0"/>
              </a:spcBef>
              <a:spcAft>
                <a:spcPts val="0"/>
              </a:spcAft>
              <a:defRPr sz="1650" b="1">
                <a:solidFill>
                  <a:srgbClr val="FFFFFF"/>
                </a:solidFill>
                <a:latin typeface="Manrope"/>
              </a:defRPr>
            </a:pPr>
            <a:r>
              <a:t>FOM proposal</a:t>
            </a:r>
          </a:p>
        </p:txBody>
      </p:sp>
      <p:sp>
        <p:nvSpPr>
          <p:cNvPr id="30" name="TextBox 29"/>
          <p:cNvSpPr txBox="1"/>
          <p:nvPr/>
        </p:nvSpPr>
        <p:spPr>
          <a:xfrm>
            <a:off x="8191500" y="5899150"/>
            <a:ext cx="2921000" cy="285750"/>
          </a:xfrm>
          <a:prstGeom prst="rect">
            <a:avLst/>
          </a:prstGeom>
          <a:noFill/>
        </p:spPr>
        <p:txBody>
          <a:bodyPr wrap="square" lIns="0" tIns="0" rIns="0" bIns="0">
            <a:spAutoFit/>
          </a:bodyPr>
          <a:lstStyle/>
          <a:p>
            <a:pPr algn="ctr">
              <a:lnSpc>
                <a:spcPct val="112000"/>
              </a:lnSpc>
              <a:spcBef>
                <a:spcPts val="0"/>
              </a:spcBef>
              <a:spcAft>
                <a:spcPts val="0"/>
              </a:spcAft>
              <a:defRPr sz="1200" b="0">
                <a:solidFill>
                  <a:srgbClr val="B8CEFF"/>
                </a:solidFill>
                <a:latin typeface="Manrope"/>
              </a:defRPr>
            </a:pPr>
            <a:r>
              <a:t>No monthly subscription</a:t>
            </a:r>
          </a:p>
        </p:txBody>
      </p:sp>
      <p:sp>
        <p:nvSpPr>
          <p:cNvPr id="31" name="TextBox 30"/>
          <p:cNvSpPr txBox="1"/>
          <p:nvPr/>
        </p:nvSpPr>
        <p:spPr>
          <a:xfrm>
            <a:off x="406400" y="1905000"/>
            <a:ext cx="11366500" cy="285750"/>
          </a:xfrm>
          <a:prstGeom prst="rect">
            <a:avLst/>
          </a:prstGeom>
          <a:noFill/>
        </p:spPr>
        <p:txBody>
          <a:bodyPr wrap="square" lIns="0" tIns="0" rIns="0" bIns="0">
            <a:spAutoFit/>
          </a:bodyPr>
          <a:lstStyle/>
          <a:p>
            <a:pPr algn="l">
              <a:lnSpc>
                <a:spcPct val="112000"/>
              </a:lnSpc>
              <a:spcBef>
                <a:spcPts val="0"/>
              </a:spcBef>
              <a:spcAft>
                <a:spcPts val="0"/>
              </a:spcAft>
              <a:defRPr sz="1200" b="0">
                <a:solidFill>
                  <a:srgbClr val="B8CEFF"/>
                </a:solidFill>
                <a:latin typeface="Manrope"/>
              </a:defRPr>
            </a:pPr>
            <a:r>
              <a:t>Fixed charges only; transaction fees excluded. MMP annual fee waived through 2026. FOM is a proposal.</a:t>
            </a:r>
          </a:p>
        </p:txBody>
      </p:sp>
    </p:spTree>
  </p:cSld>
  <p:clrMapOvr>
    <a:masterClrMapping/>
  </p:clrMapOvr>
  <p:transition advClick="0" advTm="12000"/>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pic>
        <p:nvPicPr>
          <p:cNvPr id="2" name="Picture 1" descr="elephant-ball-logo.png"/>
          <p:cNvPicPr>
            <a:picLocks noChangeAspect="1"/>
          </p:cNvPicPr>
          <p:nvPr/>
        </p:nvPicPr>
        <p:blipFill>
          <a:blip r:embed="rId3"/>
          <a:stretch>
            <a:fillRect/>
          </a:stretch>
        </p:blipFill>
        <p:spPr>
          <a:xfrm>
            <a:off x="406400" y="273050"/>
            <a:ext cx="406400" cy="406400"/>
          </a:xfrm>
          <a:prstGeom prst="rect">
            <a:avLst/>
          </a:prstGeom>
        </p:spPr>
      </p:pic>
      <p:sp>
        <p:nvSpPr>
          <p:cNvPr id="3" name="TextBox 2"/>
          <p:cNvSpPr txBox="1"/>
          <p:nvPr/>
        </p:nvSpPr>
        <p:spPr>
          <a:xfrm>
            <a:off x="889000" y="304800"/>
            <a:ext cx="1587500" cy="444500"/>
          </a:xfrm>
          <a:prstGeom prst="rect">
            <a:avLst/>
          </a:prstGeom>
          <a:noFill/>
        </p:spPr>
        <p:txBody>
          <a:bodyPr wrap="square" lIns="0" tIns="0" rIns="0" bIns="0">
            <a:spAutoFit/>
          </a:bodyPr>
          <a:lstStyle/>
          <a:p>
            <a:pPr algn="l">
              <a:lnSpc>
                <a:spcPct val="112000"/>
              </a:lnSpc>
              <a:spcBef>
                <a:spcPts val="0"/>
              </a:spcBef>
              <a:spcAft>
                <a:spcPts val="0"/>
              </a:spcAft>
              <a:defRPr sz="2400" b="1">
                <a:solidFill>
                  <a:srgbClr val="476BC5"/>
                </a:solidFill>
                <a:latin typeface="Manrope"/>
              </a:defRPr>
            </a:pPr>
            <a:r>
              <a:t>fom.</a:t>
            </a:r>
          </a:p>
        </p:txBody>
      </p:sp>
      <p:sp>
        <p:nvSpPr>
          <p:cNvPr id="4" name="TextBox 3"/>
          <p:cNvSpPr txBox="1"/>
          <p:nvPr/>
        </p:nvSpPr>
        <p:spPr>
          <a:xfrm>
            <a:off x="4699000" y="412750"/>
            <a:ext cx="7048500" cy="285750"/>
          </a:xfrm>
          <a:prstGeom prst="rect">
            <a:avLst/>
          </a:prstGeom>
          <a:noFill/>
        </p:spPr>
        <p:txBody>
          <a:bodyPr wrap="square" lIns="0" tIns="0" rIns="0" bIns="0">
            <a:spAutoFit/>
          </a:bodyPr>
          <a:lstStyle/>
          <a:p>
            <a:pPr algn="r">
              <a:lnSpc>
                <a:spcPct val="112000"/>
              </a:lnSpc>
              <a:spcBef>
                <a:spcPts val="0"/>
              </a:spcBef>
              <a:spcAft>
                <a:spcPts val="0"/>
              </a:spcAft>
              <a:defRPr sz="1200" b="0">
                <a:solidFill>
                  <a:srgbClr val="748198"/>
                </a:solidFill>
                <a:latin typeface="Manrope"/>
              </a:defRPr>
            </a:pPr>
            <a:r>
              <a:t>BUSINESS MODEL CANVAS · PROPOSED OPERATING MODEL</a:t>
            </a:r>
          </a:p>
        </p:txBody>
      </p:sp>
      <p:sp>
        <p:nvSpPr>
          <p:cNvPr id="5" name="Rectangle 4"/>
          <p:cNvSpPr/>
          <p:nvPr/>
        </p:nvSpPr>
        <p:spPr>
          <a:xfrm>
            <a:off x="406400" y="6445250"/>
            <a:ext cx="11379200" cy="6350"/>
          </a:xfrm>
          <a:prstGeom prst="rect">
            <a:avLst/>
          </a:prstGeom>
          <a:solidFill>
            <a:srgbClr val="CC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553200"/>
            <a:ext cx="9525000" cy="215900"/>
          </a:xfrm>
          <a:prstGeom prst="rect">
            <a:avLst/>
          </a:prstGeom>
          <a:noFill/>
        </p:spPr>
        <p:txBody>
          <a:bodyPr wrap="square" lIns="0" tIns="0" rIns="0" bIns="0">
            <a:spAutoFit/>
          </a:bodyPr>
          <a:lstStyle/>
          <a:p>
            <a:pPr algn="l">
              <a:lnSpc>
                <a:spcPct val="112000"/>
              </a:lnSpc>
              <a:spcBef>
                <a:spcPts val="0"/>
              </a:spcBef>
              <a:spcAft>
                <a:spcPts val="0"/>
              </a:spcAft>
              <a:defRPr sz="1100" b="0">
                <a:solidFill>
                  <a:srgbClr val="748198"/>
                </a:solidFill>
                <a:latin typeface="Manrope"/>
              </a:defRPr>
            </a:pPr>
            <a:r>
              <a:t>FOM / FUTURE OF MYANMAR</a:t>
            </a:r>
          </a:p>
        </p:txBody>
      </p:sp>
      <p:sp>
        <p:nvSpPr>
          <p:cNvPr id="7" name="TextBox 6"/>
          <p:cNvSpPr txBox="1"/>
          <p:nvPr/>
        </p:nvSpPr>
        <p:spPr>
          <a:xfrm>
            <a:off x="11176000" y="6527800"/>
            <a:ext cx="609600" cy="254000"/>
          </a:xfrm>
          <a:prstGeom prst="rect">
            <a:avLst/>
          </a:prstGeom>
          <a:noFill/>
        </p:spPr>
        <p:txBody>
          <a:bodyPr wrap="square" lIns="0" tIns="0" rIns="0" bIns="0">
            <a:spAutoFit/>
          </a:bodyPr>
          <a:lstStyle/>
          <a:p>
            <a:pPr algn="r">
              <a:lnSpc>
                <a:spcPct val="112000"/>
              </a:lnSpc>
              <a:spcBef>
                <a:spcPts val="0"/>
              </a:spcBef>
              <a:spcAft>
                <a:spcPts val="0"/>
              </a:spcAft>
              <a:defRPr sz="1300" b="1">
                <a:solidFill>
                  <a:srgbClr val="476BC5"/>
                </a:solidFill>
                <a:latin typeface="Manrope"/>
              </a:defRPr>
            </a:pPr>
            <a:r>
              <a:t>10</a:t>
            </a:r>
          </a:p>
        </p:txBody>
      </p:sp>
      <p:sp>
        <p:nvSpPr>
          <p:cNvPr id="8" name="TextBox 7"/>
          <p:cNvSpPr txBox="1"/>
          <p:nvPr/>
        </p:nvSpPr>
        <p:spPr>
          <a:xfrm>
            <a:off x="406400" y="1016000"/>
            <a:ext cx="11430000" cy="685800"/>
          </a:xfrm>
          <a:prstGeom prst="rect">
            <a:avLst/>
          </a:prstGeom>
          <a:noFill/>
        </p:spPr>
        <p:txBody>
          <a:bodyPr wrap="square" lIns="0" tIns="0" rIns="0" bIns="0">
            <a:spAutoFit/>
          </a:bodyPr>
          <a:lstStyle/>
          <a:p>
            <a:pPr algn="l">
              <a:lnSpc>
                <a:spcPct val="112000"/>
              </a:lnSpc>
              <a:spcBef>
                <a:spcPts val="0"/>
              </a:spcBef>
              <a:spcAft>
                <a:spcPts val="0"/>
              </a:spcAft>
              <a:defRPr sz="3600" b="1">
                <a:solidFill>
                  <a:srgbClr val="23334D"/>
                </a:solidFill>
                <a:latin typeface="Manrope"/>
              </a:defRPr>
            </a:pPr>
            <a:r>
              <a:t>How FOM creates and captures value.</a:t>
            </a:r>
          </a:p>
        </p:txBody>
      </p:sp>
      <p:sp>
        <p:nvSpPr>
          <p:cNvPr id="9" name="Rectangle 8"/>
          <p:cNvSpPr/>
          <p:nvPr/>
        </p:nvSpPr>
        <p:spPr>
          <a:xfrm>
            <a:off x="406400" y="1936749"/>
            <a:ext cx="2250439" cy="28638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0700" y="2063750"/>
            <a:ext cx="2047240" cy="355600"/>
          </a:xfrm>
          <a:prstGeom prst="rect">
            <a:avLst/>
          </a:prstGeom>
          <a:noFill/>
        </p:spPr>
        <p:txBody>
          <a:bodyPr wrap="square" lIns="0" tIns="0" rIns="0" bIns="0">
            <a:spAutoFit/>
          </a:bodyPr>
          <a:lstStyle/>
          <a:p>
            <a:pPr algn="l">
              <a:lnSpc>
                <a:spcPct val="112000"/>
              </a:lnSpc>
              <a:spcBef>
                <a:spcPts val="0"/>
              </a:spcBef>
              <a:spcAft>
                <a:spcPts val="0"/>
              </a:spcAft>
              <a:defRPr sz="1250" b="1">
                <a:solidFill>
                  <a:srgbClr val="476BC5"/>
                </a:solidFill>
                <a:latin typeface="Manrope"/>
              </a:defRPr>
            </a:pPr>
            <a:r>
              <a:t>KEY PARTNERS</a:t>
            </a:r>
          </a:p>
        </p:txBody>
      </p:sp>
      <p:sp>
        <p:nvSpPr>
          <p:cNvPr id="11" name="TextBox 10"/>
          <p:cNvSpPr txBox="1"/>
          <p:nvPr/>
        </p:nvSpPr>
        <p:spPr>
          <a:xfrm>
            <a:off x="520700" y="2514600"/>
            <a:ext cx="2047240" cy="2241550"/>
          </a:xfrm>
          <a:prstGeom prst="rect">
            <a:avLst/>
          </a:prstGeom>
          <a:noFill/>
        </p:spPr>
        <p:txBody>
          <a:bodyPr wrap="square" lIns="0" tIns="0" rIns="0" bIns="0">
            <a:spAutoFit/>
          </a:bodyPr>
          <a:lstStyle/>
          <a:p>
            <a:pPr algn="l">
              <a:lnSpc>
                <a:spcPct val="112000"/>
              </a:lnSpc>
              <a:spcBef>
                <a:spcPts val="0"/>
              </a:spcBef>
              <a:spcAft>
                <a:spcPts val="0"/>
              </a:spcAft>
              <a:defRPr sz="1400" b="0">
                <a:solidFill>
                  <a:srgbClr val="23334D"/>
                </a:solidFill>
                <a:latin typeface="Manrope"/>
              </a:defRPr>
            </a:pPr>
            <a:r>
              <a:t>Needed:</a:t>
            </a:r>
          </a:p>
          <a:p>
            <a:pPr algn="l">
              <a:lnSpc>
                <a:spcPct val="112000"/>
              </a:lnSpc>
              <a:spcBef>
                <a:spcPts val="0"/>
              </a:spcBef>
              <a:spcAft>
                <a:spcPts val="0"/>
              </a:spcAft>
              <a:defRPr sz="1400" b="0">
                <a:solidFill>
                  <a:srgbClr val="23334D"/>
                </a:solidFill>
                <a:latin typeface="Manrope"/>
              </a:defRPr>
            </a:pPr>
            <a:r>
              <a:t>Approved payment partner</a:t>
            </a:r>
          </a:p>
          <a:p>
            <a:pPr algn="l">
              <a:lnSpc>
                <a:spcPct val="112000"/>
              </a:lnSpc>
              <a:spcBef>
                <a:spcPts val="0"/>
              </a:spcBef>
              <a:spcAft>
                <a:spcPts val="0"/>
              </a:spcAft>
              <a:defRPr sz="1400" b="0">
                <a:solidFill>
                  <a:srgbClr val="23334D"/>
                </a:solidFill>
                <a:latin typeface="Manrope"/>
              </a:defRPr>
            </a:pPr>
            <a:endParaRPr/>
          </a:p>
          <a:p>
            <a:pPr algn="l">
              <a:lnSpc>
                <a:spcPct val="112000"/>
              </a:lnSpc>
              <a:spcBef>
                <a:spcPts val="0"/>
              </a:spcBef>
              <a:spcAft>
                <a:spcPts val="0"/>
              </a:spcAft>
              <a:defRPr sz="1400" b="0">
                <a:solidFill>
                  <a:srgbClr val="23334D"/>
                </a:solidFill>
                <a:latin typeface="Manrope"/>
              </a:defRPr>
            </a:pPr>
            <a:r>
              <a:t>Phase 2:</a:t>
            </a:r>
          </a:p>
          <a:p>
            <a:pPr algn="l">
              <a:lnSpc>
                <a:spcPct val="112000"/>
              </a:lnSpc>
              <a:spcBef>
                <a:spcPts val="0"/>
              </a:spcBef>
              <a:spcAft>
                <a:spcPts val="0"/>
              </a:spcAft>
              <a:defRPr sz="1400" b="0">
                <a:solidFill>
                  <a:srgbClr val="23334D"/>
                </a:solidFill>
                <a:latin typeface="Manrope"/>
              </a:defRPr>
            </a:pPr>
            <a:r>
              <a:t>Delivery partners</a:t>
            </a:r>
          </a:p>
        </p:txBody>
      </p:sp>
      <p:sp>
        <p:nvSpPr>
          <p:cNvPr id="12" name="Rectangle 11"/>
          <p:cNvSpPr/>
          <p:nvPr/>
        </p:nvSpPr>
        <p:spPr>
          <a:xfrm>
            <a:off x="2682240" y="1936749"/>
            <a:ext cx="2250439" cy="1419225"/>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96540" y="2063750"/>
            <a:ext cx="2047240" cy="355600"/>
          </a:xfrm>
          <a:prstGeom prst="rect">
            <a:avLst/>
          </a:prstGeom>
          <a:noFill/>
        </p:spPr>
        <p:txBody>
          <a:bodyPr wrap="square" lIns="0" tIns="0" rIns="0" bIns="0">
            <a:spAutoFit/>
          </a:bodyPr>
          <a:lstStyle/>
          <a:p>
            <a:pPr algn="l">
              <a:lnSpc>
                <a:spcPct val="112000"/>
              </a:lnSpc>
              <a:spcBef>
                <a:spcPts val="0"/>
              </a:spcBef>
              <a:spcAft>
                <a:spcPts val="0"/>
              </a:spcAft>
              <a:defRPr sz="1250" b="1">
                <a:solidFill>
                  <a:srgbClr val="476BC5"/>
                </a:solidFill>
                <a:latin typeface="Manrope"/>
              </a:defRPr>
            </a:pPr>
            <a:r>
              <a:t>KEY ACTIVITIES</a:t>
            </a:r>
          </a:p>
        </p:txBody>
      </p:sp>
      <p:sp>
        <p:nvSpPr>
          <p:cNvPr id="14" name="TextBox 13"/>
          <p:cNvSpPr txBox="1"/>
          <p:nvPr/>
        </p:nvSpPr>
        <p:spPr>
          <a:xfrm>
            <a:off x="2796540" y="2514600"/>
            <a:ext cx="2047240" cy="796925"/>
          </a:xfrm>
          <a:prstGeom prst="rect">
            <a:avLst/>
          </a:prstGeom>
          <a:noFill/>
        </p:spPr>
        <p:txBody>
          <a:bodyPr wrap="square" lIns="0" tIns="0" rIns="0" bIns="0">
            <a:spAutoFit/>
          </a:bodyPr>
          <a:lstStyle/>
          <a:p>
            <a:pPr algn="l">
              <a:lnSpc>
                <a:spcPct val="112000"/>
              </a:lnSpc>
              <a:spcBef>
                <a:spcPts val="0"/>
              </a:spcBef>
              <a:spcAft>
                <a:spcPts val="0"/>
              </a:spcAft>
              <a:defRPr sz="1400" b="0">
                <a:solidFill>
                  <a:srgbClr val="23334D"/>
                </a:solidFill>
                <a:latin typeface="Manrope"/>
              </a:defRPr>
            </a:pPr>
            <a:r>
              <a:t>Guided deal flows</a:t>
            </a:r>
          </a:p>
          <a:p>
            <a:pPr algn="l">
              <a:lnSpc>
                <a:spcPct val="112000"/>
              </a:lnSpc>
              <a:spcBef>
                <a:spcPts val="0"/>
              </a:spcBef>
              <a:spcAft>
                <a:spcPts val="0"/>
              </a:spcAft>
              <a:defRPr sz="1400" b="0">
                <a:solidFill>
                  <a:srgbClr val="23334D"/>
                </a:solidFill>
                <a:latin typeface="Manrope"/>
              </a:defRPr>
            </a:pPr>
            <a:r>
              <a:t>Verification + exceptions</a:t>
            </a:r>
          </a:p>
          <a:p>
            <a:pPr algn="l">
              <a:lnSpc>
                <a:spcPct val="112000"/>
              </a:lnSpc>
              <a:spcBef>
                <a:spcPts val="0"/>
              </a:spcBef>
              <a:spcAft>
                <a:spcPts val="0"/>
              </a:spcAft>
              <a:defRPr sz="1400" b="0">
                <a:solidFill>
                  <a:srgbClr val="23334D"/>
                </a:solidFill>
                <a:latin typeface="Manrope"/>
              </a:defRPr>
            </a:pPr>
            <a:r>
              <a:t>Support and disputes</a:t>
            </a:r>
          </a:p>
        </p:txBody>
      </p:sp>
      <p:sp>
        <p:nvSpPr>
          <p:cNvPr id="15" name="Rectangle 14"/>
          <p:cNvSpPr/>
          <p:nvPr/>
        </p:nvSpPr>
        <p:spPr>
          <a:xfrm>
            <a:off x="2682240" y="3381375"/>
            <a:ext cx="2250439" cy="1419225"/>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96540" y="3508375"/>
            <a:ext cx="2047240" cy="355600"/>
          </a:xfrm>
          <a:prstGeom prst="rect">
            <a:avLst/>
          </a:prstGeom>
          <a:noFill/>
        </p:spPr>
        <p:txBody>
          <a:bodyPr wrap="square" lIns="0" tIns="0" rIns="0" bIns="0">
            <a:spAutoFit/>
          </a:bodyPr>
          <a:lstStyle/>
          <a:p>
            <a:pPr algn="l">
              <a:lnSpc>
                <a:spcPct val="112000"/>
              </a:lnSpc>
              <a:spcBef>
                <a:spcPts val="0"/>
              </a:spcBef>
              <a:spcAft>
                <a:spcPts val="0"/>
              </a:spcAft>
              <a:defRPr sz="1250" b="1">
                <a:solidFill>
                  <a:srgbClr val="476BC5"/>
                </a:solidFill>
                <a:latin typeface="Manrope"/>
              </a:defRPr>
            </a:pPr>
            <a:r>
              <a:t>KEY RESOURCES</a:t>
            </a:r>
          </a:p>
        </p:txBody>
      </p:sp>
      <p:sp>
        <p:nvSpPr>
          <p:cNvPr id="17" name="TextBox 16"/>
          <p:cNvSpPr txBox="1"/>
          <p:nvPr/>
        </p:nvSpPr>
        <p:spPr>
          <a:xfrm>
            <a:off x="2796540" y="3959224"/>
            <a:ext cx="2047240" cy="796925"/>
          </a:xfrm>
          <a:prstGeom prst="rect">
            <a:avLst/>
          </a:prstGeom>
          <a:noFill/>
        </p:spPr>
        <p:txBody>
          <a:bodyPr wrap="square" lIns="0" tIns="0" rIns="0" bIns="0">
            <a:spAutoFit/>
          </a:bodyPr>
          <a:lstStyle/>
          <a:p>
            <a:pPr algn="l">
              <a:lnSpc>
                <a:spcPct val="112000"/>
              </a:lnSpc>
              <a:spcBef>
                <a:spcPts val="0"/>
              </a:spcBef>
              <a:spcAft>
                <a:spcPts val="0"/>
              </a:spcAft>
              <a:defRPr sz="1400" b="0">
                <a:solidFill>
                  <a:srgbClr val="23334D"/>
                </a:solidFill>
                <a:latin typeface="Manrope"/>
              </a:defRPr>
            </a:pPr>
            <a:r>
              <a:t>Browser product</a:t>
            </a:r>
          </a:p>
          <a:p>
            <a:pPr algn="l">
              <a:lnSpc>
                <a:spcPct val="112000"/>
              </a:lnSpc>
              <a:spcBef>
                <a:spcPts val="0"/>
              </a:spcBef>
              <a:spcAft>
                <a:spcPts val="0"/>
              </a:spcAft>
              <a:defRPr sz="1400" b="0">
                <a:solidFill>
                  <a:srgbClr val="23334D"/>
                </a:solidFill>
                <a:latin typeface="Manrope"/>
              </a:defRPr>
            </a:pPr>
            <a:r>
              <a:t>Transaction evidence</a:t>
            </a:r>
          </a:p>
          <a:p>
            <a:pPr algn="l">
              <a:lnSpc>
                <a:spcPct val="112000"/>
              </a:lnSpc>
              <a:spcBef>
                <a:spcPts val="0"/>
              </a:spcBef>
              <a:spcAft>
                <a:spcPts val="0"/>
              </a:spcAft>
              <a:defRPr sz="1400" b="0">
                <a:solidFill>
                  <a:srgbClr val="23334D"/>
                </a:solidFill>
                <a:latin typeface="Manrope"/>
              </a:defRPr>
            </a:pPr>
            <a:r>
              <a:t>Partner rails + team</a:t>
            </a:r>
          </a:p>
        </p:txBody>
      </p:sp>
      <p:sp>
        <p:nvSpPr>
          <p:cNvPr id="18" name="Rectangle 17"/>
          <p:cNvSpPr/>
          <p:nvPr/>
        </p:nvSpPr>
        <p:spPr>
          <a:xfrm>
            <a:off x="4958079" y="1936749"/>
            <a:ext cx="2250439" cy="2863850"/>
          </a:xfrm>
          <a:prstGeom prst="rect">
            <a:avLst/>
          </a:prstGeom>
          <a:solidFill>
            <a:srgbClr val="B8C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72379" y="2063750"/>
            <a:ext cx="2047240" cy="355600"/>
          </a:xfrm>
          <a:prstGeom prst="rect">
            <a:avLst/>
          </a:prstGeom>
          <a:noFill/>
        </p:spPr>
        <p:txBody>
          <a:bodyPr wrap="square" lIns="0" tIns="0" rIns="0" bIns="0">
            <a:spAutoFit/>
          </a:bodyPr>
          <a:lstStyle/>
          <a:p>
            <a:pPr algn="l">
              <a:lnSpc>
                <a:spcPct val="112000"/>
              </a:lnSpc>
              <a:spcBef>
                <a:spcPts val="0"/>
              </a:spcBef>
              <a:spcAft>
                <a:spcPts val="0"/>
              </a:spcAft>
              <a:defRPr sz="1250" b="1">
                <a:solidFill>
                  <a:srgbClr val="476BC5"/>
                </a:solidFill>
                <a:latin typeface="Manrope"/>
              </a:defRPr>
            </a:pPr>
            <a:r>
              <a:t>VALUE PROPOSITION</a:t>
            </a:r>
          </a:p>
        </p:txBody>
      </p:sp>
      <p:sp>
        <p:nvSpPr>
          <p:cNvPr id="20" name="TextBox 19"/>
          <p:cNvSpPr txBox="1"/>
          <p:nvPr/>
        </p:nvSpPr>
        <p:spPr>
          <a:xfrm>
            <a:off x="5072379" y="2514600"/>
            <a:ext cx="2047240" cy="2241550"/>
          </a:xfrm>
          <a:prstGeom prst="rect">
            <a:avLst/>
          </a:prstGeom>
          <a:noFill/>
        </p:spPr>
        <p:txBody>
          <a:bodyPr wrap="square" lIns="0" tIns="0" rIns="0" bIns="0">
            <a:spAutoFit/>
          </a:bodyPr>
          <a:lstStyle/>
          <a:p>
            <a:pPr algn="l">
              <a:lnSpc>
                <a:spcPct val="112000"/>
              </a:lnSpc>
              <a:spcBef>
                <a:spcPts val="0"/>
              </a:spcBef>
              <a:spcAft>
                <a:spcPts val="0"/>
              </a:spcAft>
              <a:defRPr sz="1400" b="0">
                <a:solidFill>
                  <a:srgbClr val="23334D"/>
                </a:solidFill>
                <a:latin typeface="Manrope"/>
              </a:defRPr>
            </a:pPr>
            <a:r>
              <a:t>Easy to open and follow</a:t>
            </a:r>
          </a:p>
          <a:p>
            <a:pPr algn="l">
              <a:lnSpc>
                <a:spcPct val="112000"/>
              </a:lnSpc>
              <a:spcBef>
                <a:spcPts val="0"/>
              </a:spcBef>
              <a:spcAft>
                <a:spcPts val="0"/>
              </a:spcAft>
              <a:defRPr sz="1400" b="0">
                <a:solidFill>
                  <a:srgbClr val="23334D"/>
                </a:solidFill>
                <a:latin typeface="Manrope"/>
              </a:defRPr>
            </a:pPr>
            <a:endParaRPr/>
          </a:p>
          <a:p>
            <a:pPr algn="l">
              <a:lnSpc>
                <a:spcPct val="112000"/>
              </a:lnSpc>
              <a:spcBef>
                <a:spcPts val="0"/>
              </a:spcBef>
              <a:spcAft>
                <a:spcPts val="0"/>
              </a:spcAft>
              <a:defRPr sz="1400" b="0">
                <a:solidFill>
                  <a:srgbClr val="23334D"/>
                </a:solidFill>
                <a:latin typeface="Manrope"/>
              </a:defRPr>
            </a:pPr>
            <a:r>
              <a:t>Both sides see next steps</a:t>
            </a:r>
          </a:p>
          <a:p>
            <a:pPr algn="l">
              <a:lnSpc>
                <a:spcPct val="112000"/>
              </a:lnSpc>
              <a:spcBef>
                <a:spcPts val="0"/>
              </a:spcBef>
              <a:spcAft>
                <a:spcPts val="0"/>
              </a:spcAft>
              <a:defRPr sz="1400" b="0">
                <a:solidFill>
                  <a:srgbClr val="23334D"/>
                </a:solidFill>
                <a:latin typeface="Manrope"/>
              </a:defRPr>
            </a:pPr>
            <a:endParaRPr/>
          </a:p>
          <a:p>
            <a:pPr algn="l">
              <a:lnSpc>
                <a:spcPct val="112000"/>
              </a:lnSpc>
              <a:spcBef>
                <a:spcPts val="0"/>
              </a:spcBef>
              <a:spcAft>
                <a:spcPts val="0"/>
              </a:spcAft>
              <a:defRPr sz="1400" b="0">
                <a:solidFill>
                  <a:srgbClr val="23334D"/>
                </a:solidFill>
                <a:latin typeface="Manrope"/>
              </a:defRPr>
            </a:pPr>
            <a:r>
              <a:t>Planned partner-backed</a:t>
            </a:r>
          </a:p>
          <a:p>
            <a:pPr algn="l">
              <a:lnSpc>
                <a:spcPct val="112000"/>
              </a:lnSpc>
              <a:spcBef>
                <a:spcPts val="0"/>
              </a:spcBef>
              <a:spcAft>
                <a:spcPts val="0"/>
              </a:spcAft>
              <a:defRPr sz="1400" b="0">
                <a:solidFill>
                  <a:srgbClr val="23334D"/>
                </a:solidFill>
                <a:latin typeface="Manrope"/>
              </a:defRPr>
            </a:pPr>
            <a:r>
              <a:t>protected deals</a:t>
            </a:r>
          </a:p>
        </p:txBody>
      </p:sp>
      <p:sp>
        <p:nvSpPr>
          <p:cNvPr id="21" name="Rectangle 20"/>
          <p:cNvSpPr/>
          <p:nvPr/>
        </p:nvSpPr>
        <p:spPr>
          <a:xfrm>
            <a:off x="7233919" y="1936749"/>
            <a:ext cx="2250439" cy="1419225"/>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48219" y="2063750"/>
            <a:ext cx="2047240" cy="355600"/>
          </a:xfrm>
          <a:prstGeom prst="rect">
            <a:avLst/>
          </a:prstGeom>
          <a:noFill/>
        </p:spPr>
        <p:txBody>
          <a:bodyPr wrap="square" lIns="0" tIns="0" rIns="0" bIns="0">
            <a:spAutoFit/>
          </a:bodyPr>
          <a:lstStyle/>
          <a:p>
            <a:pPr algn="l">
              <a:lnSpc>
                <a:spcPct val="112000"/>
              </a:lnSpc>
              <a:spcBef>
                <a:spcPts val="0"/>
              </a:spcBef>
              <a:spcAft>
                <a:spcPts val="0"/>
              </a:spcAft>
              <a:defRPr sz="1250" b="1">
                <a:solidFill>
                  <a:srgbClr val="476BC5"/>
                </a:solidFill>
                <a:latin typeface="Manrope"/>
              </a:defRPr>
            </a:pPr>
            <a:r>
              <a:t>CUSTOMER RELATIONS</a:t>
            </a:r>
          </a:p>
        </p:txBody>
      </p:sp>
      <p:sp>
        <p:nvSpPr>
          <p:cNvPr id="23" name="TextBox 22"/>
          <p:cNvSpPr txBox="1"/>
          <p:nvPr/>
        </p:nvSpPr>
        <p:spPr>
          <a:xfrm>
            <a:off x="7348219" y="2514600"/>
            <a:ext cx="2047240" cy="796925"/>
          </a:xfrm>
          <a:prstGeom prst="rect">
            <a:avLst/>
          </a:prstGeom>
          <a:noFill/>
        </p:spPr>
        <p:txBody>
          <a:bodyPr wrap="square" lIns="0" tIns="0" rIns="0" bIns="0">
            <a:spAutoFit/>
          </a:bodyPr>
          <a:lstStyle/>
          <a:p>
            <a:pPr algn="l">
              <a:lnSpc>
                <a:spcPct val="112000"/>
              </a:lnSpc>
              <a:spcBef>
                <a:spcPts val="0"/>
              </a:spcBef>
              <a:spcAft>
                <a:spcPts val="0"/>
              </a:spcAft>
              <a:defRPr sz="1400" b="0">
                <a:solidFill>
                  <a:srgbClr val="23334D"/>
                </a:solidFill>
                <a:latin typeface="Manrope"/>
              </a:defRPr>
            </a:pPr>
            <a:r>
              <a:t>Self-service guidance</a:t>
            </a:r>
          </a:p>
          <a:p>
            <a:pPr algn="l">
              <a:lnSpc>
                <a:spcPct val="112000"/>
              </a:lnSpc>
              <a:spcBef>
                <a:spcPts val="0"/>
              </a:spcBef>
              <a:spcAft>
                <a:spcPts val="0"/>
              </a:spcAft>
              <a:defRPr sz="1400" b="0">
                <a:solidFill>
                  <a:srgbClr val="23334D"/>
                </a:solidFill>
                <a:latin typeface="Manrope"/>
              </a:defRPr>
            </a:pPr>
            <a:r>
              <a:t>Private saved history</a:t>
            </a:r>
          </a:p>
          <a:p>
            <a:pPr algn="l">
              <a:lnSpc>
                <a:spcPct val="112000"/>
              </a:lnSpc>
              <a:spcBef>
                <a:spcPts val="0"/>
              </a:spcBef>
              <a:spcAft>
                <a:spcPts val="0"/>
              </a:spcAft>
              <a:defRPr sz="1400" b="0">
                <a:solidFill>
                  <a:srgbClr val="23334D"/>
                </a:solidFill>
                <a:latin typeface="Manrope"/>
              </a:defRPr>
            </a:pPr>
            <a:r>
              <a:t>Reports + human help</a:t>
            </a:r>
          </a:p>
        </p:txBody>
      </p:sp>
      <p:sp>
        <p:nvSpPr>
          <p:cNvPr id="24" name="Rectangle 23"/>
          <p:cNvSpPr/>
          <p:nvPr/>
        </p:nvSpPr>
        <p:spPr>
          <a:xfrm>
            <a:off x="7233919" y="3381375"/>
            <a:ext cx="2250439" cy="1419225"/>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48219" y="3508375"/>
            <a:ext cx="2047240" cy="355600"/>
          </a:xfrm>
          <a:prstGeom prst="rect">
            <a:avLst/>
          </a:prstGeom>
          <a:noFill/>
        </p:spPr>
        <p:txBody>
          <a:bodyPr wrap="square" lIns="0" tIns="0" rIns="0" bIns="0">
            <a:spAutoFit/>
          </a:bodyPr>
          <a:lstStyle/>
          <a:p>
            <a:pPr algn="l">
              <a:lnSpc>
                <a:spcPct val="112000"/>
              </a:lnSpc>
              <a:spcBef>
                <a:spcPts val="0"/>
              </a:spcBef>
              <a:spcAft>
                <a:spcPts val="0"/>
              </a:spcAft>
              <a:defRPr sz="1250" b="1">
                <a:solidFill>
                  <a:srgbClr val="476BC5"/>
                </a:solidFill>
                <a:latin typeface="Manrope"/>
              </a:defRPr>
            </a:pPr>
            <a:r>
              <a:t>CHANNELS</a:t>
            </a:r>
          </a:p>
        </p:txBody>
      </p:sp>
      <p:sp>
        <p:nvSpPr>
          <p:cNvPr id="26" name="TextBox 25"/>
          <p:cNvSpPr txBox="1"/>
          <p:nvPr/>
        </p:nvSpPr>
        <p:spPr>
          <a:xfrm>
            <a:off x="7348219" y="3959224"/>
            <a:ext cx="2047240" cy="796925"/>
          </a:xfrm>
          <a:prstGeom prst="rect">
            <a:avLst/>
          </a:prstGeom>
          <a:noFill/>
        </p:spPr>
        <p:txBody>
          <a:bodyPr wrap="square" lIns="0" tIns="0" rIns="0" bIns="0">
            <a:spAutoFit/>
          </a:bodyPr>
          <a:lstStyle/>
          <a:p>
            <a:pPr algn="l">
              <a:lnSpc>
                <a:spcPct val="112000"/>
              </a:lnSpc>
              <a:spcBef>
                <a:spcPts val="0"/>
              </a:spcBef>
              <a:spcAft>
                <a:spcPts val="0"/>
              </a:spcAft>
              <a:defRPr sz="1400" b="0">
                <a:solidFill>
                  <a:srgbClr val="23334D"/>
                </a:solidFill>
                <a:latin typeface="Manrope"/>
              </a:defRPr>
            </a:pPr>
            <a:r>
              <a:t>Browser links + QR</a:t>
            </a:r>
          </a:p>
          <a:p>
            <a:pPr algn="l">
              <a:lnSpc>
                <a:spcPct val="112000"/>
              </a:lnSpc>
              <a:spcBef>
                <a:spcPts val="0"/>
              </a:spcBef>
              <a:spcAft>
                <a:spcPts val="0"/>
              </a:spcAft>
              <a:defRPr sz="1400" b="0">
                <a:solidFill>
                  <a:srgbClr val="23334D"/>
                </a:solidFill>
                <a:latin typeface="Manrope"/>
              </a:defRPr>
            </a:pPr>
            <a:r>
              <a:t>Chat and social sharing</a:t>
            </a:r>
          </a:p>
          <a:p>
            <a:pPr algn="l">
              <a:lnSpc>
                <a:spcPct val="112000"/>
              </a:lnSpc>
              <a:spcBef>
                <a:spcPts val="0"/>
              </a:spcBef>
              <a:spcAft>
                <a:spcPts val="0"/>
              </a:spcAft>
              <a:defRPr sz="1400" b="0">
                <a:solidFill>
                  <a:srgbClr val="23334D"/>
                </a:solidFill>
                <a:latin typeface="Manrope"/>
              </a:defRPr>
            </a:pPr>
            <a:r>
              <a:t>Seller referrals</a:t>
            </a:r>
          </a:p>
        </p:txBody>
      </p:sp>
      <p:sp>
        <p:nvSpPr>
          <p:cNvPr id="27" name="Rectangle 26"/>
          <p:cNvSpPr/>
          <p:nvPr/>
        </p:nvSpPr>
        <p:spPr>
          <a:xfrm>
            <a:off x="9509759" y="1936749"/>
            <a:ext cx="2250439" cy="28638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24059" y="2063750"/>
            <a:ext cx="2047240" cy="355600"/>
          </a:xfrm>
          <a:prstGeom prst="rect">
            <a:avLst/>
          </a:prstGeom>
          <a:noFill/>
        </p:spPr>
        <p:txBody>
          <a:bodyPr wrap="square" lIns="0" tIns="0" rIns="0" bIns="0">
            <a:spAutoFit/>
          </a:bodyPr>
          <a:lstStyle/>
          <a:p>
            <a:pPr algn="l">
              <a:lnSpc>
                <a:spcPct val="112000"/>
              </a:lnSpc>
              <a:spcBef>
                <a:spcPts val="0"/>
              </a:spcBef>
              <a:spcAft>
                <a:spcPts val="0"/>
              </a:spcAft>
              <a:defRPr sz="1250" b="1">
                <a:solidFill>
                  <a:srgbClr val="476BC5"/>
                </a:solidFill>
                <a:latin typeface="Manrope"/>
              </a:defRPr>
            </a:pPr>
            <a:r>
              <a:t>CUSTOMER SEGMENTS</a:t>
            </a:r>
          </a:p>
        </p:txBody>
      </p:sp>
      <p:sp>
        <p:nvSpPr>
          <p:cNvPr id="29" name="TextBox 28"/>
          <p:cNvSpPr txBox="1"/>
          <p:nvPr/>
        </p:nvSpPr>
        <p:spPr>
          <a:xfrm>
            <a:off x="9624059" y="2514600"/>
            <a:ext cx="2047240" cy="2241550"/>
          </a:xfrm>
          <a:prstGeom prst="rect">
            <a:avLst/>
          </a:prstGeom>
          <a:noFill/>
        </p:spPr>
        <p:txBody>
          <a:bodyPr wrap="square" lIns="0" tIns="0" rIns="0" bIns="0">
            <a:spAutoFit/>
          </a:bodyPr>
          <a:lstStyle/>
          <a:p>
            <a:pPr algn="l">
              <a:lnSpc>
                <a:spcPct val="112000"/>
              </a:lnSpc>
              <a:spcBef>
                <a:spcPts val="0"/>
              </a:spcBef>
              <a:spcAft>
                <a:spcPts val="0"/>
              </a:spcAft>
              <a:defRPr sz="1400" b="0">
                <a:solidFill>
                  <a:srgbClr val="23334D"/>
                </a:solidFill>
                <a:latin typeface="Manrope"/>
              </a:defRPr>
            </a:pPr>
            <a:r>
              <a:t>Start:</a:t>
            </a:r>
          </a:p>
          <a:p>
            <a:pPr algn="l">
              <a:lnSpc>
                <a:spcPct val="112000"/>
              </a:lnSpc>
              <a:spcBef>
                <a:spcPts val="0"/>
              </a:spcBef>
              <a:spcAft>
                <a:spcPts val="0"/>
              </a:spcAft>
              <a:defRPr sz="1400" b="0">
                <a:solidFill>
                  <a:srgbClr val="23334D"/>
                </a:solidFill>
                <a:latin typeface="Manrope"/>
              </a:defRPr>
            </a:pPr>
            <a:r>
              <a:t>Chat-based small sellers</a:t>
            </a:r>
          </a:p>
          <a:p>
            <a:pPr algn="l">
              <a:lnSpc>
                <a:spcPct val="112000"/>
              </a:lnSpc>
              <a:spcBef>
                <a:spcPts val="0"/>
              </a:spcBef>
              <a:spcAft>
                <a:spcPts val="0"/>
              </a:spcAft>
              <a:defRPr sz="1400" b="0">
                <a:solidFill>
                  <a:srgbClr val="23334D"/>
                </a:solidFill>
                <a:latin typeface="Manrope"/>
              </a:defRPr>
            </a:pPr>
            <a:r>
              <a:t>and their buyers</a:t>
            </a:r>
          </a:p>
          <a:p>
            <a:pPr algn="l">
              <a:lnSpc>
                <a:spcPct val="112000"/>
              </a:lnSpc>
              <a:spcBef>
                <a:spcPts val="0"/>
              </a:spcBef>
              <a:spcAft>
                <a:spcPts val="0"/>
              </a:spcAft>
              <a:defRPr sz="1400" b="0">
                <a:solidFill>
                  <a:srgbClr val="23334D"/>
                </a:solidFill>
                <a:latin typeface="Manrope"/>
              </a:defRPr>
            </a:pPr>
            <a:endParaRPr/>
          </a:p>
          <a:p>
            <a:pPr algn="l">
              <a:lnSpc>
                <a:spcPct val="112000"/>
              </a:lnSpc>
              <a:spcBef>
                <a:spcPts val="0"/>
              </a:spcBef>
              <a:spcAft>
                <a:spcPts val="0"/>
              </a:spcAft>
              <a:defRPr sz="1400" b="0">
                <a:solidFill>
                  <a:srgbClr val="23334D"/>
                </a:solidFill>
                <a:latin typeface="Manrope"/>
              </a:defRPr>
            </a:pPr>
            <a:r>
              <a:t>Expand:</a:t>
            </a:r>
          </a:p>
          <a:p>
            <a:pPr algn="l">
              <a:lnSpc>
                <a:spcPct val="112000"/>
              </a:lnSpc>
              <a:spcBef>
                <a:spcPts val="0"/>
              </a:spcBef>
              <a:spcAft>
                <a:spcPts val="0"/>
              </a:spcAft>
              <a:defRPr sz="1400" b="0">
                <a:solidFill>
                  <a:srgbClr val="23334D"/>
                </a:solidFill>
                <a:latin typeface="Manrope"/>
              </a:defRPr>
            </a:pPr>
            <a:r>
              <a:t>Occasional everyday users</a:t>
            </a:r>
          </a:p>
        </p:txBody>
      </p:sp>
      <p:sp>
        <p:nvSpPr>
          <p:cNvPr id="30" name="Rectangle 29"/>
          <p:cNvSpPr/>
          <p:nvPr/>
        </p:nvSpPr>
        <p:spPr>
          <a:xfrm>
            <a:off x="406400" y="4826000"/>
            <a:ext cx="5664200" cy="1403350"/>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20700" y="4953000"/>
            <a:ext cx="5461000" cy="355600"/>
          </a:xfrm>
          <a:prstGeom prst="rect">
            <a:avLst/>
          </a:prstGeom>
          <a:noFill/>
        </p:spPr>
        <p:txBody>
          <a:bodyPr wrap="square" lIns="0" tIns="0" rIns="0" bIns="0">
            <a:spAutoFit/>
          </a:bodyPr>
          <a:lstStyle/>
          <a:p>
            <a:pPr algn="l">
              <a:lnSpc>
                <a:spcPct val="112000"/>
              </a:lnSpc>
              <a:spcBef>
                <a:spcPts val="0"/>
              </a:spcBef>
              <a:spcAft>
                <a:spcPts val="0"/>
              </a:spcAft>
              <a:defRPr sz="1250" b="1">
                <a:solidFill>
                  <a:srgbClr val="476BC5"/>
                </a:solidFill>
                <a:latin typeface="Manrope"/>
              </a:defRPr>
            </a:pPr>
            <a:r>
              <a:t>COST STRUCTURE</a:t>
            </a:r>
          </a:p>
        </p:txBody>
      </p:sp>
      <p:sp>
        <p:nvSpPr>
          <p:cNvPr id="32" name="TextBox 31"/>
          <p:cNvSpPr txBox="1"/>
          <p:nvPr/>
        </p:nvSpPr>
        <p:spPr>
          <a:xfrm>
            <a:off x="520700" y="5403850"/>
            <a:ext cx="5461000" cy="781050"/>
          </a:xfrm>
          <a:prstGeom prst="rect">
            <a:avLst/>
          </a:prstGeom>
          <a:noFill/>
        </p:spPr>
        <p:txBody>
          <a:bodyPr wrap="square" lIns="0" tIns="0" rIns="0" bIns="0">
            <a:spAutoFit/>
          </a:bodyPr>
          <a:lstStyle/>
          <a:p>
            <a:pPr algn="l">
              <a:lnSpc>
                <a:spcPct val="112000"/>
              </a:lnSpc>
              <a:spcBef>
                <a:spcPts val="0"/>
              </a:spcBef>
              <a:spcAft>
                <a:spcPts val="0"/>
              </a:spcAft>
              <a:defRPr sz="1400" b="0">
                <a:solidFill>
                  <a:srgbClr val="23334D"/>
                </a:solidFill>
                <a:latin typeface="Manrope"/>
              </a:defRPr>
            </a:pPr>
            <a:r>
              <a:t>Processing charges · verification · hosting</a:t>
            </a:r>
          </a:p>
          <a:p>
            <a:pPr algn="l">
              <a:lnSpc>
                <a:spcPct val="112000"/>
              </a:lnSpc>
              <a:spcBef>
                <a:spcPts val="0"/>
              </a:spcBef>
              <a:spcAft>
                <a:spcPts val="0"/>
              </a:spcAft>
              <a:defRPr sz="1400" b="0">
                <a:solidFill>
                  <a:srgbClr val="23334D"/>
                </a:solidFill>
                <a:latin typeface="Manrope"/>
              </a:defRPr>
            </a:pPr>
            <a:r>
              <a:t>Support / disputes · loss exposure</a:t>
            </a:r>
          </a:p>
        </p:txBody>
      </p:sp>
      <p:sp>
        <p:nvSpPr>
          <p:cNvPr id="33" name="Rectangle 32"/>
          <p:cNvSpPr/>
          <p:nvPr/>
        </p:nvSpPr>
        <p:spPr>
          <a:xfrm>
            <a:off x="6096000" y="4826000"/>
            <a:ext cx="5664200" cy="1403350"/>
          </a:xfrm>
          <a:prstGeom prst="rect">
            <a:avLst/>
          </a:prstGeom>
          <a:solidFill>
            <a:srgbClr val="B8C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10300" y="4953000"/>
            <a:ext cx="5461000" cy="355600"/>
          </a:xfrm>
          <a:prstGeom prst="rect">
            <a:avLst/>
          </a:prstGeom>
          <a:noFill/>
        </p:spPr>
        <p:txBody>
          <a:bodyPr wrap="square" lIns="0" tIns="0" rIns="0" bIns="0">
            <a:spAutoFit/>
          </a:bodyPr>
          <a:lstStyle/>
          <a:p>
            <a:pPr algn="l">
              <a:lnSpc>
                <a:spcPct val="112000"/>
              </a:lnSpc>
              <a:spcBef>
                <a:spcPts val="0"/>
              </a:spcBef>
              <a:spcAft>
                <a:spcPts val="0"/>
              </a:spcAft>
              <a:defRPr sz="1250" b="1">
                <a:solidFill>
                  <a:srgbClr val="476BC5"/>
                </a:solidFill>
                <a:latin typeface="Manrope"/>
              </a:defRPr>
            </a:pPr>
            <a:r>
              <a:t>REVENUE STREAMS</a:t>
            </a:r>
          </a:p>
        </p:txBody>
      </p:sp>
      <p:sp>
        <p:nvSpPr>
          <p:cNvPr id="35" name="TextBox 34"/>
          <p:cNvSpPr txBox="1"/>
          <p:nvPr/>
        </p:nvSpPr>
        <p:spPr>
          <a:xfrm>
            <a:off x="6210300" y="5403850"/>
            <a:ext cx="5461000" cy="781050"/>
          </a:xfrm>
          <a:prstGeom prst="rect">
            <a:avLst/>
          </a:prstGeom>
          <a:noFill/>
        </p:spPr>
        <p:txBody>
          <a:bodyPr wrap="square" lIns="0" tIns="0" rIns="0" bIns="0">
            <a:spAutoFit/>
          </a:bodyPr>
          <a:lstStyle/>
          <a:p>
            <a:pPr algn="l">
              <a:lnSpc>
                <a:spcPct val="112000"/>
              </a:lnSpc>
              <a:spcBef>
                <a:spcPts val="0"/>
              </a:spcBef>
              <a:spcAft>
                <a:spcPts val="0"/>
              </a:spcAft>
              <a:defRPr sz="1400" b="0">
                <a:solidFill>
                  <a:srgbClr val="23334D"/>
                </a:solidFill>
                <a:latin typeface="Manrope"/>
              </a:defRPr>
            </a:pPr>
            <a:r>
              <a:t>Proposed: 2% FOM service fee per completed transaction</a:t>
            </a:r>
          </a:p>
          <a:p>
            <a:pPr algn="l">
              <a:lnSpc>
                <a:spcPct val="112000"/>
              </a:lnSpc>
              <a:spcBef>
                <a:spcPts val="0"/>
              </a:spcBef>
              <a:spcAft>
                <a:spcPts val="0"/>
              </a:spcAft>
              <a:defRPr sz="1400" b="0">
                <a:solidFill>
                  <a:srgbClr val="23334D"/>
                </a:solidFill>
                <a:latin typeface="Manrope"/>
              </a:defRPr>
            </a:pPr>
            <a:r>
              <a:t>Provider charges separate · no monthly subscription</a:t>
            </a:r>
          </a:p>
        </p:txBody>
      </p:sp>
    </p:spTree>
  </p:cSld>
  <p:clrMapOvr>
    <a:masterClrMapping/>
  </p:clrMapOvr>
  <p:transition advClick="0" advTm="10000"/>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B30"/>
        </a:solidFill>
        <a:effectLst/>
      </p:bgPr>
    </p:bg>
    <p:spTree>
      <p:nvGrpSpPr>
        <p:cNvPr id="1" name=""/>
        <p:cNvGrpSpPr/>
        <p:nvPr/>
      </p:nvGrpSpPr>
      <p:grpSpPr>
        <a:xfrm>
          <a:off x="0" y="0"/>
          <a:ext cx="0" cy="0"/>
          <a:chOff x="0" y="0"/>
          <a:chExt cx="0" cy="0"/>
        </a:xfrm>
      </p:grpSpPr>
      <p:pic>
        <p:nvPicPr>
          <p:cNvPr id="2" name="Picture 1" descr="elephant-ball-logo.png"/>
          <p:cNvPicPr>
            <a:picLocks noChangeAspect="1"/>
          </p:cNvPicPr>
          <p:nvPr/>
        </p:nvPicPr>
        <p:blipFill>
          <a:blip r:embed="rId3"/>
          <a:stretch>
            <a:fillRect/>
          </a:stretch>
        </p:blipFill>
        <p:spPr>
          <a:xfrm>
            <a:off x="406400" y="273050"/>
            <a:ext cx="406400" cy="406400"/>
          </a:xfrm>
          <a:prstGeom prst="rect">
            <a:avLst/>
          </a:prstGeom>
        </p:spPr>
      </p:pic>
      <p:sp>
        <p:nvSpPr>
          <p:cNvPr id="3" name="TextBox 2"/>
          <p:cNvSpPr txBox="1"/>
          <p:nvPr/>
        </p:nvSpPr>
        <p:spPr>
          <a:xfrm>
            <a:off x="889000" y="304800"/>
            <a:ext cx="1587500" cy="444500"/>
          </a:xfrm>
          <a:prstGeom prst="rect">
            <a:avLst/>
          </a:prstGeom>
          <a:noFill/>
        </p:spPr>
        <p:txBody>
          <a:bodyPr wrap="square" lIns="0" tIns="0" rIns="0" bIns="0">
            <a:spAutoFit/>
          </a:bodyPr>
          <a:lstStyle/>
          <a:p>
            <a:pPr algn="l">
              <a:lnSpc>
                <a:spcPct val="112000"/>
              </a:lnSpc>
              <a:spcBef>
                <a:spcPts val="0"/>
              </a:spcBef>
              <a:spcAft>
                <a:spcPts val="0"/>
              </a:spcAft>
              <a:defRPr sz="2400" b="1">
                <a:solidFill>
                  <a:srgbClr val="B8CEFF"/>
                </a:solidFill>
                <a:latin typeface="Manrope"/>
              </a:defRPr>
            </a:pPr>
            <a:r>
              <a:t>fom.</a:t>
            </a:r>
          </a:p>
        </p:txBody>
      </p:sp>
      <p:sp>
        <p:nvSpPr>
          <p:cNvPr id="4" name="TextBox 3"/>
          <p:cNvSpPr txBox="1"/>
          <p:nvPr/>
        </p:nvSpPr>
        <p:spPr>
          <a:xfrm>
            <a:off x="4699000" y="412750"/>
            <a:ext cx="7048500" cy="285750"/>
          </a:xfrm>
          <a:prstGeom prst="rect">
            <a:avLst/>
          </a:prstGeom>
          <a:noFill/>
        </p:spPr>
        <p:txBody>
          <a:bodyPr wrap="square" lIns="0" tIns="0" rIns="0" bIns="0">
            <a:spAutoFit/>
          </a:bodyPr>
          <a:lstStyle/>
          <a:p>
            <a:pPr algn="r">
              <a:lnSpc>
                <a:spcPct val="112000"/>
              </a:lnSpc>
              <a:spcBef>
                <a:spcPts val="0"/>
              </a:spcBef>
              <a:spcAft>
                <a:spcPts val="0"/>
              </a:spcAft>
              <a:defRPr sz="1200" b="0">
                <a:solidFill>
                  <a:srgbClr val="B8CEFF"/>
                </a:solidFill>
                <a:latin typeface="Manrope"/>
              </a:defRPr>
            </a:pPr>
            <a:r>
              <a:t>ILLUSTRATIVE ARITHMETIC · PRICING HYPOTHESIS, NOT RESULTS</a:t>
            </a:r>
          </a:p>
        </p:txBody>
      </p:sp>
      <p:sp>
        <p:nvSpPr>
          <p:cNvPr id="5" name="Rectangle 4"/>
          <p:cNvSpPr/>
          <p:nvPr/>
        </p:nvSpPr>
        <p:spPr>
          <a:xfrm>
            <a:off x="406400" y="6445250"/>
            <a:ext cx="11379200" cy="635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553200"/>
            <a:ext cx="9525000" cy="215900"/>
          </a:xfrm>
          <a:prstGeom prst="rect">
            <a:avLst/>
          </a:prstGeom>
          <a:noFill/>
        </p:spPr>
        <p:txBody>
          <a:bodyPr wrap="square" lIns="0" tIns="0" rIns="0" bIns="0">
            <a:spAutoFit/>
          </a:bodyPr>
          <a:lstStyle/>
          <a:p>
            <a:pPr algn="l">
              <a:lnSpc>
                <a:spcPct val="112000"/>
              </a:lnSpc>
              <a:spcBef>
                <a:spcPts val="0"/>
              </a:spcBef>
              <a:spcAft>
                <a:spcPts val="0"/>
              </a:spcAft>
              <a:defRPr sz="1100" b="0">
                <a:solidFill>
                  <a:srgbClr val="748198"/>
                </a:solidFill>
                <a:latin typeface="Manrope"/>
              </a:defRPr>
            </a:pPr>
            <a:r>
              <a:t>FOM / FUTURE OF MYANMAR</a:t>
            </a:r>
          </a:p>
        </p:txBody>
      </p:sp>
      <p:sp>
        <p:nvSpPr>
          <p:cNvPr id="7" name="TextBox 6"/>
          <p:cNvSpPr txBox="1"/>
          <p:nvPr/>
        </p:nvSpPr>
        <p:spPr>
          <a:xfrm>
            <a:off x="11176000" y="6527800"/>
            <a:ext cx="609600" cy="254000"/>
          </a:xfrm>
          <a:prstGeom prst="rect">
            <a:avLst/>
          </a:prstGeom>
          <a:noFill/>
        </p:spPr>
        <p:txBody>
          <a:bodyPr wrap="square" lIns="0" tIns="0" rIns="0" bIns="0">
            <a:spAutoFit/>
          </a:bodyPr>
          <a:lstStyle/>
          <a:p>
            <a:pPr algn="r">
              <a:lnSpc>
                <a:spcPct val="112000"/>
              </a:lnSpc>
              <a:spcBef>
                <a:spcPts val="0"/>
              </a:spcBef>
              <a:spcAft>
                <a:spcPts val="0"/>
              </a:spcAft>
              <a:defRPr sz="1300" b="1">
                <a:solidFill>
                  <a:srgbClr val="B8CEFF"/>
                </a:solidFill>
                <a:latin typeface="Manrope"/>
              </a:defRPr>
            </a:pPr>
            <a:r>
              <a:t>11</a:t>
            </a:r>
          </a:p>
        </p:txBody>
      </p:sp>
      <p:sp>
        <p:nvSpPr>
          <p:cNvPr id="8" name="TextBox 7"/>
          <p:cNvSpPr txBox="1"/>
          <p:nvPr/>
        </p:nvSpPr>
        <p:spPr>
          <a:xfrm>
            <a:off x="406400" y="1085850"/>
            <a:ext cx="11366500" cy="1524000"/>
          </a:xfrm>
          <a:prstGeom prst="rect">
            <a:avLst/>
          </a:prstGeom>
          <a:noFill/>
        </p:spPr>
        <p:txBody>
          <a:bodyPr wrap="square" lIns="0" tIns="0" rIns="0" bIns="0">
            <a:spAutoFit/>
          </a:bodyPr>
          <a:lstStyle/>
          <a:p>
            <a:pPr algn="l">
              <a:lnSpc>
                <a:spcPct val="112000"/>
              </a:lnSpc>
              <a:spcBef>
                <a:spcPts val="0"/>
              </a:spcBef>
              <a:spcAft>
                <a:spcPts val="0"/>
              </a:spcAft>
              <a:defRPr sz="4000" b="1">
                <a:solidFill>
                  <a:srgbClr val="FFFFFF"/>
                </a:solidFill>
                <a:latin typeface="Manrope"/>
              </a:defRPr>
            </a:pPr>
            <a:r>
              <a:t>50,000 MMK deal.</a:t>
            </a:r>
          </a:p>
          <a:p>
            <a:pPr algn="l">
              <a:lnSpc>
                <a:spcPct val="112000"/>
              </a:lnSpc>
              <a:spcBef>
                <a:spcPts val="0"/>
              </a:spcBef>
              <a:spcAft>
                <a:spcPts val="0"/>
              </a:spcAft>
              <a:defRPr sz="4000" b="1">
                <a:solidFill>
                  <a:srgbClr val="FFFFFF"/>
                </a:solidFill>
                <a:latin typeface="Manrope"/>
              </a:defRPr>
            </a:pPr>
            <a:r>
              <a:t>1,000 MMK gross FOM fee.</a:t>
            </a:r>
          </a:p>
        </p:txBody>
      </p:sp>
      <p:sp>
        <p:nvSpPr>
          <p:cNvPr id="9" name="TextBox 8"/>
          <p:cNvSpPr txBox="1"/>
          <p:nvPr/>
        </p:nvSpPr>
        <p:spPr>
          <a:xfrm>
            <a:off x="444500" y="2432050"/>
            <a:ext cx="11112500" cy="412750"/>
          </a:xfrm>
          <a:prstGeom prst="rect">
            <a:avLst/>
          </a:prstGeom>
          <a:noFill/>
        </p:spPr>
        <p:txBody>
          <a:bodyPr wrap="square" lIns="0" tIns="0" rIns="0" bIns="0">
            <a:spAutoFit/>
          </a:bodyPr>
          <a:lstStyle/>
          <a:p>
            <a:pPr algn="l">
              <a:lnSpc>
                <a:spcPct val="112000"/>
              </a:lnSpc>
              <a:spcBef>
                <a:spcPts val="0"/>
              </a:spcBef>
              <a:spcAft>
                <a:spcPts val="0"/>
              </a:spcAft>
              <a:defRPr sz="1600" b="0">
                <a:solidFill>
                  <a:srgbClr val="B8CEFF"/>
                </a:solidFill>
                <a:latin typeface="Manrope"/>
              </a:defRPr>
            </a:pPr>
            <a:r>
              <a:t>Proposed 2% FOM fee; provider charges disclosed separately.</a:t>
            </a:r>
          </a:p>
        </p:txBody>
      </p:sp>
      <p:sp>
        <p:nvSpPr>
          <p:cNvPr id="10" name="Rectangle 9"/>
          <p:cNvSpPr/>
          <p:nvPr/>
        </p:nvSpPr>
        <p:spPr>
          <a:xfrm>
            <a:off x="571500" y="4527550"/>
            <a:ext cx="1587500" cy="412750"/>
          </a:xfrm>
          <a:prstGeom prst="rect">
            <a:avLst/>
          </a:prstGeom>
          <a:solidFill>
            <a:srgbClr val="B8C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1500" y="4108450"/>
            <a:ext cx="1587500" cy="387350"/>
          </a:xfrm>
          <a:prstGeom prst="rect">
            <a:avLst/>
          </a:prstGeom>
          <a:noFill/>
        </p:spPr>
        <p:txBody>
          <a:bodyPr wrap="square" lIns="0" tIns="0" rIns="0" bIns="0">
            <a:spAutoFit/>
          </a:bodyPr>
          <a:lstStyle/>
          <a:p>
            <a:pPr algn="ctr">
              <a:lnSpc>
                <a:spcPct val="112000"/>
              </a:lnSpc>
              <a:spcBef>
                <a:spcPts val="0"/>
              </a:spcBef>
              <a:spcAft>
                <a:spcPts val="0"/>
              </a:spcAft>
              <a:defRPr sz="2250" b="1">
                <a:solidFill>
                  <a:srgbClr val="FFFFFF"/>
                </a:solidFill>
                <a:latin typeface="Manrope"/>
              </a:defRPr>
            </a:pPr>
            <a:r>
              <a:t>500</a:t>
            </a:r>
          </a:p>
        </p:txBody>
      </p:sp>
      <p:sp>
        <p:nvSpPr>
          <p:cNvPr id="12" name="TextBox 11"/>
          <p:cNvSpPr txBox="1"/>
          <p:nvPr/>
        </p:nvSpPr>
        <p:spPr>
          <a:xfrm>
            <a:off x="381000" y="5130800"/>
            <a:ext cx="1968500" cy="317500"/>
          </a:xfrm>
          <a:prstGeom prst="rect">
            <a:avLst/>
          </a:prstGeom>
          <a:noFill/>
        </p:spPr>
        <p:txBody>
          <a:bodyPr wrap="square" lIns="0" tIns="0" rIns="0" bIns="0">
            <a:spAutoFit/>
          </a:bodyPr>
          <a:lstStyle/>
          <a:p>
            <a:pPr algn="ctr">
              <a:lnSpc>
                <a:spcPct val="112000"/>
              </a:lnSpc>
              <a:spcBef>
                <a:spcPts val="0"/>
              </a:spcBef>
              <a:spcAft>
                <a:spcPts val="0"/>
              </a:spcAft>
              <a:defRPr sz="1400" b="0">
                <a:solidFill>
                  <a:srgbClr val="FFFFFF"/>
                </a:solidFill>
                <a:latin typeface="Manrope"/>
              </a:defRPr>
            </a:pPr>
            <a:r>
              <a:t>25,000 deal</a:t>
            </a:r>
          </a:p>
        </p:txBody>
      </p:sp>
      <p:sp>
        <p:nvSpPr>
          <p:cNvPr id="13" name="Rectangle 12"/>
          <p:cNvSpPr/>
          <p:nvPr/>
        </p:nvSpPr>
        <p:spPr>
          <a:xfrm>
            <a:off x="3302000" y="4114800"/>
            <a:ext cx="1587500" cy="825500"/>
          </a:xfrm>
          <a:prstGeom prst="rect">
            <a:avLst/>
          </a:prstGeom>
          <a:solidFill>
            <a:srgbClr val="B8C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02000" y="3695700"/>
            <a:ext cx="1587500" cy="387350"/>
          </a:xfrm>
          <a:prstGeom prst="rect">
            <a:avLst/>
          </a:prstGeom>
          <a:noFill/>
        </p:spPr>
        <p:txBody>
          <a:bodyPr wrap="square" lIns="0" tIns="0" rIns="0" bIns="0">
            <a:spAutoFit/>
          </a:bodyPr>
          <a:lstStyle/>
          <a:p>
            <a:pPr algn="ctr">
              <a:lnSpc>
                <a:spcPct val="112000"/>
              </a:lnSpc>
              <a:spcBef>
                <a:spcPts val="0"/>
              </a:spcBef>
              <a:spcAft>
                <a:spcPts val="0"/>
              </a:spcAft>
              <a:defRPr sz="2250" b="1">
                <a:solidFill>
                  <a:srgbClr val="FFFFFF"/>
                </a:solidFill>
                <a:latin typeface="Manrope"/>
              </a:defRPr>
            </a:pPr>
            <a:r>
              <a:t>1,000</a:t>
            </a:r>
          </a:p>
        </p:txBody>
      </p:sp>
      <p:sp>
        <p:nvSpPr>
          <p:cNvPr id="15" name="TextBox 14"/>
          <p:cNvSpPr txBox="1"/>
          <p:nvPr/>
        </p:nvSpPr>
        <p:spPr>
          <a:xfrm>
            <a:off x="3111500" y="5130800"/>
            <a:ext cx="1968500" cy="317500"/>
          </a:xfrm>
          <a:prstGeom prst="rect">
            <a:avLst/>
          </a:prstGeom>
          <a:noFill/>
        </p:spPr>
        <p:txBody>
          <a:bodyPr wrap="square" lIns="0" tIns="0" rIns="0" bIns="0">
            <a:spAutoFit/>
          </a:bodyPr>
          <a:lstStyle/>
          <a:p>
            <a:pPr algn="ctr">
              <a:lnSpc>
                <a:spcPct val="112000"/>
              </a:lnSpc>
              <a:spcBef>
                <a:spcPts val="0"/>
              </a:spcBef>
              <a:spcAft>
                <a:spcPts val="0"/>
              </a:spcAft>
              <a:defRPr sz="1400" b="0">
                <a:solidFill>
                  <a:srgbClr val="FFFFFF"/>
                </a:solidFill>
                <a:latin typeface="Manrope"/>
              </a:defRPr>
            </a:pPr>
            <a:r>
              <a:t>50,000 deal</a:t>
            </a:r>
          </a:p>
        </p:txBody>
      </p:sp>
      <p:sp>
        <p:nvSpPr>
          <p:cNvPr id="16" name="Rectangle 15"/>
          <p:cNvSpPr/>
          <p:nvPr/>
        </p:nvSpPr>
        <p:spPr>
          <a:xfrm>
            <a:off x="6032500" y="3289300"/>
            <a:ext cx="1587500" cy="1651000"/>
          </a:xfrm>
          <a:prstGeom prst="rect">
            <a:avLst/>
          </a:prstGeom>
          <a:solidFill>
            <a:srgbClr val="B8C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32500" y="2870200"/>
            <a:ext cx="1587500" cy="387350"/>
          </a:xfrm>
          <a:prstGeom prst="rect">
            <a:avLst/>
          </a:prstGeom>
          <a:noFill/>
        </p:spPr>
        <p:txBody>
          <a:bodyPr wrap="square" lIns="0" tIns="0" rIns="0" bIns="0">
            <a:spAutoFit/>
          </a:bodyPr>
          <a:lstStyle/>
          <a:p>
            <a:pPr algn="ctr">
              <a:lnSpc>
                <a:spcPct val="112000"/>
              </a:lnSpc>
              <a:spcBef>
                <a:spcPts val="0"/>
              </a:spcBef>
              <a:spcAft>
                <a:spcPts val="0"/>
              </a:spcAft>
              <a:defRPr sz="2250" b="1">
                <a:solidFill>
                  <a:srgbClr val="FFFFFF"/>
                </a:solidFill>
                <a:latin typeface="Manrope"/>
              </a:defRPr>
            </a:pPr>
            <a:r>
              <a:t>2,000</a:t>
            </a:r>
          </a:p>
        </p:txBody>
      </p:sp>
      <p:sp>
        <p:nvSpPr>
          <p:cNvPr id="18" name="TextBox 17"/>
          <p:cNvSpPr txBox="1"/>
          <p:nvPr/>
        </p:nvSpPr>
        <p:spPr>
          <a:xfrm>
            <a:off x="5842000" y="5130800"/>
            <a:ext cx="1968500" cy="317500"/>
          </a:xfrm>
          <a:prstGeom prst="rect">
            <a:avLst/>
          </a:prstGeom>
          <a:noFill/>
        </p:spPr>
        <p:txBody>
          <a:bodyPr wrap="square" lIns="0" tIns="0" rIns="0" bIns="0">
            <a:spAutoFit/>
          </a:bodyPr>
          <a:lstStyle/>
          <a:p>
            <a:pPr algn="ctr">
              <a:lnSpc>
                <a:spcPct val="112000"/>
              </a:lnSpc>
              <a:spcBef>
                <a:spcPts val="0"/>
              </a:spcBef>
              <a:spcAft>
                <a:spcPts val="0"/>
              </a:spcAft>
              <a:defRPr sz="1400" b="0">
                <a:solidFill>
                  <a:srgbClr val="FFFFFF"/>
                </a:solidFill>
                <a:latin typeface="Manrope"/>
              </a:defRPr>
            </a:pPr>
            <a:r>
              <a:t>100,000 deal</a:t>
            </a:r>
          </a:p>
        </p:txBody>
      </p:sp>
      <p:sp>
        <p:nvSpPr>
          <p:cNvPr id="19" name="TextBox 18"/>
          <p:cNvSpPr txBox="1"/>
          <p:nvPr/>
        </p:nvSpPr>
        <p:spPr>
          <a:xfrm>
            <a:off x="444500" y="5772150"/>
            <a:ext cx="8318499" cy="273050"/>
          </a:xfrm>
          <a:prstGeom prst="rect">
            <a:avLst/>
          </a:prstGeom>
          <a:noFill/>
        </p:spPr>
        <p:txBody>
          <a:bodyPr wrap="square" lIns="0" tIns="0" rIns="0" bIns="0">
            <a:spAutoFit/>
          </a:bodyPr>
          <a:lstStyle/>
          <a:p>
            <a:pPr algn="l">
              <a:lnSpc>
                <a:spcPct val="112000"/>
              </a:lnSpc>
              <a:spcBef>
                <a:spcPts val="0"/>
              </a:spcBef>
              <a:spcAft>
                <a:spcPts val="0"/>
              </a:spcAft>
              <a:defRPr sz="1300" b="0">
                <a:solidFill>
                  <a:srgbClr val="B8CEFF"/>
                </a:solidFill>
                <a:latin typeface="Manrope"/>
              </a:defRPr>
            </a:pPr>
            <a:r>
              <a:t>GROSS FOM SERVICE FEE (MMK)</a:t>
            </a:r>
          </a:p>
        </p:txBody>
      </p:sp>
      <p:sp>
        <p:nvSpPr>
          <p:cNvPr id="20" name="Rectangle 19"/>
          <p:cNvSpPr/>
          <p:nvPr/>
        </p:nvSpPr>
        <p:spPr>
          <a:xfrm>
            <a:off x="9144000" y="3067050"/>
            <a:ext cx="2635250" cy="248285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96400" y="3270250"/>
            <a:ext cx="2317750" cy="412750"/>
          </a:xfrm>
          <a:prstGeom prst="rect">
            <a:avLst/>
          </a:prstGeom>
          <a:noFill/>
        </p:spPr>
        <p:txBody>
          <a:bodyPr wrap="square" lIns="0" tIns="0" rIns="0" bIns="0">
            <a:spAutoFit/>
          </a:bodyPr>
          <a:lstStyle/>
          <a:p>
            <a:pPr algn="l">
              <a:lnSpc>
                <a:spcPct val="112000"/>
              </a:lnSpc>
              <a:spcBef>
                <a:spcPts val="0"/>
              </a:spcBef>
              <a:spcAft>
                <a:spcPts val="0"/>
              </a:spcAft>
              <a:defRPr sz="1600" b="1">
                <a:solidFill>
                  <a:srgbClr val="FFFFFF"/>
                </a:solidFill>
                <a:latin typeface="Manrope"/>
              </a:defRPr>
            </a:pPr>
            <a:r>
              <a:t>REVENUE ≠ PROFIT</a:t>
            </a:r>
          </a:p>
        </p:txBody>
      </p:sp>
      <p:sp>
        <p:nvSpPr>
          <p:cNvPr id="22" name="TextBox 21"/>
          <p:cNvSpPr txBox="1"/>
          <p:nvPr/>
        </p:nvSpPr>
        <p:spPr>
          <a:xfrm>
            <a:off x="9296400" y="3854450"/>
            <a:ext cx="2317750" cy="1397000"/>
          </a:xfrm>
          <a:prstGeom prst="rect">
            <a:avLst/>
          </a:prstGeom>
          <a:noFill/>
        </p:spPr>
        <p:txBody>
          <a:bodyPr wrap="square" lIns="0" tIns="0" rIns="0" bIns="0">
            <a:spAutoFit/>
          </a:bodyPr>
          <a:lstStyle/>
          <a:p>
            <a:pPr algn="l">
              <a:lnSpc>
                <a:spcPct val="112000"/>
              </a:lnSpc>
              <a:spcBef>
                <a:spcPts val="0"/>
              </a:spcBef>
              <a:spcAft>
                <a:spcPts val="0"/>
              </a:spcAft>
              <a:defRPr sz="1550" b="0">
                <a:solidFill>
                  <a:srgbClr val="FFFFFF"/>
                </a:solidFill>
                <a:latin typeface="Manrope"/>
              </a:defRPr>
            </a:pPr>
            <a:r>
              <a:t>Gross fee</a:t>
            </a:r>
          </a:p>
          <a:p>
            <a:pPr algn="l">
              <a:lnSpc>
                <a:spcPct val="112000"/>
              </a:lnSpc>
              <a:spcBef>
                <a:spcPts val="0"/>
              </a:spcBef>
              <a:spcAft>
                <a:spcPts val="0"/>
              </a:spcAft>
              <a:defRPr sz="1550" b="0">
                <a:solidFill>
                  <a:srgbClr val="FFFFFF"/>
                </a:solidFill>
                <a:latin typeface="Manrope"/>
              </a:defRPr>
            </a:pPr>
            <a:r>
              <a:t>− verification</a:t>
            </a:r>
          </a:p>
          <a:p>
            <a:pPr algn="l">
              <a:lnSpc>
                <a:spcPct val="112000"/>
              </a:lnSpc>
              <a:spcBef>
                <a:spcPts val="0"/>
              </a:spcBef>
              <a:spcAft>
                <a:spcPts val="0"/>
              </a:spcAft>
              <a:defRPr sz="1550" b="0">
                <a:solidFill>
                  <a:srgbClr val="FFFFFF"/>
                </a:solidFill>
                <a:latin typeface="Manrope"/>
              </a:defRPr>
            </a:pPr>
            <a:r>
              <a:t>− support / disputes</a:t>
            </a:r>
          </a:p>
          <a:p>
            <a:pPr algn="l">
              <a:lnSpc>
                <a:spcPct val="112000"/>
              </a:lnSpc>
              <a:spcBef>
                <a:spcPts val="0"/>
              </a:spcBef>
              <a:spcAft>
                <a:spcPts val="0"/>
              </a:spcAft>
              <a:defRPr sz="1550" b="0">
                <a:solidFill>
                  <a:srgbClr val="FFFFFF"/>
                </a:solidFill>
                <a:latin typeface="Manrope"/>
              </a:defRPr>
            </a:pPr>
            <a:r>
              <a:t>− hosting + losses</a:t>
            </a:r>
          </a:p>
          <a:p>
            <a:pPr algn="l">
              <a:lnSpc>
                <a:spcPct val="112000"/>
              </a:lnSpc>
              <a:spcBef>
                <a:spcPts val="0"/>
              </a:spcBef>
              <a:spcAft>
                <a:spcPts val="0"/>
              </a:spcAft>
              <a:defRPr sz="1550" b="0">
                <a:solidFill>
                  <a:srgbClr val="FFFFFF"/>
                </a:solidFill>
                <a:latin typeface="Manrope"/>
              </a:defRPr>
            </a:pPr>
            <a:r>
              <a:t>= contribution margin</a:t>
            </a:r>
          </a:p>
        </p:txBody>
      </p:sp>
      <p:sp>
        <p:nvSpPr>
          <p:cNvPr id="23" name="TextBox 22"/>
          <p:cNvSpPr txBox="1"/>
          <p:nvPr/>
        </p:nvSpPr>
        <p:spPr>
          <a:xfrm>
            <a:off x="444500" y="6165850"/>
            <a:ext cx="11049000" cy="241300"/>
          </a:xfrm>
          <a:prstGeom prst="rect">
            <a:avLst/>
          </a:prstGeom>
          <a:noFill/>
        </p:spPr>
        <p:txBody>
          <a:bodyPr wrap="square" lIns="0" tIns="0" rIns="0" bIns="0">
            <a:spAutoFit/>
          </a:bodyPr>
          <a:lstStyle/>
          <a:p>
            <a:pPr algn="l">
              <a:lnSpc>
                <a:spcPct val="112000"/>
              </a:lnSpc>
              <a:spcBef>
                <a:spcPts val="0"/>
              </a:spcBef>
              <a:spcAft>
                <a:spcPts val="0"/>
              </a:spcAft>
              <a:defRPr sz="1200" b="0">
                <a:solidFill>
                  <a:srgbClr val="B8CEFF"/>
                </a:solidFill>
                <a:latin typeface="Manrope"/>
              </a:defRPr>
            </a:pPr>
            <a:r>
              <a:t>Pilot: social sellers → shared links / referrals → repeat use + measured support cost</a:t>
            </a:r>
          </a:p>
        </p:txBody>
      </p:sp>
    </p:spTree>
  </p:cSld>
  <p:clrMapOvr>
    <a:masterClrMapping/>
  </p:clrMapOvr>
  <p:transition advClick="0" advTm="17000"/>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pic>
        <p:nvPicPr>
          <p:cNvPr id="2" name="Picture 1" descr="elephant-ball-logo.png"/>
          <p:cNvPicPr>
            <a:picLocks noChangeAspect="1"/>
          </p:cNvPicPr>
          <p:nvPr/>
        </p:nvPicPr>
        <p:blipFill>
          <a:blip r:embed="rId3"/>
          <a:stretch>
            <a:fillRect/>
          </a:stretch>
        </p:blipFill>
        <p:spPr>
          <a:xfrm>
            <a:off x="406400" y="273050"/>
            <a:ext cx="406400" cy="406400"/>
          </a:xfrm>
          <a:prstGeom prst="rect">
            <a:avLst/>
          </a:prstGeom>
        </p:spPr>
      </p:pic>
      <p:sp>
        <p:nvSpPr>
          <p:cNvPr id="3" name="TextBox 2"/>
          <p:cNvSpPr txBox="1"/>
          <p:nvPr/>
        </p:nvSpPr>
        <p:spPr>
          <a:xfrm>
            <a:off x="889000" y="304800"/>
            <a:ext cx="1587500" cy="444500"/>
          </a:xfrm>
          <a:prstGeom prst="rect">
            <a:avLst/>
          </a:prstGeom>
          <a:noFill/>
        </p:spPr>
        <p:txBody>
          <a:bodyPr wrap="square" lIns="0" tIns="0" rIns="0" bIns="0">
            <a:spAutoFit/>
          </a:bodyPr>
          <a:lstStyle/>
          <a:p>
            <a:pPr algn="l">
              <a:lnSpc>
                <a:spcPct val="112000"/>
              </a:lnSpc>
              <a:spcBef>
                <a:spcPts val="0"/>
              </a:spcBef>
              <a:spcAft>
                <a:spcPts val="0"/>
              </a:spcAft>
              <a:defRPr sz="2400" b="1">
                <a:solidFill>
                  <a:srgbClr val="476BC5"/>
                </a:solidFill>
                <a:latin typeface="Manrope"/>
              </a:defRPr>
            </a:pPr>
            <a:r>
              <a:t>fom.</a:t>
            </a:r>
          </a:p>
        </p:txBody>
      </p:sp>
      <p:sp>
        <p:nvSpPr>
          <p:cNvPr id="4" name="TextBox 3"/>
          <p:cNvSpPr txBox="1"/>
          <p:nvPr/>
        </p:nvSpPr>
        <p:spPr>
          <a:xfrm>
            <a:off x="4699000" y="412750"/>
            <a:ext cx="7048500" cy="285750"/>
          </a:xfrm>
          <a:prstGeom prst="rect">
            <a:avLst/>
          </a:prstGeom>
          <a:noFill/>
        </p:spPr>
        <p:txBody>
          <a:bodyPr wrap="square" lIns="0" tIns="0" rIns="0" bIns="0">
            <a:spAutoFit/>
          </a:bodyPr>
          <a:lstStyle/>
          <a:p>
            <a:pPr algn="r">
              <a:lnSpc>
                <a:spcPct val="112000"/>
              </a:lnSpc>
              <a:spcBef>
                <a:spcPts val="0"/>
              </a:spcBef>
              <a:spcAft>
                <a:spcPts val="0"/>
              </a:spcAft>
              <a:defRPr sz="1200" b="0">
                <a:solidFill>
                  <a:srgbClr val="748198"/>
                </a:solidFill>
                <a:latin typeface="Manrope"/>
              </a:defRPr>
            </a:pPr>
            <a:r>
              <a:t>AI LEVERAGE + EXECUTION EVIDENCE</a:t>
            </a:r>
          </a:p>
        </p:txBody>
      </p:sp>
      <p:sp>
        <p:nvSpPr>
          <p:cNvPr id="5" name="Rectangle 4"/>
          <p:cNvSpPr/>
          <p:nvPr/>
        </p:nvSpPr>
        <p:spPr>
          <a:xfrm>
            <a:off x="406400" y="6445250"/>
            <a:ext cx="11379200" cy="6350"/>
          </a:xfrm>
          <a:prstGeom prst="rect">
            <a:avLst/>
          </a:prstGeom>
          <a:solidFill>
            <a:srgbClr val="CC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553200"/>
            <a:ext cx="9525000" cy="215900"/>
          </a:xfrm>
          <a:prstGeom prst="rect">
            <a:avLst/>
          </a:prstGeom>
          <a:noFill/>
        </p:spPr>
        <p:txBody>
          <a:bodyPr wrap="square" lIns="0" tIns="0" rIns="0" bIns="0">
            <a:spAutoFit/>
          </a:bodyPr>
          <a:lstStyle/>
          <a:p>
            <a:pPr algn="l">
              <a:lnSpc>
                <a:spcPct val="112000"/>
              </a:lnSpc>
              <a:spcBef>
                <a:spcPts val="0"/>
              </a:spcBef>
              <a:spcAft>
                <a:spcPts val="0"/>
              </a:spcAft>
              <a:defRPr sz="1100" b="0">
                <a:solidFill>
                  <a:srgbClr val="748198"/>
                </a:solidFill>
                <a:latin typeface="Manrope"/>
              </a:defRPr>
            </a:pPr>
            <a:r>
              <a:t>FOM / FUTURE OF MYANMAR</a:t>
            </a:r>
          </a:p>
        </p:txBody>
      </p:sp>
      <p:sp>
        <p:nvSpPr>
          <p:cNvPr id="7" name="TextBox 6"/>
          <p:cNvSpPr txBox="1"/>
          <p:nvPr/>
        </p:nvSpPr>
        <p:spPr>
          <a:xfrm>
            <a:off x="11176000" y="6527800"/>
            <a:ext cx="609600" cy="254000"/>
          </a:xfrm>
          <a:prstGeom prst="rect">
            <a:avLst/>
          </a:prstGeom>
          <a:noFill/>
        </p:spPr>
        <p:txBody>
          <a:bodyPr wrap="square" lIns="0" tIns="0" rIns="0" bIns="0">
            <a:spAutoFit/>
          </a:bodyPr>
          <a:lstStyle/>
          <a:p>
            <a:pPr algn="r">
              <a:lnSpc>
                <a:spcPct val="112000"/>
              </a:lnSpc>
              <a:spcBef>
                <a:spcPts val="0"/>
              </a:spcBef>
              <a:spcAft>
                <a:spcPts val="0"/>
              </a:spcAft>
              <a:defRPr sz="1300" b="1">
                <a:solidFill>
                  <a:srgbClr val="476BC5"/>
                </a:solidFill>
                <a:latin typeface="Manrope"/>
              </a:defRPr>
            </a:pPr>
            <a:r>
              <a:t>12</a:t>
            </a:r>
          </a:p>
        </p:txBody>
      </p:sp>
      <p:sp>
        <p:nvSpPr>
          <p:cNvPr id="8" name="TextBox 7"/>
          <p:cNvSpPr txBox="1"/>
          <p:nvPr/>
        </p:nvSpPr>
        <p:spPr>
          <a:xfrm>
            <a:off x="406400" y="1085850"/>
            <a:ext cx="11366500" cy="1524000"/>
          </a:xfrm>
          <a:prstGeom prst="rect">
            <a:avLst/>
          </a:prstGeom>
          <a:noFill/>
        </p:spPr>
        <p:txBody>
          <a:bodyPr wrap="square" lIns="0" tIns="0" rIns="0" bIns="0">
            <a:spAutoFit/>
          </a:bodyPr>
          <a:lstStyle/>
          <a:p>
            <a:pPr algn="l">
              <a:lnSpc>
                <a:spcPct val="112000"/>
              </a:lnSpc>
              <a:spcBef>
                <a:spcPts val="0"/>
              </a:spcBef>
              <a:spcAft>
                <a:spcPts val="0"/>
              </a:spcAft>
              <a:defRPr sz="3800" b="1">
                <a:solidFill>
                  <a:srgbClr val="23334D"/>
                </a:solidFill>
                <a:latin typeface="Manrope"/>
              </a:defRPr>
            </a:pPr>
            <a:r>
              <a:t>From references to a working flow.</a:t>
            </a:r>
          </a:p>
        </p:txBody>
      </p:sp>
      <p:sp>
        <p:nvSpPr>
          <p:cNvPr id="9" name="Rectangle 8"/>
          <p:cNvSpPr/>
          <p:nvPr/>
        </p:nvSpPr>
        <p:spPr>
          <a:xfrm>
            <a:off x="406400" y="3067050"/>
            <a:ext cx="2590800" cy="1981199"/>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2450" y="3321050"/>
            <a:ext cx="2298700" cy="298450"/>
          </a:xfrm>
          <a:prstGeom prst="rect">
            <a:avLst/>
          </a:prstGeom>
          <a:noFill/>
        </p:spPr>
        <p:txBody>
          <a:bodyPr wrap="square" lIns="0" tIns="0" rIns="0" bIns="0">
            <a:spAutoFit/>
          </a:bodyPr>
          <a:lstStyle/>
          <a:p>
            <a:pPr algn="l">
              <a:lnSpc>
                <a:spcPct val="112000"/>
              </a:lnSpc>
              <a:spcBef>
                <a:spcPts val="0"/>
              </a:spcBef>
              <a:spcAft>
                <a:spcPts val="0"/>
              </a:spcAft>
              <a:defRPr sz="1450" b="1">
                <a:solidFill>
                  <a:srgbClr val="476BC5"/>
                </a:solidFill>
                <a:latin typeface="Manrope"/>
              </a:defRPr>
            </a:pPr>
            <a:r>
              <a:t>MOBBIN</a:t>
            </a:r>
          </a:p>
        </p:txBody>
      </p:sp>
      <p:sp>
        <p:nvSpPr>
          <p:cNvPr id="11" name="TextBox 10"/>
          <p:cNvSpPr txBox="1"/>
          <p:nvPr/>
        </p:nvSpPr>
        <p:spPr>
          <a:xfrm>
            <a:off x="552450" y="3854450"/>
            <a:ext cx="2298700" cy="711200"/>
          </a:xfrm>
          <a:prstGeom prst="rect">
            <a:avLst/>
          </a:prstGeom>
          <a:noFill/>
        </p:spPr>
        <p:txBody>
          <a:bodyPr wrap="square" lIns="0" tIns="0" rIns="0" bIns="0">
            <a:spAutoFit/>
          </a:bodyPr>
          <a:lstStyle/>
          <a:p>
            <a:pPr algn="l">
              <a:lnSpc>
                <a:spcPct val="112000"/>
              </a:lnSpc>
              <a:spcBef>
                <a:spcPts val="0"/>
              </a:spcBef>
              <a:spcAft>
                <a:spcPts val="0"/>
              </a:spcAft>
              <a:defRPr sz="1900" b="1">
                <a:solidFill>
                  <a:srgbClr val="23334D"/>
                </a:solidFill>
                <a:latin typeface="Manrope"/>
              </a:defRPr>
            </a:pPr>
            <a:r>
              <a:t>Study patterns</a:t>
            </a:r>
          </a:p>
        </p:txBody>
      </p:sp>
      <p:sp>
        <p:nvSpPr>
          <p:cNvPr id="12" name="TextBox 11"/>
          <p:cNvSpPr txBox="1"/>
          <p:nvPr/>
        </p:nvSpPr>
        <p:spPr>
          <a:xfrm>
            <a:off x="552450" y="4660900"/>
            <a:ext cx="2298700" cy="381000"/>
          </a:xfrm>
          <a:prstGeom prst="rect">
            <a:avLst/>
          </a:prstGeom>
          <a:noFill/>
        </p:spPr>
        <p:txBody>
          <a:bodyPr wrap="square" lIns="0" tIns="0" rIns="0" bIns="0">
            <a:spAutoFit/>
          </a:bodyPr>
          <a:lstStyle/>
          <a:p>
            <a:pPr algn="l">
              <a:lnSpc>
                <a:spcPct val="112000"/>
              </a:lnSpc>
              <a:spcBef>
                <a:spcPts val="0"/>
              </a:spcBef>
              <a:spcAft>
                <a:spcPts val="0"/>
              </a:spcAft>
              <a:defRPr sz="1350" b="0">
                <a:solidFill>
                  <a:srgbClr val="748198"/>
                </a:solidFill>
                <a:latin typeface="Manrope"/>
              </a:defRPr>
            </a:pPr>
            <a:r>
              <a:t>Design references</a:t>
            </a:r>
          </a:p>
        </p:txBody>
      </p:sp>
      <p:sp>
        <p:nvSpPr>
          <p:cNvPr id="13" name="TextBox 12"/>
          <p:cNvSpPr txBox="1"/>
          <p:nvPr/>
        </p:nvSpPr>
        <p:spPr>
          <a:xfrm>
            <a:off x="2997200" y="3943350"/>
            <a:ext cx="336550" cy="635000"/>
          </a:xfrm>
          <a:prstGeom prst="rect">
            <a:avLst/>
          </a:prstGeom>
          <a:noFill/>
        </p:spPr>
        <p:txBody>
          <a:bodyPr wrap="square" lIns="0" tIns="0" rIns="0" bIns="0">
            <a:spAutoFit/>
          </a:bodyPr>
          <a:lstStyle/>
          <a:p>
            <a:pPr algn="l">
              <a:lnSpc>
                <a:spcPct val="112000"/>
              </a:lnSpc>
              <a:spcBef>
                <a:spcPts val="0"/>
              </a:spcBef>
              <a:spcAft>
                <a:spcPts val="0"/>
              </a:spcAft>
              <a:defRPr sz="2200" b="0">
                <a:solidFill>
                  <a:srgbClr val="476BC5"/>
                </a:solidFill>
                <a:latin typeface="Manrope"/>
              </a:defRPr>
            </a:pPr>
            <a:r>
              <a:t>→</a:t>
            </a:r>
          </a:p>
        </p:txBody>
      </p:sp>
      <p:sp>
        <p:nvSpPr>
          <p:cNvPr id="14" name="Rectangle 13"/>
          <p:cNvSpPr/>
          <p:nvPr/>
        </p:nvSpPr>
        <p:spPr>
          <a:xfrm>
            <a:off x="3333750" y="3067050"/>
            <a:ext cx="2590800" cy="1981199"/>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79800" y="3321050"/>
            <a:ext cx="2298700" cy="298450"/>
          </a:xfrm>
          <a:prstGeom prst="rect">
            <a:avLst/>
          </a:prstGeom>
          <a:noFill/>
        </p:spPr>
        <p:txBody>
          <a:bodyPr wrap="square" lIns="0" tIns="0" rIns="0" bIns="0">
            <a:spAutoFit/>
          </a:bodyPr>
          <a:lstStyle/>
          <a:p>
            <a:pPr algn="l">
              <a:lnSpc>
                <a:spcPct val="112000"/>
              </a:lnSpc>
              <a:spcBef>
                <a:spcPts val="0"/>
              </a:spcBef>
              <a:spcAft>
                <a:spcPts val="0"/>
              </a:spcAft>
              <a:defRPr sz="1450" b="1">
                <a:solidFill>
                  <a:srgbClr val="476BC5"/>
                </a:solidFill>
                <a:latin typeface="Manrope"/>
              </a:defRPr>
            </a:pPr>
            <a:r>
              <a:t>CHATGPT</a:t>
            </a:r>
          </a:p>
        </p:txBody>
      </p:sp>
      <p:sp>
        <p:nvSpPr>
          <p:cNvPr id="16" name="TextBox 15"/>
          <p:cNvSpPr txBox="1"/>
          <p:nvPr/>
        </p:nvSpPr>
        <p:spPr>
          <a:xfrm>
            <a:off x="3479800" y="3854450"/>
            <a:ext cx="2298700" cy="711200"/>
          </a:xfrm>
          <a:prstGeom prst="rect">
            <a:avLst/>
          </a:prstGeom>
          <a:noFill/>
        </p:spPr>
        <p:txBody>
          <a:bodyPr wrap="square" lIns="0" tIns="0" rIns="0" bIns="0">
            <a:spAutoFit/>
          </a:bodyPr>
          <a:lstStyle/>
          <a:p>
            <a:pPr algn="l">
              <a:lnSpc>
                <a:spcPct val="112000"/>
              </a:lnSpc>
              <a:spcBef>
                <a:spcPts val="0"/>
              </a:spcBef>
              <a:spcAft>
                <a:spcPts val="0"/>
              </a:spcAft>
              <a:defRPr sz="1900" b="1">
                <a:solidFill>
                  <a:srgbClr val="23334D"/>
                </a:solidFill>
                <a:latin typeface="Manrope"/>
              </a:defRPr>
            </a:pPr>
            <a:r>
              <a:t>Plan and implement</a:t>
            </a:r>
          </a:p>
        </p:txBody>
      </p:sp>
      <p:sp>
        <p:nvSpPr>
          <p:cNvPr id="17" name="TextBox 16"/>
          <p:cNvSpPr txBox="1"/>
          <p:nvPr/>
        </p:nvSpPr>
        <p:spPr>
          <a:xfrm>
            <a:off x="3479800" y="4660900"/>
            <a:ext cx="2298700" cy="381000"/>
          </a:xfrm>
          <a:prstGeom prst="rect">
            <a:avLst/>
          </a:prstGeom>
          <a:noFill/>
        </p:spPr>
        <p:txBody>
          <a:bodyPr wrap="square" lIns="0" tIns="0" rIns="0" bIns="0">
            <a:spAutoFit/>
          </a:bodyPr>
          <a:lstStyle/>
          <a:p>
            <a:pPr algn="l">
              <a:lnSpc>
                <a:spcPct val="112000"/>
              </a:lnSpc>
              <a:spcBef>
                <a:spcPts val="0"/>
              </a:spcBef>
              <a:spcAft>
                <a:spcPts val="0"/>
              </a:spcAft>
              <a:defRPr sz="1350" b="0">
                <a:solidFill>
                  <a:srgbClr val="748198"/>
                </a:solidFill>
                <a:latin typeface="Manrope"/>
              </a:defRPr>
            </a:pPr>
            <a:r>
              <a:t>Product + code iterations</a:t>
            </a:r>
          </a:p>
        </p:txBody>
      </p:sp>
      <p:sp>
        <p:nvSpPr>
          <p:cNvPr id="18" name="TextBox 17"/>
          <p:cNvSpPr txBox="1"/>
          <p:nvPr/>
        </p:nvSpPr>
        <p:spPr>
          <a:xfrm>
            <a:off x="5924550" y="3943350"/>
            <a:ext cx="336550" cy="635000"/>
          </a:xfrm>
          <a:prstGeom prst="rect">
            <a:avLst/>
          </a:prstGeom>
          <a:noFill/>
        </p:spPr>
        <p:txBody>
          <a:bodyPr wrap="square" lIns="0" tIns="0" rIns="0" bIns="0">
            <a:spAutoFit/>
          </a:bodyPr>
          <a:lstStyle/>
          <a:p>
            <a:pPr algn="l">
              <a:lnSpc>
                <a:spcPct val="112000"/>
              </a:lnSpc>
              <a:spcBef>
                <a:spcPts val="0"/>
              </a:spcBef>
              <a:spcAft>
                <a:spcPts val="0"/>
              </a:spcAft>
              <a:defRPr sz="2200" b="0">
                <a:solidFill>
                  <a:srgbClr val="476BC5"/>
                </a:solidFill>
                <a:latin typeface="Manrope"/>
              </a:defRPr>
            </a:pPr>
            <a:r>
              <a:t>→</a:t>
            </a:r>
          </a:p>
        </p:txBody>
      </p:sp>
      <p:sp>
        <p:nvSpPr>
          <p:cNvPr id="19" name="Rectangle 18"/>
          <p:cNvSpPr/>
          <p:nvPr/>
        </p:nvSpPr>
        <p:spPr>
          <a:xfrm>
            <a:off x="6261100" y="3067050"/>
            <a:ext cx="2590800" cy="1981199"/>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7150" y="3321050"/>
            <a:ext cx="2298700" cy="298450"/>
          </a:xfrm>
          <a:prstGeom prst="rect">
            <a:avLst/>
          </a:prstGeom>
          <a:noFill/>
        </p:spPr>
        <p:txBody>
          <a:bodyPr wrap="square" lIns="0" tIns="0" rIns="0" bIns="0">
            <a:spAutoFit/>
          </a:bodyPr>
          <a:lstStyle/>
          <a:p>
            <a:pPr algn="l">
              <a:lnSpc>
                <a:spcPct val="112000"/>
              </a:lnSpc>
              <a:spcBef>
                <a:spcPts val="0"/>
              </a:spcBef>
              <a:spcAft>
                <a:spcPts val="0"/>
              </a:spcAft>
              <a:defRPr sz="1450" b="1">
                <a:solidFill>
                  <a:srgbClr val="476BC5"/>
                </a:solidFill>
                <a:latin typeface="Manrope"/>
              </a:defRPr>
            </a:pPr>
            <a:r>
              <a:t>BROWSER</a:t>
            </a:r>
          </a:p>
        </p:txBody>
      </p:sp>
      <p:sp>
        <p:nvSpPr>
          <p:cNvPr id="21" name="TextBox 20"/>
          <p:cNvSpPr txBox="1"/>
          <p:nvPr/>
        </p:nvSpPr>
        <p:spPr>
          <a:xfrm>
            <a:off x="6407150" y="3854450"/>
            <a:ext cx="2298700" cy="711200"/>
          </a:xfrm>
          <a:prstGeom prst="rect">
            <a:avLst/>
          </a:prstGeom>
          <a:noFill/>
        </p:spPr>
        <p:txBody>
          <a:bodyPr wrap="square" lIns="0" tIns="0" rIns="0" bIns="0">
            <a:spAutoFit/>
          </a:bodyPr>
          <a:lstStyle/>
          <a:p>
            <a:pPr algn="l">
              <a:lnSpc>
                <a:spcPct val="112000"/>
              </a:lnSpc>
              <a:spcBef>
                <a:spcPts val="0"/>
              </a:spcBef>
              <a:spcAft>
                <a:spcPts val="0"/>
              </a:spcAft>
              <a:defRPr sz="1900" b="1">
                <a:solidFill>
                  <a:srgbClr val="23334D"/>
                </a:solidFill>
                <a:latin typeface="Manrope"/>
              </a:defRPr>
            </a:pPr>
            <a:r>
              <a:t>Exercise the flow</a:t>
            </a:r>
          </a:p>
        </p:txBody>
      </p:sp>
      <p:sp>
        <p:nvSpPr>
          <p:cNvPr id="22" name="TextBox 21"/>
          <p:cNvSpPr txBox="1"/>
          <p:nvPr/>
        </p:nvSpPr>
        <p:spPr>
          <a:xfrm>
            <a:off x="6407150" y="4660900"/>
            <a:ext cx="2298700" cy="381000"/>
          </a:xfrm>
          <a:prstGeom prst="rect">
            <a:avLst/>
          </a:prstGeom>
          <a:noFill/>
        </p:spPr>
        <p:txBody>
          <a:bodyPr wrap="square" lIns="0" tIns="0" rIns="0" bIns="0">
            <a:spAutoFit/>
          </a:bodyPr>
          <a:lstStyle/>
          <a:p>
            <a:pPr algn="l">
              <a:lnSpc>
                <a:spcPct val="112000"/>
              </a:lnSpc>
              <a:spcBef>
                <a:spcPts val="0"/>
              </a:spcBef>
              <a:spcAft>
                <a:spcPts val="0"/>
              </a:spcAft>
              <a:defRPr sz="1350" b="0">
                <a:solidFill>
                  <a:srgbClr val="748198"/>
                </a:solidFill>
                <a:latin typeface="Manrope"/>
              </a:defRPr>
            </a:pPr>
            <a:r>
              <a:t>Buyer / seller walkthroughs</a:t>
            </a:r>
          </a:p>
        </p:txBody>
      </p:sp>
      <p:sp>
        <p:nvSpPr>
          <p:cNvPr id="23" name="TextBox 22"/>
          <p:cNvSpPr txBox="1"/>
          <p:nvPr/>
        </p:nvSpPr>
        <p:spPr>
          <a:xfrm>
            <a:off x="8851900" y="3943350"/>
            <a:ext cx="336550" cy="635000"/>
          </a:xfrm>
          <a:prstGeom prst="rect">
            <a:avLst/>
          </a:prstGeom>
          <a:noFill/>
        </p:spPr>
        <p:txBody>
          <a:bodyPr wrap="square" lIns="0" tIns="0" rIns="0" bIns="0">
            <a:spAutoFit/>
          </a:bodyPr>
          <a:lstStyle/>
          <a:p>
            <a:pPr algn="l">
              <a:lnSpc>
                <a:spcPct val="112000"/>
              </a:lnSpc>
              <a:spcBef>
                <a:spcPts val="0"/>
              </a:spcBef>
              <a:spcAft>
                <a:spcPts val="0"/>
              </a:spcAft>
              <a:defRPr sz="2200" b="0">
                <a:solidFill>
                  <a:srgbClr val="476BC5"/>
                </a:solidFill>
                <a:latin typeface="Manrope"/>
              </a:defRPr>
            </a:pPr>
            <a:r>
              <a:t>→</a:t>
            </a:r>
          </a:p>
        </p:txBody>
      </p:sp>
      <p:sp>
        <p:nvSpPr>
          <p:cNvPr id="24" name="Rectangle 23"/>
          <p:cNvSpPr/>
          <p:nvPr/>
        </p:nvSpPr>
        <p:spPr>
          <a:xfrm>
            <a:off x="9188450" y="3067050"/>
            <a:ext cx="2590800" cy="1981199"/>
          </a:xfrm>
          <a:prstGeom prst="rect">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34500" y="3321050"/>
            <a:ext cx="2298700" cy="298450"/>
          </a:xfrm>
          <a:prstGeom prst="rect">
            <a:avLst/>
          </a:prstGeom>
          <a:noFill/>
        </p:spPr>
        <p:txBody>
          <a:bodyPr wrap="square" lIns="0" tIns="0" rIns="0" bIns="0">
            <a:spAutoFit/>
          </a:bodyPr>
          <a:lstStyle/>
          <a:p>
            <a:pPr algn="l">
              <a:lnSpc>
                <a:spcPct val="112000"/>
              </a:lnSpc>
              <a:spcBef>
                <a:spcPts val="0"/>
              </a:spcBef>
              <a:spcAft>
                <a:spcPts val="0"/>
              </a:spcAft>
              <a:defRPr sz="1450" b="1">
                <a:solidFill>
                  <a:srgbClr val="476BC5"/>
                </a:solidFill>
                <a:latin typeface="Manrope"/>
              </a:defRPr>
            </a:pPr>
            <a:r>
              <a:t>TESTS</a:t>
            </a:r>
          </a:p>
        </p:txBody>
      </p:sp>
      <p:sp>
        <p:nvSpPr>
          <p:cNvPr id="26" name="TextBox 25"/>
          <p:cNvSpPr txBox="1"/>
          <p:nvPr/>
        </p:nvSpPr>
        <p:spPr>
          <a:xfrm>
            <a:off x="9334500" y="3854450"/>
            <a:ext cx="2298700" cy="711200"/>
          </a:xfrm>
          <a:prstGeom prst="rect">
            <a:avLst/>
          </a:prstGeom>
          <a:noFill/>
        </p:spPr>
        <p:txBody>
          <a:bodyPr wrap="square" lIns="0" tIns="0" rIns="0" bIns="0">
            <a:spAutoFit/>
          </a:bodyPr>
          <a:lstStyle/>
          <a:p>
            <a:pPr algn="l">
              <a:lnSpc>
                <a:spcPct val="112000"/>
              </a:lnSpc>
              <a:spcBef>
                <a:spcPts val="0"/>
              </a:spcBef>
              <a:spcAft>
                <a:spcPts val="0"/>
              </a:spcAft>
              <a:defRPr sz="1900" b="1">
                <a:solidFill>
                  <a:srgbClr val="23334D"/>
                </a:solidFill>
                <a:latin typeface="Manrope"/>
              </a:defRPr>
            </a:pPr>
            <a:r>
              <a:t>Check state and access</a:t>
            </a:r>
          </a:p>
        </p:txBody>
      </p:sp>
      <p:sp>
        <p:nvSpPr>
          <p:cNvPr id="27" name="TextBox 26"/>
          <p:cNvSpPr txBox="1"/>
          <p:nvPr/>
        </p:nvSpPr>
        <p:spPr>
          <a:xfrm>
            <a:off x="9334500" y="4660900"/>
            <a:ext cx="2298700" cy="381000"/>
          </a:xfrm>
          <a:prstGeom prst="rect">
            <a:avLst/>
          </a:prstGeom>
          <a:noFill/>
        </p:spPr>
        <p:txBody>
          <a:bodyPr wrap="square" lIns="0" tIns="0" rIns="0" bIns="0">
            <a:spAutoFit/>
          </a:bodyPr>
          <a:lstStyle/>
          <a:p>
            <a:pPr algn="l">
              <a:lnSpc>
                <a:spcPct val="112000"/>
              </a:lnSpc>
              <a:spcBef>
                <a:spcPts val="0"/>
              </a:spcBef>
              <a:spcAft>
                <a:spcPts val="0"/>
              </a:spcAft>
              <a:defRPr sz="1350" b="0">
                <a:solidFill>
                  <a:srgbClr val="748198"/>
                </a:solidFill>
                <a:latin typeface="Manrope"/>
              </a:defRPr>
            </a:pPr>
            <a:r>
              <a:t>Backend validation</a:t>
            </a:r>
          </a:p>
        </p:txBody>
      </p:sp>
      <p:sp>
        <p:nvSpPr>
          <p:cNvPr id="28" name="TextBox 27"/>
          <p:cNvSpPr txBox="1"/>
          <p:nvPr/>
        </p:nvSpPr>
        <p:spPr>
          <a:xfrm>
            <a:off x="406400" y="5708650"/>
            <a:ext cx="11303000" cy="393700"/>
          </a:xfrm>
          <a:prstGeom prst="rect">
            <a:avLst/>
          </a:prstGeom>
          <a:noFill/>
        </p:spPr>
        <p:txBody>
          <a:bodyPr wrap="square" lIns="0" tIns="0" rIns="0" bIns="0">
            <a:spAutoFit/>
          </a:bodyPr>
          <a:lstStyle/>
          <a:p>
            <a:pPr algn="l">
              <a:lnSpc>
                <a:spcPct val="112000"/>
              </a:lnSpc>
              <a:spcBef>
                <a:spcPts val="0"/>
              </a:spcBef>
              <a:spcAft>
                <a:spcPts val="0"/>
              </a:spcAft>
              <a:defRPr sz="1550" b="0">
                <a:solidFill>
                  <a:srgbClr val="748198"/>
                </a:solidFill>
                <a:latin typeface="Manrope"/>
              </a:defRPr>
            </a:pPr>
            <a:r>
              <a:t>Project evidence: local app walkthroughs and saved validation reports.</a:t>
            </a:r>
          </a:p>
        </p:txBody>
      </p:sp>
    </p:spTree>
  </p:cSld>
  <p:clrMapOvr>
    <a:masterClrMapping/>
  </p:clrMapOvr>
  <p:transition advClick="0" advTm="12000"/>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1B30"/>
        </a:solidFill>
        <a:effectLst/>
      </p:bgPr>
    </p:bg>
    <p:spTree>
      <p:nvGrpSpPr>
        <p:cNvPr id="1" name=""/>
        <p:cNvGrpSpPr/>
        <p:nvPr/>
      </p:nvGrpSpPr>
      <p:grpSpPr>
        <a:xfrm>
          <a:off x="0" y="0"/>
          <a:ext cx="0" cy="0"/>
          <a:chOff x="0" y="0"/>
          <a:chExt cx="0" cy="0"/>
        </a:xfrm>
      </p:grpSpPr>
      <p:pic>
        <p:nvPicPr>
          <p:cNvPr id="2" name="Picture 1" descr="elephant-ball-logo.png"/>
          <p:cNvPicPr>
            <a:picLocks noChangeAspect="1"/>
          </p:cNvPicPr>
          <p:nvPr/>
        </p:nvPicPr>
        <p:blipFill>
          <a:blip r:embed="rId3"/>
          <a:stretch>
            <a:fillRect/>
          </a:stretch>
        </p:blipFill>
        <p:spPr>
          <a:xfrm>
            <a:off x="406400" y="273050"/>
            <a:ext cx="406400" cy="406400"/>
          </a:xfrm>
          <a:prstGeom prst="rect">
            <a:avLst/>
          </a:prstGeom>
        </p:spPr>
      </p:pic>
      <p:sp>
        <p:nvSpPr>
          <p:cNvPr id="3" name="TextBox 2"/>
          <p:cNvSpPr txBox="1"/>
          <p:nvPr/>
        </p:nvSpPr>
        <p:spPr>
          <a:xfrm>
            <a:off x="889000" y="304800"/>
            <a:ext cx="1587500" cy="444500"/>
          </a:xfrm>
          <a:prstGeom prst="rect">
            <a:avLst/>
          </a:prstGeom>
          <a:noFill/>
        </p:spPr>
        <p:txBody>
          <a:bodyPr wrap="square" lIns="0" tIns="0" rIns="0" bIns="0">
            <a:spAutoFit/>
          </a:bodyPr>
          <a:lstStyle/>
          <a:p>
            <a:pPr algn="l">
              <a:lnSpc>
                <a:spcPct val="112000"/>
              </a:lnSpc>
              <a:spcBef>
                <a:spcPts val="0"/>
              </a:spcBef>
              <a:spcAft>
                <a:spcPts val="0"/>
              </a:spcAft>
              <a:defRPr sz="2400" b="1">
                <a:solidFill>
                  <a:srgbClr val="B8CEFF"/>
                </a:solidFill>
                <a:latin typeface="Manrope"/>
              </a:defRPr>
            </a:pPr>
            <a:r>
              <a:t>fom.</a:t>
            </a:r>
          </a:p>
        </p:txBody>
      </p:sp>
      <p:sp>
        <p:nvSpPr>
          <p:cNvPr id="4" name="TextBox 3"/>
          <p:cNvSpPr txBox="1"/>
          <p:nvPr/>
        </p:nvSpPr>
        <p:spPr>
          <a:xfrm>
            <a:off x="4699000" y="412750"/>
            <a:ext cx="7048500" cy="285750"/>
          </a:xfrm>
          <a:prstGeom prst="rect">
            <a:avLst/>
          </a:prstGeom>
          <a:noFill/>
        </p:spPr>
        <p:txBody>
          <a:bodyPr wrap="square" lIns="0" tIns="0" rIns="0" bIns="0">
            <a:spAutoFit/>
          </a:bodyPr>
          <a:lstStyle/>
          <a:p>
            <a:pPr algn="r">
              <a:lnSpc>
                <a:spcPct val="112000"/>
              </a:lnSpc>
              <a:spcBef>
                <a:spcPts val="0"/>
              </a:spcBef>
              <a:spcAft>
                <a:spcPts val="0"/>
              </a:spcAft>
              <a:defRPr sz="1200" b="0">
                <a:solidFill>
                  <a:srgbClr val="B8CEFF"/>
                </a:solidFill>
                <a:latin typeface="Manrope"/>
              </a:defRPr>
            </a:pPr>
            <a:r>
              <a:t>NEXT STEPS</a:t>
            </a:r>
          </a:p>
        </p:txBody>
      </p:sp>
      <p:sp>
        <p:nvSpPr>
          <p:cNvPr id="5" name="Rectangle 4"/>
          <p:cNvSpPr/>
          <p:nvPr/>
        </p:nvSpPr>
        <p:spPr>
          <a:xfrm>
            <a:off x="406400" y="6445250"/>
            <a:ext cx="11379200" cy="6350"/>
          </a:xfrm>
          <a:prstGeom prst="rect">
            <a:avLst/>
          </a:prstGeom>
          <a:solidFill>
            <a:srgbClr val="476B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553200"/>
            <a:ext cx="9525000" cy="215900"/>
          </a:xfrm>
          <a:prstGeom prst="rect">
            <a:avLst/>
          </a:prstGeom>
          <a:noFill/>
        </p:spPr>
        <p:txBody>
          <a:bodyPr wrap="square" lIns="0" tIns="0" rIns="0" bIns="0">
            <a:spAutoFit/>
          </a:bodyPr>
          <a:lstStyle/>
          <a:p>
            <a:pPr algn="l">
              <a:lnSpc>
                <a:spcPct val="112000"/>
              </a:lnSpc>
              <a:spcBef>
                <a:spcPts val="0"/>
              </a:spcBef>
              <a:spcAft>
                <a:spcPts val="0"/>
              </a:spcAft>
              <a:defRPr sz="1100" b="0">
                <a:solidFill>
                  <a:srgbClr val="748198"/>
                </a:solidFill>
                <a:latin typeface="Manrope"/>
              </a:defRPr>
            </a:pPr>
            <a:r>
              <a:t>FOM / FUTURE OF MYANMAR</a:t>
            </a:r>
          </a:p>
        </p:txBody>
      </p:sp>
      <p:sp>
        <p:nvSpPr>
          <p:cNvPr id="7" name="TextBox 6"/>
          <p:cNvSpPr txBox="1"/>
          <p:nvPr/>
        </p:nvSpPr>
        <p:spPr>
          <a:xfrm>
            <a:off x="11176000" y="6527800"/>
            <a:ext cx="609600" cy="254000"/>
          </a:xfrm>
          <a:prstGeom prst="rect">
            <a:avLst/>
          </a:prstGeom>
          <a:noFill/>
        </p:spPr>
        <p:txBody>
          <a:bodyPr wrap="square" lIns="0" tIns="0" rIns="0" bIns="0">
            <a:spAutoFit/>
          </a:bodyPr>
          <a:lstStyle/>
          <a:p>
            <a:pPr algn="r">
              <a:lnSpc>
                <a:spcPct val="112000"/>
              </a:lnSpc>
              <a:spcBef>
                <a:spcPts val="0"/>
              </a:spcBef>
              <a:spcAft>
                <a:spcPts val="0"/>
              </a:spcAft>
              <a:defRPr sz="1300" b="1">
                <a:solidFill>
                  <a:srgbClr val="B8CEFF"/>
                </a:solidFill>
                <a:latin typeface="Manrope"/>
              </a:defRPr>
            </a:pPr>
            <a:r>
              <a:t>13</a:t>
            </a:r>
          </a:p>
        </p:txBody>
      </p:sp>
      <p:sp>
        <p:nvSpPr>
          <p:cNvPr id="8" name="TextBox 7"/>
          <p:cNvSpPr txBox="1"/>
          <p:nvPr/>
        </p:nvSpPr>
        <p:spPr>
          <a:xfrm>
            <a:off x="406400" y="1085850"/>
            <a:ext cx="11366500" cy="1524000"/>
          </a:xfrm>
          <a:prstGeom prst="rect">
            <a:avLst/>
          </a:prstGeom>
          <a:noFill/>
        </p:spPr>
        <p:txBody>
          <a:bodyPr wrap="square" lIns="0" tIns="0" rIns="0" bIns="0">
            <a:spAutoFit/>
          </a:bodyPr>
          <a:lstStyle/>
          <a:p>
            <a:pPr algn="l">
              <a:lnSpc>
                <a:spcPct val="112000"/>
              </a:lnSpc>
              <a:spcBef>
                <a:spcPts val="0"/>
              </a:spcBef>
              <a:spcAft>
                <a:spcPts val="0"/>
              </a:spcAft>
              <a:defRPr sz="4400" b="1">
                <a:solidFill>
                  <a:srgbClr val="FFFFFF"/>
                </a:solidFill>
                <a:latin typeface="Manrope"/>
              </a:defRPr>
            </a:pPr>
            <a:r>
              <a:t>Everyday transactions.</a:t>
            </a:r>
          </a:p>
          <a:p>
            <a:pPr algn="l">
              <a:lnSpc>
                <a:spcPct val="112000"/>
              </a:lnSpc>
              <a:spcBef>
                <a:spcPts val="0"/>
              </a:spcBef>
              <a:spcAft>
                <a:spcPts val="0"/>
              </a:spcAft>
              <a:defRPr sz="4400" b="1">
                <a:solidFill>
                  <a:srgbClr val="FFFFFF"/>
                </a:solidFill>
                <a:latin typeface="Manrope"/>
              </a:defRPr>
            </a:pPr>
            <a:r>
              <a:t>Easier to start and follow.</a:t>
            </a:r>
          </a:p>
        </p:txBody>
      </p:sp>
      <p:sp>
        <p:nvSpPr>
          <p:cNvPr id="9" name="TextBox 8"/>
          <p:cNvSpPr txBox="1"/>
          <p:nvPr/>
        </p:nvSpPr>
        <p:spPr>
          <a:xfrm>
            <a:off x="444500" y="3244850"/>
            <a:ext cx="2095499" cy="349250"/>
          </a:xfrm>
          <a:prstGeom prst="rect">
            <a:avLst/>
          </a:prstGeom>
          <a:noFill/>
        </p:spPr>
        <p:txBody>
          <a:bodyPr wrap="square" lIns="0" tIns="0" rIns="0" bIns="0">
            <a:spAutoFit/>
          </a:bodyPr>
          <a:lstStyle/>
          <a:p>
            <a:pPr algn="l">
              <a:lnSpc>
                <a:spcPct val="112000"/>
              </a:lnSpc>
              <a:spcBef>
                <a:spcPts val="0"/>
              </a:spcBef>
              <a:spcAft>
                <a:spcPts val="0"/>
              </a:spcAft>
              <a:defRPr sz="1550" b="1">
                <a:solidFill>
                  <a:srgbClr val="B8CEFF"/>
                </a:solidFill>
                <a:latin typeface="Manrope"/>
              </a:defRPr>
            </a:pPr>
            <a:r>
              <a:t>NOW</a:t>
            </a:r>
          </a:p>
        </p:txBody>
      </p:sp>
      <p:sp>
        <p:nvSpPr>
          <p:cNvPr id="10" name="TextBox 9"/>
          <p:cNvSpPr txBox="1"/>
          <p:nvPr/>
        </p:nvSpPr>
        <p:spPr>
          <a:xfrm>
            <a:off x="2794000" y="3244850"/>
            <a:ext cx="8572500" cy="469899"/>
          </a:xfrm>
          <a:prstGeom prst="rect">
            <a:avLst/>
          </a:prstGeom>
          <a:noFill/>
        </p:spPr>
        <p:txBody>
          <a:bodyPr wrap="square" lIns="0" tIns="0" rIns="0" bIns="0">
            <a:spAutoFit/>
          </a:bodyPr>
          <a:lstStyle/>
          <a:p>
            <a:pPr algn="l">
              <a:lnSpc>
                <a:spcPct val="112000"/>
              </a:lnSpc>
              <a:spcBef>
                <a:spcPts val="0"/>
              </a:spcBef>
              <a:spcAft>
                <a:spcPts val="0"/>
              </a:spcAft>
              <a:defRPr sz="2150" b="1">
                <a:solidFill>
                  <a:srgbClr val="FFFFFF"/>
                </a:solidFill>
                <a:latin typeface="Manrope"/>
              </a:defRPr>
            </a:pPr>
            <a:r>
              <a:t>Working receipt / deal prototype</a:t>
            </a:r>
          </a:p>
        </p:txBody>
      </p:sp>
      <p:sp>
        <p:nvSpPr>
          <p:cNvPr id="11" name="TextBox 10"/>
          <p:cNvSpPr txBox="1"/>
          <p:nvPr/>
        </p:nvSpPr>
        <p:spPr>
          <a:xfrm>
            <a:off x="444500" y="4133849"/>
            <a:ext cx="2095499" cy="349250"/>
          </a:xfrm>
          <a:prstGeom prst="rect">
            <a:avLst/>
          </a:prstGeom>
          <a:noFill/>
        </p:spPr>
        <p:txBody>
          <a:bodyPr wrap="square" lIns="0" tIns="0" rIns="0" bIns="0">
            <a:spAutoFit/>
          </a:bodyPr>
          <a:lstStyle/>
          <a:p>
            <a:pPr algn="l">
              <a:lnSpc>
                <a:spcPct val="112000"/>
              </a:lnSpc>
              <a:spcBef>
                <a:spcPts val="0"/>
              </a:spcBef>
              <a:spcAft>
                <a:spcPts val="0"/>
              </a:spcAft>
              <a:defRPr sz="1550" b="1">
                <a:solidFill>
                  <a:srgbClr val="B8CEFF"/>
                </a:solidFill>
                <a:latin typeface="Manrope"/>
              </a:defRPr>
            </a:pPr>
            <a:r>
              <a:t>NEXT</a:t>
            </a:r>
          </a:p>
        </p:txBody>
      </p:sp>
      <p:sp>
        <p:nvSpPr>
          <p:cNvPr id="12" name="TextBox 11"/>
          <p:cNvSpPr txBox="1"/>
          <p:nvPr/>
        </p:nvSpPr>
        <p:spPr>
          <a:xfrm>
            <a:off x="2794000" y="4133849"/>
            <a:ext cx="8572500" cy="469899"/>
          </a:xfrm>
          <a:prstGeom prst="rect">
            <a:avLst/>
          </a:prstGeom>
          <a:noFill/>
        </p:spPr>
        <p:txBody>
          <a:bodyPr wrap="square" lIns="0" tIns="0" rIns="0" bIns="0">
            <a:spAutoFit/>
          </a:bodyPr>
          <a:lstStyle/>
          <a:p>
            <a:pPr algn="l">
              <a:lnSpc>
                <a:spcPct val="112000"/>
              </a:lnSpc>
              <a:spcBef>
                <a:spcPts val="0"/>
              </a:spcBef>
              <a:spcAft>
                <a:spcPts val="0"/>
              </a:spcAft>
              <a:defRPr sz="2150" b="1">
                <a:solidFill>
                  <a:srgbClr val="FFFFFF"/>
                </a:solidFill>
                <a:latin typeface="Manrope"/>
              </a:defRPr>
            </a:pPr>
            <a:r>
              <a:t>Approved partner + limited pilot</a:t>
            </a:r>
          </a:p>
        </p:txBody>
      </p:sp>
      <p:sp>
        <p:nvSpPr>
          <p:cNvPr id="13" name="TextBox 12"/>
          <p:cNvSpPr txBox="1"/>
          <p:nvPr/>
        </p:nvSpPr>
        <p:spPr>
          <a:xfrm>
            <a:off x="444500" y="5022850"/>
            <a:ext cx="2095499" cy="349250"/>
          </a:xfrm>
          <a:prstGeom prst="rect">
            <a:avLst/>
          </a:prstGeom>
          <a:noFill/>
        </p:spPr>
        <p:txBody>
          <a:bodyPr wrap="square" lIns="0" tIns="0" rIns="0" bIns="0">
            <a:spAutoFit/>
          </a:bodyPr>
          <a:lstStyle/>
          <a:p>
            <a:pPr algn="l">
              <a:lnSpc>
                <a:spcPct val="112000"/>
              </a:lnSpc>
              <a:spcBef>
                <a:spcPts val="0"/>
              </a:spcBef>
              <a:spcAft>
                <a:spcPts val="0"/>
              </a:spcAft>
              <a:defRPr sz="1550" b="1">
                <a:solidFill>
                  <a:srgbClr val="B8CEFF"/>
                </a:solidFill>
                <a:latin typeface="Manrope"/>
              </a:defRPr>
            </a:pPr>
            <a:r>
              <a:t>PHASE 2</a:t>
            </a:r>
          </a:p>
        </p:txBody>
      </p:sp>
      <p:sp>
        <p:nvSpPr>
          <p:cNvPr id="14" name="TextBox 13"/>
          <p:cNvSpPr txBox="1"/>
          <p:nvPr/>
        </p:nvSpPr>
        <p:spPr>
          <a:xfrm>
            <a:off x="2794000" y="5022850"/>
            <a:ext cx="8572500" cy="469899"/>
          </a:xfrm>
          <a:prstGeom prst="rect">
            <a:avLst/>
          </a:prstGeom>
          <a:noFill/>
        </p:spPr>
        <p:txBody>
          <a:bodyPr wrap="square" lIns="0" tIns="0" rIns="0" bIns="0">
            <a:spAutoFit/>
          </a:bodyPr>
          <a:lstStyle/>
          <a:p>
            <a:pPr algn="l">
              <a:lnSpc>
                <a:spcPct val="112000"/>
              </a:lnSpc>
              <a:spcBef>
                <a:spcPts val="0"/>
              </a:spcBef>
              <a:spcAft>
                <a:spcPts val="0"/>
              </a:spcAft>
              <a:defRPr sz="2150" b="1">
                <a:solidFill>
                  <a:srgbClr val="FFFFFF"/>
                </a:solidFill>
                <a:latin typeface="Manrope"/>
              </a:defRPr>
            </a:pPr>
            <a:r>
              <a:t>Explore delivery verification</a:t>
            </a:r>
          </a:p>
        </p:txBody>
      </p:sp>
    </p:spTree>
  </p:cSld>
  <p:clrMapOvr>
    <a:masterClrMapping/>
  </p:clrMapOvr>
  <p:transition advClick="0" advTm="8000"/>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FFDF8"/>
        </a:solidFill>
        <a:effectLst/>
      </p:bgPr>
    </p:bg>
    <p:spTree>
      <p:nvGrpSpPr>
        <p:cNvPr id="1" name=""/>
        <p:cNvGrpSpPr/>
        <p:nvPr/>
      </p:nvGrpSpPr>
      <p:grpSpPr>
        <a:xfrm>
          <a:off x="0" y="0"/>
          <a:ext cx="0" cy="0"/>
          <a:chOff x="0" y="0"/>
          <a:chExt cx="0" cy="0"/>
        </a:xfrm>
      </p:grpSpPr>
      <p:pic>
        <p:nvPicPr>
          <p:cNvPr id="2" name="Picture 1" descr="elephant-ball-logo.png"/>
          <p:cNvPicPr>
            <a:picLocks noChangeAspect="1"/>
          </p:cNvPicPr>
          <p:nvPr/>
        </p:nvPicPr>
        <p:blipFill>
          <a:blip r:embed="rId3"/>
          <a:stretch>
            <a:fillRect/>
          </a:stretch>
        </p:blipFill>
        <p:spPr>
          <a:xfrm>
            <a:off x="406400" y="273050"/>
            <a:ext cx="406400" cy="406400"/>
          </a:xfrm>
          <a:prstGeom prst="rect">
            <a:avLst/>
          </a:prstGeom>
        </p:spPr>
      </p:pic>
      <p:sp>
        <p:nvSpPr>
          <p:cNvPr id="3" name="TextBox 2"/>
          <p:cNvSpPr txBox="1"/>
          <p:nvPr/>
        </p:nvSpPr>
        <p:spPr>
          <a:xfrm>
            <a:off x="889000" y="304800"/>
            <a:ext cx="1587500" cy="444500"/>
          </a:xfrm>
          <a:prstGeom prst="rect">
            <a:avLst/>
          </a:prstGeom>
          <a:noFill/>
        </p:spPr>
        <p:txBody>
          <a:bodyPr wrap="square" lIns="0" tIns="0" rIns="0" bIns="0">
            <a:spAutoFit/>
          </a:bodyPr>
          <a:lstStyle/>
          <a:p>
            <a:pPr algn="l">
              <a:lnSpc>
                <a:spcPct val="112000"/>
              </a:lnSpc>
              <a:spcBef>
                <a:spcPts val="0"/>
              </a:spcBef>
              <a:spcAft>
                <a:spcPts val="0"/>
              </a:spcAft>
              <a:defRPr sz="2400" b="1">
                <a:solidFill>
                  <a:srgbClr val="476BC5"/>
                </a:solidFill>
                <a:latin typeface="Manrope"/>
              </a:defRPr>
            </a:pPr>
            <a:r>
              <a:t>fom.</a:t>
            </a:r>
          </a:p>
        </p:txBody>
      </p:sp>
      <p:sp>
        <p:nvSpPr>
          <p:cNvPr id="4" name="TextBox 3"/>
          <p:cNvSpPr txBox="1"/>
          <p:nvPr/>
        </p:nvSpPr>
        <p:spPr>
          <a:xfrm>
            <a:off x="4699000" y="412750"/>
            <a:ext cx="7048500" cy="285750"/>
          </a:xfrm>
          <a:prstGeom prst="rect">
            <a:avLst/>
          </a:prstGeom>
          <a:noFill/>
        </p:spPr>
        <p:txBody>
          <a:bodyPr wrap="square" lIns="0" tIns="0" rIns="0" bIns="0">
            <a:spAutoFit/>
          </a:bodyPr>
          <a:lstStyle/>
          <a:p>
            <a:pPr algn="r">
              <a:lnSpc>
                <a:spcPct val="112000"/>
              </a:lnSpc>
              <a:spcBef>
                <a:spcPts val="0"/>
              </a:spcBef>
              <a:spcAft>
                <a:spcPts val="0"/>
              </a:spcAft>
              <a:defRPr sz="1200" b="0">
                <a:solidFill>
                  <a:srgbClr val="748198"/>
                </a:solidFill>
                <a:latin typeface="Manrope"/>
              </a:defRPr>
            </a:pPr>
            <a:r>
              <a:t>APPENDIX · EXCLUDED FROM TIMED VIDEO</a:t>
            </a:r>
          </a:p>
        </p:txBody>
      </p:sp>
      <p:sp>
        <p:nvSpPr>
          <p:cNvPr id="5" name="Rectangle 4"/>
          <p:cNvSpPr/>
          <p:nvPr/>
        </p:nvSpPr>
        <p:spPr>
          <a:xfrm>
            <a:off x="406400" y="6445250"/>
            <a:ext cx="11379200" cy="6350"/>
          </a:xfrm>
          <a:prstGeom prst="rect">
            <a:avLst/>
          </a:prstGeom>
          <a:solidFill>
            <a:srgbClr val="CC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553200"/>
            <a:ext cx="9525000" cy="215900"/>
          </a:xfrm>
          <a:prstGeom prst="rect">
            <a:avLst/>
          </a:prstGeom>
          <a:noFill/>
        </p:spPr>
        <p:txBody>
          <a:bodyPr wrap="square" lIns="0" tIns="0" rIns="0" bIns="0">
            <a:spAutoFit/>
          </a:bodyPr>
          <a:lstStyle/>
          <a:p>
            <a:pPr algn="l">
              <a:lnSpc>
                <a:spcPct val="112000"/>
              </a:lnSpc>
              <a:spcBef>
                <a:spcPts val="0"/>
              </a:spcBef>
              <a:spcAft>
                <a:spcPts val="0"/>
              </a:spcAft>
              <a:defRPr sz="1100" b="0">
                <a:solidFill>
                  <a:srgbClr val="748198"/>
                </a:solidFill>
                <a:latin typeface="Manrope"/>
              </a:defRPr>
            </a:pPr>
            <a:r>
              <a:t>FOM / FUTURE OF MYANMAR</a:t>
            </a:r>
          </a:p>
        </p:txBody>
      </p:sp>
      <p:sp>
        <p:nvSpPr>
          <p:cNvPr id="7" name="TextBox 6"/>
          <p:cNvSpPr txBox="1"/>
          <p:nvPr/>
        </p:nvSpPr>
        <p:spPr>
          <a:xfrm>
            <a:off x="11176000" y="6527800"/>
            <a:ext cx="609600" cy="254000"/>
          </a:xfrm>
          <a:prstGeom prst="rect">
            <a:avLst/>
          </a:prstGeom>
          <a:noFill/>
        </p:spPr>
        <p:txBody>
          <a:bodyPr wrap="square" lIns="0" tIns="0" rIns="0" bIns="0">
            <a:spAutoFit/>
          </a:bodyPr>
          <a:lstStyle/>
          <a:p>
            <a:pPr algn="r">
              <a:lnSpc>
                <a:spcPct val="112000"/>
              </a:lnSpc>
              <a:spcBef>
                <a:spcPts val="0"/>
              </a:spcBef>
              <a:spcAft>
                <a:spcPts val="0"/>
              </a:spcAft>
              <a:defRPr sz="1300" b="1">
                <a:solidFill>
                  <a:srgbClr val="476BC5"/>
                </a:solidFill>
                <a:latin typeface="Manrope"/>
              </a:defRPr>
            </a:pPr>
            <a:r>
              <a:t>14</a:t>
            </a:r>
          </a:p>
        </p:txBody>
      </p:sp>
      <p:sp>
        <p:nvSpPr>
          <p:cNvPr id="8" name="TextBox 7"/>
          <p:cNvSpPr txBox="1"/>
          <p:nvPr/>
        </p:nvSpPr>
        <p:spPr>
          <a:xfrm>
            <a:off x="406400" y="1085850"/>
            <a:ext cx="11366500" cy="1524000"/>
          </a:xfrm>
          <a:prstGeom prst="rect">
            <a:avLst/>
          </a:prstGeom>
          <a:noFill/>
        </p:spPr>
        <p:txBody>
          <a:bodyPr wrap="square" lIns="0" tIns="0" rIns="0" bIns="0">
            <a:spAutoFit/>
          </a:bodyPr>
          <a:lstStyle/>
          <a:p>
            <a:pPr algn="l">
              <a:lnSpc>
                <a:spcPct val="112000"/>
              </a:lnSpc>
              <a:spcBef>
                <a:spcPts val="0"/>
              </a:spcBef>
              <a:spcAft>
                <a:spcPts val="0"/>
              </a:spcAft>
              <a:defRPr sz="4000" b="1">
                <a:solidFill>
                  <a:srgbClr val="23334D"/>
                </a:solidFill>
                <a:latin typeface="Manrope"/>
              </a:defRPr>
            </a:pPr>
            <a:r>
              <a:t>The FOM team.</a:t>
            </a:r>
          </a:p>
        </p:txBody>
      </p:sp>
      <p:sp>
        <p:nvSpPr>
          <p:cNvPr id="9" name="TextBox 8"/>
          <p:cNvSpPr txBox="1"/>
          <p:nvPr/>
        </p:nvSpPr>
        <p:spPr>
          <a:xfrm>
            <a:off x="444500" y="2565400"/>
            <a:ext cx="5461000" cy="342900"/>
          </a:xfrm>
          <a:prstGeom prst="rect">
            <a:avLst/>
          </a:prstGeom>
          <a:noFill/>
        </p:spPr>
        <p:txBody>
          <a:bodyPr wrap="square" lIns="0" tIns="0" rIns="0" bIns="0">
            <a:spAutoFit/>
          </a:bodyPr>
          <a:lstStyle/>
          <a:p>
            <a:pPr algn="l">
              <a:lnSpc>
                <a:spcPct val="112000"/>
              </a:lnSpc>
              <a:spcBef>
                <a:spcPts val="0"/>
              </a:spcBef>
              <a:spcAft>
                <a:spcPts val="0"/>
              </a:spcAft>
              <a:defRPr sz="2000" b="1">
                <a:solidFill>
                  <a:srgbClr val="23334D"/>
                </a:solidFill>
                <a:latin typeface="Manrope"/>
              </a:defRPr>
            </a:pPr>
            <a:r>
              <a:t>Hlaing Myint Myat</a:t>
            </a:r>
          </a:p>
        </p:txBody>
      </p:sp>
      <p:sp>
        <p:nvSpPr>
          <p:cNvPr id="10" name="TextBox 9"/>
          <p:cNvSpPr txBox="1"/>
          <p:nvPr/>
        </p:nvSpPr>
        <p:spPr>
          <a:xfrm>
            <a:off x="444500" y="2940050"/>
            <a:ext cx="5461000" cy="273050"/>
          </a:xfrm>
          <a:prstGeom prst="rect">
            <a:avLst/>
          </a:prstGeom>
          <a:noFill/>
        </p:spPr>
        <p:txBody>
          <a:bodyPr wrap="square" lIns="0" tIns="0" rIns="0" bIns="0">
            <a:spAutoFit/>
          </a:bodyPr>
          <a:lstStyle/>
          <a:p>
            <a:pPr algn="l">
              <a:lnSpc>
                <a:spcPct val="112000"/>
              </a:lnSpc>
              <a:spcBef>
                <a:spcPts val="0"/>
              </a:spcBef>
              <a:spcAft>
                <a:spcPts val="0"/>
              </a:spcAft>
              <a:defRPr sz="1450" b="0">
                <a:solidFill>
                  <a:srgbClr val="476BC5"/>
                </a:solidFill>
                <a:latin typeface="Manrope"/>
              </a:defRPr>
            </a:pPr>
            <a:r>
              <a:t>Product Designer</a:t>
            </a:r>
          </a:p>
        </p:txBody>
      </p:sp>
      <p:sp>
        <p:nvSpPr>
          <p:cNvPr id="11" name="TextBox 10"/>
          <p:cNvSpPr txBox="1"/>
          <p:nvPr/>
        </p:nvSpPr>
        <p:spPr>
          <a:xfrm>
            <a:off x="444500" y="3251200"/>
            <a:ext cx="5461000" cy="279400"/>
          </a:xfrm>
          <a:prstGeom prst="rect">
            <a:avLst/>
          </a:prstGeom>
          <a:noFill/>
        </p:spPr>
        <p:txBody>
          <a:bodyPr wrap="square" lIns="0" tIns="0" rIns="0" bIns="0">
            <a:spAutoFit/>
          </a:bodyPr>
          <a:lstStyle/>
          <a:p>
            <a:pPr algn="l">
              <a:lnSpc>
                <a:spcPct val="112000"/>
              </a:lnSpc>
              <a:spcBef>
                <a:spcPts val="0"/>
              </a:spcBef>
              <a:spcAft>
                <a:spcPts val="0"/>
              </a:spcAft>
              <a:defRPr sz="1350" b="0">
                <a:solidFill>
                  <a:srgbClr val="748198"/>
                </a:solidFill>
                <a:latin typeface="Manrope"/>
              </a:defRPr>
            </a:pPr>
            <a:r>
              <a:t>hlaingmyintmyat111@gmail.com</a:t>
            </a:r>
          </a:p>
        </p:txBody>
      </p:sp>
      <p:sp>
        <p:nvSpPr>
          <p:cNvPr id="12" name="TextBox 11"/>
          <p:cNvSpPr txBox="1"/>
          <p:nvPr/>
        </p:nvSpPr>
        <p:spPr>
          <a:xfrm>
            <a:off x="6210300" y="2565400"/>
            <a:ext cx="5461000" cy="342900"/>
          </a:xfrm>
          <a:prstGeom prst="rect">
            <a:avLst/>
          </a:prstGeom>
          <a:noFill/>
        </p:spPr>
        <p:txBody>
          <a:bodyPr wrap="square" lIns="0" tIns="0" rIns="0" bIns="0">
            <a:spAutoFit/>
          </a:bodyPr>
          <a:lstStyle/>
          <a:p>
            <a:pPr algn="l">
              <a:lnSpc>
                <a:spcPct val="112000"/>
              </a:lnSpc>
              <a:spcBef>
                <a:spcPts val="0"/>
              </a:spcBef>
              <a:spcAft>
                <a:spcPts val="0"/>
              </a:spcAft>
              <a:defRPr sz="2000" b="1">
                <a:solidFill>
                  <a:srgbClr val="23334D"/>
                </a:solidFill>
                <a:latin typeface="Manrope"/>
              </a:defRPr>
            </a:pPr>
            <a:r>
              <a:t>Thurein Hein</a:t>
            </a:r>
          </a:p>
        </p:txBody>
      </p:sp>
      <p:sp>
        <p:nvSpPr>
          <p:cNvPr id="13" name="TextBox 12"/>
          <p:cNvSpPr txBox="1"/>
          <p:nvPr/>
        </p:nvSpPr>
        <p:spPr>
          <a:xfrm>
            <a:off x="6210300" y="2940050"/>
            <a:ext cx="5461000" cy="273050"/>
          </a:xfrm>
          <a:prstGeom prst="rect">
            <a:avLst/>
          </a:prstGeom>
          <a:noFill/>
        </p:spPr>
        <p:txBody>
          <a:bodyPr wrap="square" lIns="0" tIns="0" rIns="0" bIns="0">
            <a:spAutoFit/>
          </a:bodyPr>
          <a:lstStyle/>
          <a:p>
            <a:pPr algn="l">
              <a:lnSpc>
                <a:spcPct val="112000"/>
              </a:lnSpc>
              <a:spcBef>
                <a:spcPts val="0"/>
              </a:spcBef>
              <a:spcAft>
                <a:spcPts val="0"/>
              </a:spcAft>
              <a:defRPr sz="1450" b="0">
                <a:solidFill>
                  <a:srgbClr val="476BC5"/>
                </a:solidFill>
                <a:latin typeface="Manrope"/>
              </a:defRPr>
            </a:pPr>
            <a:r>
              <a:t>Business Owner</a:t>
            </a:r>
          </a:p>
        </p:txBody>
      </p:sp>
      <p:sp>
        <p:nvSpPr>
          <p:cNvPr id="14" name="TextBox 13"/>
          <p:cNvSpPr txBox="1"/>
          <p:nvPr/>
        </p:nvSpPr>
        <p:spPr>
          <a:xfrm>
            <a:off x="6210300" y="3251200"/>
            <a:ext cx="5461000" cy="279400"/>
          </a:xfrm>
          <a:prstGeom prst="rect">
            <a:avLst/>
          </a:prstGeom>
          <a:noFill/>
        </p:spPr>
        <p:txBody>
          <a:bodyPr wrap="square" lIns="0" tIns="0" rIns="0" bIns="0">
            <a:spAutoFit/>
          </a:bodyPr>
          <a:lstStyle/>
          <a:p>
            <a:pPr algn="l">
              <a:lnSpc>
                <a:spcPct val="112000"/>
              </a:lnSpc>
              <a:spcBef>
                <a:spcPts val="0"/>
              </a:spcBef>
              <a:spcAft>
                <a:spcPts val="0"/>
              </a:spcAft>
              <a:defRPr sz="1350" b="0">
                <a:solidFill>
                  <a:srgbClr val="748198"/>
                </a:solidFill>
                <a:latin typeface="Manrope"/>
              </a:defRPr>
            </a:pPr>
            <a:r>
              <a:t>mgthureinhein123@gmail.com</a:t>
            </a:r>
          </a:p>
        </p:txBody>
      </p:sp>
      <p:sp>
        <p:nvSpPr>
          <p:cNvPr id="15" name="TextBox 14"/>
          <p:cNvSpPr txBox="1"/>
          <p:nvPr/>
        </p:nvSpPr>
        <p:spPr>
          <a:xfrm>
            <a:off x="444500" y="3714750"/>
            <a:ext cx="5461000" cy="342900"/>
          </a:xfrm>
          <a:prstGeom prst="rect">
            <a:avLst/>
          </a:prstGeom>
          <a:noFill/>
        </p:spPr>
        <p:txBody>
          <a:bodyPr wrap="square" lIns="0" tIns="0" rIns="0" bIns="0">
            <a:spAutoFit/>
          </a:bodyPr>
          <a:lstStyle/>
          <a:p>
            <a:pPr algn="l">
              <a:lnSpc>
                <a:spcPct val="112000"/>
              </a:lnSpc>
              <a:spcBef>
                <a:spcPts val="0"/>
              </a:spcBef>
              <a:spcAft>
                <a:spcPts val="0"/>
              </a:spcAft>
              <a:defRPr sz="2000" b="1">
                <a:solidFill>
                  <a:srgbClr val="23334D"/>
                </a:solidFill>
                <a:latin typeface="Manrope"/>
              </a:defRPr>
            </a:pPr>
            <a:r>
              <a:t>Nyein Zaw Lin</a:t>
            </a:r>
          </a:p>
        </p:txBody>
      </p:sp>
      <p:sp>
        <p:nvSpPr>
          <p:cNvPr id="16" name="TextBox 15"/>
          <p:cNvSpPr txBox="1"/>
          <p:nvPr/>
        </p:nvSpPr>
        <p:spPr>
          <a:xfrm>
            <a:off x="444500" y="4089400"/>
            <a:ext cx="5461000" cy="273050"/>
          </a:xfrm>
          <a:prstGeom prst="rect">
            <a:avLst/>
          </a:prstGeom>
          <a:noFill/>
        </p:spPr>
        <p:txBody>
          <a:bodyPr wrap="square" lIns="0" tIns="0" rIns="0" bIns="0">
            <a:spAutoFit/>
          </a:bodyPr>
          <a:lstStyle/>
          <a:p>
            <a:pPr algn="l">
              <a:lnSpc>
                <a:spcPct val="112000"/>
              </a:lnSpc>
              <a:spcBef>
                <a:spcPts val="0"/>
              </a:spcBef>
              <a:spcAft>
                <a:spcPts val="0"/>
              </a:spcAft>
              <a:defRPr sz="1450" b="0">
                <a:solidFill>
                  <a:srgbClr val="476BC5"/>
                </a:solidFill>
                <a:latin typeface="Manrope"/>
              </a:defRPr>
            </a:pPr>
            <a:r>
              <a:t>Full Stack Developer</a:t>
            </a:r>
          </a:p>
        </p:txBody>
      </p:sp>
      <p:sp>
        <p:nvSpPr>
          <p:cNvPr id="17" name="TextBox 16"/>
          <p:cNvSpPr txBox="1"/>
          <p:nvPr/>
        </p:nvSpPr>
        <p:spPr>
          <a:xfrm>
            <a:off x="444500" y="4400550"/>
            <a:ext cx="5461000" cy="279400"/>
          </a:xfrm>
          <a:prstGeom prst="rect">
            <a:avLst/>
          </a:prstGeom>
          <a:noFill/>
        </p:spPr>
        <p:txBody>
          <a:bodyPr wrap="square" lIns="0" tIns="0" rIns="0" bIns="0">
            <a:spAutoFit/>
          </a:bodyPr>
          <a:lstStyle/>
          <a:p>
            <a:pPr algn="l">
              <a:lnSpc>
                <a:spcPct val="112000"/>
              </a:lnSpc>
              <a:spcBef>
                <a:spcPts val="0"/>
              </a:spcBef>
              <a:spcAft>
                <a:spcPts val="0"/>
              </a:spcAft>
              <a:defRPr sz="1350" b="0">
                <a:solidFill>
                  <a:srgbClr val="748198"/>
                </a:solidFill>
                <a:latin typeface="Manrope"/>
              </a:defRPr>
            </a:pPr>
            <a:r>
              <a:t>nzaw39165@gmail.com</a:t>
            </a:r>
          </a:p>
        </p:txBody>
      </p:sp>
      <p:sp>
        <p:nvSpPr>
          <p:cNvPr id="18" name="TextBox 17"/>
          <p:cNvSpPr txBox="1"/>
          <p:nvPr/>
        </p:nvSpPr>
        <p:spPr>
          <a:xfrm>
            <a:off x="6210300" y="3714750"/>
            <a:ext cx="5461000" cy="342900"/>
          </a:xfrm>
          <a:prstGeom prst="rect">
            <a:avLst/>
          </a:prstGeom>
          <a:noFill/>
        </p:spPr>
        <p:txBody>
          <a:bodyPr wrap="square" lIns="0" tIns="0" rIns="0" bIns="0">
            <a:spAutoFit/>
          </a:bodyPr>
          <a:lstStyle/>
          <a:p>
            <a:pPr algn="l">
              <a:lnSpc>
                <a:spcPct val="112000"/>
              </a:lnSpc>
              <a:spcBef>
                <a:spcPts val="0"/>
              </a:spcBef>
              <a:spcAft>
                <a:spcPts val="0"/>
              </a:spcAft>
              <a:defRPr sz="2000" b="1">
                <a:solidFill>
                  <a:srgbClr val="23334D"/>
                </a:solidFill>
                <a:latin typeface="Manrope"/>
              </a:defRPr>
            </a:pPr>
            <a:r>
              <a:t>P Sai Naung</a:t>
            </a:r>
          </a:p>
        </p:txBody>
      </p:sp>
      <p:sp>
        <p:nvSpPr>
          <p:cNvPr id="19" name="TextBox 18"/>
          <p:cNvSpPr txBox="1"/>
          <p:nvPr/>
        </p:nvSpPr>
        <p:spPr>
          <a:xfrm>
            <a:off x="6210300" y="4089400"/>
            <a:ext cx="5461000" cy="273050"/>
          </a:xfrm>
          <a:prstGeom prst="rect">
            <a:avLst/>
          </a:prstGeom>
          <a:noFill/>
        </p:spPr>
        <p:txBody>
          <a:bodyPr wrap="square" lIns="0" tIns="0" rIns="0" bIns="0">
            <a:spAutoFit/>
          </a:bodyPr>
          <a:lstStyle/>
          <a:p>
            <a:pPr algn="l">
              <a:lnSpc>
                <a:spcPct val="112000"/>
              </a:lnSpc>
              <a:spcBef>
                <a:spcPts val="0"/>
              </a:spcBef>
              <a:spcAft>
                <a:spcPts val="0"/>
              </a:spcAft>
              <a:defRPr sz="1450" b="0">
                <a:solidFill>
                  <a:srgbClr val="476BC5"/>
                </a:solidFill>
                <a:latin typeface="Manrope"/>
              </a:defRPr>
            </a:pPr>
            <a:r>
              <a:t>Project Manager</a:t>
            </a:r>
          </a:p>
        </p:txBody>
      </p:sp>
      <p:sp>
        <p:nvSpPr>
          <p:cNvPr id="20" name="TextBox 19"/>
          <p:cNvSpPr txBox="1"/>
          <p:nvPr/>
        </p:nvSpPr>
        <p:spPr>
          <a:xfrm>
            <a:off x="6210300" y="4400550"/>
            <a:ext cx="5461000" cy="279400"/>
          </a:xfrm>
          <a:prstGeom prst="rect">
            <a:avLst/>
          </a:prstGeom>
          <a:noFill/>
        </p:spPr>
        <p:txBody>
          <a:bodyPr wrap="square" lIns="0" tIns="0" rIns="0" bIns="0">
            <a:spAutoFit/>
          </a:bodyPr>
          <a:lstStyle/>
          <a:p>
            <a:pPr algn="l">
              <a:lnSpc>
                <a:spcPct val="112000"/>
              </a:lnSpc>
              <a:spcBef>
                <a:spcPts val="0"/>
              </a:spcBef>
              <a:spcAft>
                <a:spcPts val="0"/>
              </a:spcAft>
              <a:defRPr sz="1350" b="0">
                <a:solidFill>
                  <a:srgbClr val="748198"/>
                </a:solidFill>
                <a:latin typeface="Manrope"/>
              </a:defRPr>
            </a:pPr>
            <a:r>
              <a:t>psainaung2009@gmail.com</a:t>
            </a:r>
          </a:p>
        </p:txBody>
      </p:sp>
      <p:sp>
        <p:nvSpPr>
          <p:cNvPr id="21" name="TextBox 20"/>
          <p:cNvSpPr txBox="1"/>
          <p:nvPr/>
        </p:nvSpPr>
        <p:spPr>
          <a:xfrm>
            <a:off x="444500" y="4864100"/>
            <a:ext cx="5461000" cy="342900"/>
          </a:xfrm>
          <a:prstGeom prst="rect">
            <a:avLst/>
          </a:prstGeom>
          <a:noFill/>
        </p:spPr>
        <p:txBody>
          <a:bodyPr wrap="square" lIns="0" tIns="0" rIns="0" bIns="0">
            <a:spAutoFit/>
          </a:bodyPr>
          <a:lstStyle/>
          <a:p>
            <a:pPr algn="l">
              <a:lnSpc>
                <a:spcPct val="112000"/>
              </a:lnSpc>
              <a:spcBef>
                <a:spcPts val="0"/>
              </a:spcBef>
              <a:spcAft>
                <a:spcPts val="0"/>
              </a:spcAft>
              <a:defRPr sz="2000" b="1">
                <a:solidFill>
                  <a:srgbClr val="23334D"/>
                </a:solidFill>
                <a:latin typeface="Manrope"/>
              </a:defRPr>
            </a:pPr>
            <a:r>
              <a:t>Lin Khant Tun</a:t>
            </a:r>
          </a:p>
        </p:txBody>
      </p:sp>
      <p:sp>
        <p:nvSpPr>
          <p:cNvPr id="22" name="TextBox 21"/>
          <p:cNvSpPr txBox="1"/>
          <p:nvPr/>
        </p:nvSpPr>
        <p:spPr>
          <a:xfrm>
            <a:off x="444500" y="5238750"/>
            <a:ext cx="5461000" cy="273050"/>
          </a:xfrm>
          <a:prstGeom prst="rect">
            <a:avLst/>
          </a:prstGeom>
          <a:noFill/>
        </p:spPr>
        <p:txBody>
          <a:bodyPr wrap="square" lIns="0" tIns="0" rIns="0" bIns="0">
            <a:spAutoFit/>
          </a:bodyPr>
          <a:lstStyle/>
          <a:p>
            <a:pPr algn="l">
              <a:lnSpc>
                <a:spcPct val="112000"/>
              </a:lnSpc>
              <a:spcBef>
                <a:spcPts val="0"/>
              </a:spcBef>
              <a:spcAft>
                <a:spcPts val="0"/>
              </a:spcAft>
              <a:defRPr sz="1450" b="0">
                <a:solidFill>
                  <a:srgbClr val="476BC5"/>
                </a:solidFill>
                <a:latin typeface="Manrope"/>
              </a:defRPr>
            </a:pPr>
            <a:r>
              <a:t>Business Analyst</a:t>
            </a:r>
          </a:p>
        </p:txBody>
      </p:sp>
      <p:sp>
        <p:nvSpPr>
          <p:cNvPr id="23" name="TextBox 22"/>
          <p:cNvSpPr txBox="1"/>
          <p:nvPr/>
        </p:nvSpPr>
        <p:spPr>
          <a:xfrm>
            <a:off x="444500" y="5549900"/>
            <a:ext cx="5461000" cy="279400"/>
          </a:xfrm>
          <a:prstGeom prst="rect">
            <a:avLst/>
          </a:prstGeom>
          <a:noFill/>
        </p:spPr>
        <p:txBody>
          <a:bodyPr wrap="square" lIns="0" tIns="0" rIns="0" bIns="0">
            <a:spAutoFit/>
          </a:bodyPr>
          <a:lstStyle/>
          <a:p>
            <a:pPr algn="l">
              <a:lnSpc>
                <a:spcPct val="112000"/>
              </a:lnSpc>
              <a:spcBef>
                <a:spcPts val="0"/>
              </a:spcBef>
              <a:spcAft>
                <a:spcPts val="0"/>
              </a:spcAft>
              <a:defRPr sz="1350" b="0">
                <a:solidFill>
                  <a:srgbClr val="748198"/>
                </a:solidFill>
                <a:latin typeface="Manrope"/>
              </a:defRPr>
            </a:pPr>
            <a:r>
              <a:t>linzwe90@gmail.com</a:t>
            </a:r>
          </a:p>
        </p:txBody>
      </p:sp>
      <p:sp>
        <p:nvSpPr>
          <p:cNvPr id="24" name="TextBox 23"/>
          <p:cNvSpPr txBox="1"/>
          <p:nvPr/>
        </p:nvSpPr>
        <p:spPr>
          <a:xfrm>
            <a:off x="6210300" y="4864100"/>
            <a:ext cx="5461000" cy="342900"/>
          </a:xfrm>
          <a:prstGeom prst="rect">
            <a:avLst/>
          </a:prstGeom>
          <a:noFill/>
        </p:spPr>
        <p:txBody>
          <a:bodyPr wrap="square" lIns="0" tIns="0" rIns="0" bIns="0">
            <a:spAutoFit/>
          </a:bodyPr>
          <a:lstStyle/>
          <a:p>
            <a:pPr algn="l">
              <a:lnSpc>
                <a:spcPct val="112000"/>
              </a:lnSpc>
              <a:spcBef>
                <a:spcPts val="0"/>
              </a:spcBef>
              <a:spcAft>
                <a:spcPts val="0"/>
              </a:spcAft>
              <a:defRPr sz="2000" b="1">
                <a:solidFill>
                  <a:srgbClr val="23334D"/>
                </a:solidFill>
                <a:latin typeface="Manrope"/>
              </a:defRPr>
            </a:pPr>
            <a:r>
              <a:t>Shin Khant</a:t>
            </a:r>
          </a:p>
        </p:txBody>
      </p:sp>
      <p:sp>
        <p:nvSpPr>
          <p:cNvPr id="25" name="TextBox 24"/>
          <p:cNvSpPr txBox="1"/>
          <p:nvPr/>
        </p:nvSpPr>
        <p:spPr>
          <a:xfrm>
            <a:off x="6210300" y="5238750"/>
            <a:ext cx="5461000" cy="273050"/>
          </a:xfrm>
          <a:prstGeom prst="rect">
            <a:avLst/>
          </a:prstGeom>
          <a:noFill/>
        </p:spPr>
        <p:txBody>
          <a:bodyPr wrap="square" lIns="0" tIns="0" rIns="0" bIns="0">
            <a:spAutoFit/>
          </a:bodyPr>
          <a:lstStyle/>
          <a:p>
            <a:pPr algn="l">
              <a:lnSpc>
                <a:spcPct val="112000"/>
              </a:lnSpc>
              <a:spcBef>
                <a:spcPts val="0"/>
              </a:spcBef>
              <a:spcAft>
                <a:spcPts val="0"/>
              </a:spcAft>
              <a:defRPr sz="1450" b="0">
                <a:solidFill>
                  <a:srgbClr val="476BC5"/>
                </a:solidFill>
                <a:latin typeface="Manrope"/>
              </a:defRPr>
            </a:pPr>
            <a:r>
              <a:t>Business Owner</a:t>
            </a:r>
          </a:p>
        </p:txBody>
      </p:sp>
      <p:sp>
        <p:nvSpPr>
          <p:cNvPr id="26" name="TextBox 25"/>
          <p:cNvSpPr txBox="1"/>
          <p:nvPr/>
        </p:nvSpPr>
        <p:spPr>
          <a:xfrm>
            <a:off x="6210300" y="5549900"/>
            <a:ext cx="5461000" cy="279400"/>
          </a:xfrm>
          <a:prstGeom prst="rect">
            <a:avLst/>
          </a:prstGeom>
          <a:noFill/>
        </p:spPr>
        <p:txBody>
          <a:bodyPr wrap="square" lIns="0" tIns="0" rIns="0" bIns="0">
            <a:spAutoFit/>
          </a:bodyPr>
          <a:lstStyle/>
          <a:p>
            <a:pPr algn="l">
              <a:lnSpc>
                <a:spcPct val="112000"/>
              </a:lnSpc>
              <a:spcBef>
                <a:spcPts val="0"/>
              </a:spcBef>
              <a:spcAft>
                <a:spcPts val="0"/>
              </a:spcAft>
              <a:defRPr sz="1350" b="0">
                <a:solidFill>
                  <a:srgbClr val="748198"/>
                </a:solidFill>
                <a:latin typeface="Manrope"/>
              </a:defRPr>
            </a:pPr>
            <a:r>
              <a:t>shinkhanttun0@gmail.com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FFDF8"/>
        </a:solidFill>
        <a:effectLst/>
      </p:bgPr>
    </p:bg>
    <p:spTree>
      <p:nvGrpSpPr>
        <p:cNvPr id="1" name=""/>
        <p:cNvGrpSpPr/>
        <p:nvPr/>
      </p:nvGrpSpPr>
      <p:grpSpPr>
        <a:xfrm>
          <a:off x="0" y="0"/>
          <a:ext cx="0" cy="0"/>
          <a:chOff x="0" y="0"/>
          <a:chExt cx="0" cy="0"/>
        </a:xfrm>
      </p:grpSpPr>
      <p:pic>
        <p:nvPicPr>
          <p:cNvPr id="2" name="Picture 1" descr="elephant-ball-logo.png"/>
          <p:cNvPicPr>
            <a:picLocks noChangeAspect="1"/>
          </p:cNvPicPr>
          <p:nvPr/>
        </p:nvPicPr>
        <p:blipFill>
          <a:blip r:embed="rId3"/>
          <a:stretch>
            <a:fillRect/>
          </a:stretch>
        </p:blipFill>
        <p:spPr>
          <a:xfrm>
            <a:off x="406400" y="273050"/>
            <a:ext cx="406400" cy="406400"/>
          </a:xfrm>
          <a:prstGeom prst="rect">
            <a:avLst/>
          </a:prstGeom>
        </p:spPr>
      </p:pic>
      <p:sp>
        <p:nvSpPr>
          <p:cNvPr id="3" name="TextBox 2"/>
          <p:cNvSpPr txBox="1"/>
          <p:nvPr/>
        </p:nvSpPr>
        <p:spPr>
          <a:xfrm>
            <a:off x="889000" y="304800"/>
            <a:ext cx="1587500" cy="444500"/>
          </a:xfrm>
          <a:prstGeom prst="rect">
            <a:avLst/>
          </a:prstGeom>
          <a:noFill/>
        </p:spPr>
        <p:txBody>
          <a:bodyPr wrap="square" lIns="0" tIns="0" rIns="0" bIns="0">
            <a:spAutoFit/>
          </a:bodyPr>
          <a:lstStyle/>
          <a:p>
            <a:pPr algn="l">
              <a:lnSpc>
                <a:spcPct val="112000"/>
              </a:lnSpc>
              <a:spcBef>
                <a:spcPts val="0"/>
              </a:spcBef>
              <a:spcAft>
                <a:spcPts val="0"/>
              </a:spcAft>
              <a:defRPr sz="2400" b="1">
                <a:solidFill>
                  <a:srgbClr val="476BC5"/>
                </a:solidFill>
                <a:latin typeface="Manrope"/>
              </a:defRPr>
            </a:pPr>
            <a:r>
              <a:t>fom.</a:t>
            </a:r>
          </a:p>
        </p:txBody>
      </p:sp>
      <p:sp>
        <p:nvSpPr>
          <p:cNvPr id="4" name="TextBox 3"/>
          <p:cNvSpPr txBox="1"/>
          <p:nvPr/>
        </p:nvSpPr>
        <p:spPr>
          <a:xfrm>
            <a:off x="4699000" y="412750"/>
            <a:ext cx="7048500" cy="285750"/>
          </a:xfrm>
          <a:prstGeom prst="rect">
            <a:avLst/>
          </a:prstGeom>
          <a:noFill/>
        </p:spPr>
        <p:txBody>
          <a:bodyPr wrap="square" lIns="0" tIns="0" rIns="0" bIns="0">
            <a:spAutoFit/>
          </a:bodyPr>
          <a:lstStyle/>
          <a:p>
            <a:pPr algn="r">
              <a:lnSpc>
                <a:spcPct val="112000"/>
              </a:lnSpc>
              <a:spcBef>
                <a:spcPts val="0"/>
              </a:spcBef>
              <a:spcAft>
                <a:spcPts val="0"/>
              </a:spcAft>
              <a:defRPr sz="1200" b="0">
                <a:solidFill>
                  <a:srgbClr val="748198"/>
                </a:solidFill>
                <a:latin typeface="Manrope"/>
              </a:defRPr>
            </a:pPr>
            <a:r>
              <a:t>APPENDIX · EXCLUDED FROM TIMED VIDEO</a:t>
            </a:r>
          </a:p>
        </p:txBody>
      </p:sp>
      <p:sp>
        <p:nvSpPr>
          <p:cNvPr id="5" name="Rectangle 4"/>
          <p:cNvSpPr/>
          <p:nvPr/>
        </p:nvSpPr>
        <p:spPr>
          <a:xfrm>
            <a:off x="406400" y="6445250"/>
            <a:ext cx="11379200" cy="6350"/>
          </a:xfrm>
          <a:prstGeom prst="rect">
            <a:avLst/>
          </a:prstGeom>
          <a:solidFill>
            <a:srgbClr val="CC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553200"/>
            <a:ext cx="9525000" cy="215900"/>
          </a:xfrm>
          <a:prstGeom prst="rect">
            <a:avLst/>
          </a:prstGeom>
          <a:noFill/>
        </p:spPr>
        <p:txBody>
          <a:bodyPr wrap="square" lIns="0" tIns="0" rIns="0" bIns="0">
            <a:spAutoFit/>
          </a:bodyPr>
          <a:lstStyle/>
          <a:p>
            <a:pPr algn="l">
              <a:lnSpc>
                <a:spcPct val="112000"/>
              </a:lnSpc>
              <a:spcBef>
                <a:spcPts val="0"/>
              </a:spcBef>
              <a:spcAft>
                <a:spcPts val="0"/>
              </a:spcAft>
              <a:defRPr sz="1100" b="0">
                <a:solidFill>
                  <a:srgbClr val="748198"/>
                </a:solidFill>
                <a:latin typeface="Manrope"/>
              </a:defRPr>
            </a:pPr>
            <a:r>
              <a:t>FOM / FUTURE OF MYANMAR</a:t>
            </a:r>
          </a:p>
        </p:txBody>
      </p:sp>
      <p:sp>
        <p:nvSpPr>
          <p:cNvPr id="7" name="TextBox 6"/>
          <p:cNvSpPr txBox="1"/>
          <p:nvPr/>
        </p:nvSpPr>
        <p:spPr>
          <a:xfrm>
            <a:off x="11176000" y="6527800"/>
            <a:ext cx="609600" cy="254000"/>
          </a:xfrm>
          <a:prstGeom prst="rect">
            <a:avLst/>
          </a:prstGeom>
          <a:noFill/>
        </p:spPr>
        <p:txBody>
          <a:bodyPr wrap="square" lIns="0" tIns="0" rIns="0" bIns="0">
            <a:spAutoFit/>
          </a:bodyPr>
          <a:lstStyle/>
          <a:p>
            <a:pPr algn="r">
              <a:lnSpc>
                <a:spcPct val="112000"/>
              </a:lnSpc>
              <a:spcBef>
                <a:spcPts val="0"/>
              </a:spcBef>
              <a:spcAft>
                <a:spcPts val="0"/>
              </a:spcAft>
              <a:defRPr sz="1300" b="1">
                <a:solidFill>
                  <a:srgbClr val="476BC5"/>
                </a:solidFill>
                <a:latin typeface="Manrope"/>
              </a:defRPr>
            </a:pPr>
            <a:r>
              <a:t>15</a:t>
            </a:r>
          </a:p>
        </p:txBody>
      </p:sp>
      <p:sp>
        <p:nvSpPr>
          <p:cNvPr id="8" name="TextBox 7"/>
          <p:cNvSpPr txBox="1"/>
          <p:nvPr/>
        </p:nvSpPr>
        <p:spPr>
          <a:xfrm>
            <a:off x="406400" y="1085850"/>
            <a:ext cx="11366500" cy="1524000"/>
          </a:xfrm>
          <a:prstGeom prst="rect">
            <a:avLst/>
          </a:prstGeom>
          <a:noFill/>
        </p:spPr>
        <p:txBody>
          <a:bodyPr wrap="square" lIns="0" tIns="0" rIns="0" bIns="0">
            <a:spAutoFit/>
          </a:bodyPr>
          <a:lstStyle/>
          <a:p>
            <a:pPr algn="l">
              <a:lnSpc>
                <a:spcPct val="112000"/>
              </a:lnSpc>
              <a:spcBef>
                <a:spcPts val="0"/>
              </a:spcBef>
              <a:spcAft>
                <a:spcPts val="0"/>
              </a:spcAft>
              <a:defRPr sz="3900" b="1">
                <a:solidFill>
                  <a:srgbClr val="23334D"/>
                </a:solidFill>
                <a:latin typeface="Manrope"/>
              </a:defRPr>
            </a:pPr>
            <a:r>
              <a:t>Evidence behind the pitch.</a:t>
            </a:r>
          </a:p>
        </p:txBody>
      </p:sp>
      <p:sp>
        <p:nvSpPr>
          <p:cNvPr id="9" name="TextBox 8"/>
          <p:cNvSpPr txBox="1"/>
          <p:nvPr/>
        </p:nvSpPr>
        <p:spPr>
          <a:xfrm>
            <a:off x="444500" y="2413000"/>
            <a:ext cx="2222500" cy="349250"/>
          </a:xfrm>
          <a:prstGeom prst="rect">
            <a:avLst/>
          </a:prstGeom>
          <a:noFill/>
        </p:spPr>
        <p:txBody>
          <a:bodyPr wrap="square" lIns="0" tIns="0" rIns="0" bIns="0">
            <a:spAutoFit/>
          </a:bodyPr>
          <a:lstStyle/>
          <a:p>
            <a:pPr algn="l">
              <a:lnSpc>
                <a:spcPct val="112000"/>
              </a:lnSpc>
              <a:spcBef>
                <a:spcPts val="0"/>
              </a:spcBef>
              <a:spcAft>
                <a:spcPts val="0"/>
              </a:spcAft>
              <a:defRPr sz="1400" b="1">
                <a:solidFill>
                  <a:srgbClr val="476BC5"/>
                </a:solidFill>
                <a:latin typeface="Manrope"/>
              </a:defRPr>
            </a:pPr>
            <a:r>
              <a:t>COMPETITORS</a:t>
            </a:r>
          </a:p>
        </p:txBody>
      </p:sp>
      <p:sp>
        <p:nvSpPr>
          <p:cNvPr id="10" name="TextBox 9"/>
          <p:cNvSpPr txBox="1"/>
          <p:nvPr/>
        </p:nvSpPr>
        <p:spPr>
          <a:xfrm>
            <a:off x="2857500" y="2413000"/>
            <a:ext cx="8699500" cy="698500"/>
          </a:xfrm>
          <a:prstGeom prst="rect">
            <a:avLst/>
          </a:prstGeom>
          <a:noFill/>
        </p:spPr>
        <p:txBody>
          <a:bodyPr wrap="square" lIns="0" tIns="0" rIns="0" bIns="0">
            <a:spAutoFit/>
          </a:bodyPr>
          <a:lstStyle/>
          <a:p>
            <a:pPr algn="l">
              <a:lnSpc>
                <a:spcPct val="112000"/>
              </a:lnSpc>
              <a:spcBef>
                <a:spcPts val="0"/>
              </a:spcBef>
              <a:spcAft>
                <a:spcPts val="0"/>
              </a:spcAft>
              <a:defRPr sz="1500" b="0">
                <a:solidFill>
                  <a:srgbClr val="23334D"/>
                </a:solidFill>
                <a:latin typeface="Manrope"/>
              </a:defRPr>
            </a:pPr>
            <a:r>
              <a:t>dinger.asia/social/eng  ·  dinger.asia/pricing/eng</a:t>
            </a:r>
          </a:p>
          <a:p>
            <a:pPr algn="l">
              <a:lnSpc>
                <a:spcPct val="112000"/>
              </a:lnSpc>
              <a:spcBef>
                <a:spcPts val="0"/>
              </a:spcBef>
              <a:spcAft>
                <a:spcPts val="0"/>
              </a:spcAft>
              <a:defRPr sz="1500" b="0">
                <a:solidFill>
                  <a:srgbClr val="23334D"/>
                </a:solidFill>
                <a:latin typeface="Manrope"/>
              </a:defRPr>
            </a:pPr>
            <a:r>
              <a:t>myanmyanpay.com  ·  myanmyanpay.com/faqs  ·  kbzpay.com/en/products/mmqr</a:t>
            </a:r>
          </a:p>
        </p:txBody>
      </p:sp>
      <p:sp>
        <p:nvSpPr>
          <p:cNvPr id="11" name="TextBox 10"/>
          <p:cNvSpPr txBox="1"/>
          <p:nvPr/>
        </p:nvSpPr>
        <p:spPr>
          <a:xfrm>
            <a:off x="444500" y="3346450"/>
            <a:ext cx="2222500" cy="349250"/>
          </a:xfrm>
          <a:prstGeom prst="rect">
            <a:avLst/>
          </a:prstGeom>
          <a:noFill/>
        </p:spPr>
        <p:txBody>
          <a:bodyPr wrap="square" lIns="0" tIns="0" rIns="0" bIns="0">
            <a:spAutoFit/>
          </a:bodyPr>
          <a:lstStyle/>
          <a:p>
            <a:pPr algn="l">
              <a:lnSpc>
                <a:spcPct val="112000"/>
              </a:lnSpc>
              <a:spcBef>
                <a:spcPts val="0"/>
              </a:spcBef>
              <a:spcAft>
                <a:spcPts val="0"/>
              </a:spcAft>
              <a:defRPr sz="1400" b="1">
                <a:solidFill>
                  <a:srgbClr val="476BC5"/>
                </a:solidFill>
                <a:latin typeface="Manrope"/>
              </a:defRPr>
            </a:pPr>
            <a:r>
              <a:t>PRODUCT</a:t>
            </a:r>
          </a:p>
        </p:txBody>
      </p:sp>
      <p:sp>
        <p:nvSpPr>
          <p:cNvPr id="12" name="TextBox 11"/>
          <p:cNvSpPr txBox="1"/>
          <p:nvPr/>
        </p:nvSpPr>
        <p:spPr>
          <a:xfrm>
            <a:off x="2857500" y="3346450"/>
            <a:ext cx="8699500" cy="698500"/>
          </a:xfrm>
          <a:prstGeom prst="rect">
            <a:avLst/>
          </a:prstGeom>
          <a:noFill/>
        </p:spPr>
        <p:txBody>
          <a:bodyPr wrap="square" lIns="0" tIns="0" rIns="0" bIns="0">
            <a:spAutoFit/>
          </a:bodyPr>
          <a:lstStyle/>
          <a:p>
            <a:pPr algn="l">
              <a:lnSpc>
                <a:spcPct val="112000"/>
              </a:lnSpc>
              <a:spcBef>
                <a:spcPts val="0"/>
              </a:spcBef>
              <a:spcAft>
                <a:spcPts val="0"/>
              </a:spcAft>
              <a:defRPr sz="1500" b="0">
                <a:solidFill>
                  <a:srgbClr val="23334D"/>
                </a:solidFill>
                <a:latin typeface="Manrope"/>
              </a:defRPr>
            </a:pPr>
            <a:r>
              <a:t>Actual current app: handshake/app/  ·  FOM/README.md</a:t>
            </a:r>
          </a:p>
          <a:p>
            <a:pPr algn="l">
              <a:lnSpc>
                <a:spcPct val="112000"/>
              </a:lnSpc>
              <a:spcBef>
                <a:spcPts val="0"/>
              </a:spcBef>
              <a:spcAft>
                <a:spcPts val="0"/>
              </a:spcAft>
              <a:defRPr sz="1500" b="0">
                <a:solidFill>
                  <a:srgbClr val="23334D"/>
                </a:solidFill>
                <a:latin typeface="Manrope"/>
              </a:defRPr>
            </a:pPr>
            <a:r>
              <a:t>Flow inspection: actual-flow-inspection.json · prior browser validation reports</a:t>
            </a:r>
          </a:p>
        </p:txBody>
      </p:sp>
      <p:sp>
        <p:nvSpPr>
          <p:cNvPr id="13" name="TextBox 12"/>
          <p:cNvSpPr txBox="1"/>
          <p:nvPr/>
        </p:nvSpPr>
        <p:spPr>
          <a:xfrm>
            <a:off x="444500" y="4279900"/>
            <a:ext cx="2222500" cy="349250"/>
          </a:xfrm>
          <a:prstGeom prst="rect">
            <a:avLst/>
          </a:prstGeom>
          <a:noFill/>
        </p:spPr>
        <p:txBody>
          <a:bodyPr wrap="square" lIns="0" tIns="0" rIns="0" bIns="0">
            <a:spAutoFit/>
          </a:bodyPr>
          <a:lstStyle/>
          <a:p>
            <a:pPr algn="l">
              <a:lnSpc>
                <a:spcPct val="112000"/>
              </a:lnSpc>
              <a:spcBef>
                <a:spcPts val="0"/>
              </a:spcBef>
              <a:spcAft>
                <a:spcPts val="0"/>
              </a:spcAft>
              <a:defRPr sz="1400" b="1">
                <a:solidFill>
                  <a:srgbClr val="476BC5"/>
                </a:solidFill>
                <a:latin typeface="Manrope"/>
              </a:defRPr>
            </a:pPr>
            <a:r>
              <a:t>ASSUMPTIONS</a:t>
            </a:r>
          </a:p>
        </p:txBody>
      </p:sp>
      <p:sp>
        <p:nvSpPr>
          <p:cNvPr id="14" name="TextBox 13"/>
          <p:cNvSpPr txBox="1"/>
          <p:nvPr/>
        </p:nvSpPr>
        <p:spPr>
          <a:xfrm>
            <a:off x="2857500" y="4279900"/>
            <a:ext cx="8699500" cy="698500"/>
          </a:xfrm>
          <a:prstGeom prst="rect">
            <a:avLst/>
          </a:prstGeom>
          <a:noFill/>
        </p:spPr>
        <p:txBody>
          <a:bodyPr wrap="square" lIns="0" tIns="0" rIns="0" bIns="0">
            <a:spAutoFit/>
          </a:bodyPr>
          <a:lstStyle/>
          <a:p>
            <a:pPr algn="l">
              <a:lnSpc>
                <a:spcPct val="112000"/>
              </a:lnSpc>
              <a:spcBef>
                <a:spcPts val="0"/>
              </a:spcBef>
              <a:spcAft>
                <a:spcPts val="0"/>
              </a:spcAft>
              <a:defRPr sz="1500" b="0">
                <a:solidFill>
                  <a:srgbClr val="23334D"/>
                </a:solidFill>
                <a:latin typeface="Manrope"/>
              </a:defRPr>
            </a:pPr>
            <a:r>
              <a:t>2% service fee, no subscription, target segment and delivery roadmap are proposals.</a:t>
            </a:r>
          </a:p>
          <a:p>
            <a:pPr algn="l">
              <a:lnSpc>
                <a:spcPct val="112000"/>
              </a:lnSpc>
              <a:spcBef>
                <a:spcPts val="0"/>
              </a:spcBef>
              <a:spcAft>
                <a:spcPts val="0"/>
              </a:spcAft>
              <a:defRPr sz="1500" b="0">
                <a:solidFill>
                  <a:srgbClr val="23334D"/>
                </a:solidFill>
                <a:latin typeface="Manrope"/>
              </a:defRPr>
            </a:pPr>
            <a:r>
              <a:t>No traction, live bank integration, secured partnership or profit is claimed.</a:t>
            </a:r>
          </a:p>
        </p:txBody>
      </p:sp>
      <p:sp>
        <p:nvSpPr>
          <p:cNvPr id="15" name="TextBox 14"/>
          <p:cNvSpPr txBox="1"/>
          <p:nvPr/>
        </p:nvSpPr>
        <p:spPr>
          <a:xfrm>
            <a:off x="444500" y="5213350"/>
            <a:ext cx="2222500" cy="349250"/>
          </a:xfrm>
          <a:prstGeom prst="rect">
            <a:avLst/>
          </a:prstGeom>
          <a:noFill/>
        </p:spPr>
        <p:txBody>
          <a:bodyPr wrap="square" lIns="0" tIns="0" rIns="0" bIns="0">
            <a:spAutoFit/>
          </a:bodyPr>
          <a:lstStyle/>
          <a:p>
            <a:pPr algn="l">
              <a:lnSpc>
                <a:spcPct val="112000"/>
              </a:lnSpc>
              <a:spcBef>
                <a:spcPts val="0"/>
              </a:spcBef>
              <a:spcAft>
                <a:spcPts val="0"/>
              </a:spcAft>
              <a:defRPr sz="1400" b="1">
                <a:solidFill>
                  <a:srgbClr val="476BC5"/>
                </a:solidFill>
                <a:latin typeface="Manrope"/>
              </a:defRPr>
            </a:pPr>
            <a:r>
              <a:t>CHECKED</a:t>
            </a:r>
          </a:p>
        </p:txBody>
      </p:sp>
      <p:sp>
        <p:nvSpPr>
          <p:cNvPr id="16" name="TextBox 15"/>
          <p:cNvSpPr txBox="1"/>
          <p:nvPr/>
        </p:nvSpPr>
        <p:spPr>
          <a:xfrm>
            <a:off x="2857500" y="5213350"/>
            <a:ext cx="8699500" cy="698500"/>
          </a:xfrm>
          <a:prstGeom prst="rect">
            <a:avLst/>
          </a:prstGeom>
          <a:noFill/>
        </p:spPr>
        <p:txBody>
          <a:bodyPr wrap="square" lIns="0" tIns="0" rIns="0" bIns="0">
            <a:spAutoFit/>
          </a:bodyPr>
          <a:lstStyle/>
          <a:p>
            <a:pPr algn="l">
              <a:lnSpc>
                <a:spcPct val="112000"/>
              </a:lnSpc>
              <a:spcBef>
                <a:spcPts val="0"/>
              </a:spcBef>
              <a:spcAft>
                <a:spcPts val="0"/>
              </a:spcAft>
              <a:defRPr sz="1500" b="0">
                <a:solidFill>
                  <a:srgbClr val="23334D"/>
                </a:solidFill>
                <a:latin typeface="Manrope"/>
              </a:defRPr>
            </a:pPr>
            <a:r>
              <a:t>23 October 2026. Fixed-charge graph excludes transaction fees.</a:t>
            </a:r>
          </a:p>
          <a:p>
            <a:pPr algn="l">
              <a:lnSpc>
                <a:spcPct val="112000"/>
              </a:lnSpc>
              <a:spcBef>
                <a:spcPts val="0"/>
              </a:spcBef>
              <a:spcAft>
                <a:spcPts val="0"/>
              </a:spcAft>
              <a:defRPr sz="1500" b="0">
                <a:solidFill>
                  <a:srgbClr val="23334D"/>
                </a:solidFill>
                <a:latin typeface="Manrope"/>
              </a:defRPr>
            </a:pPr>
            <a:r>
              <a:t>Current receipt upload does not independently verify or transfer money.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1584</Words>
  <Application>Microsoft Office PowerPoint</Application>
  <PresentationFormat>Widescreen</PresentationFormat>
  <Paragraphs>348</Paragraphs>
  <Slides>15</Slides>
  <Notes>15</Notes>
  <HiddenSlides>2</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Manrope</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FOM — product, competition and business model</dc:title>
  <dc:subject/>
  <dc:creator>FOM team</dc:creator>
  <cp:keywords/>
  <dc:description>generated using python-pptx</dc:description>
  <cp:lastModifiedBy>hlaing myint myat</cp:lastModifiedBy>
  <cp:revision>2</cp:revision>
  <dcterms:created xsi:type="dcterms:W3CDTF">2013-01-27T09:14:16Z</dcterms:created>
  <dcterms:modified xsi:type="dcterms:W3CDTF">2026-10-23T14:09:46Z</dcterms:modified>
  <cp:category/>
</cp:coreProperties>
</file>